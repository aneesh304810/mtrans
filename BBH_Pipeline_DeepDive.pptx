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ound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oundRect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Integration Hub — Detailed Pipeline Flow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589520" y="3657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0D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Feeds → Airflow Orchestration → dbt Transform → Real-Time Fan-Out → PBDW &amp; IMDW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656832"/>
            <a:ext cx="12161520" cy="201168"/>
          </a:xfrm>
          <a:prstGeom prst="roundRect">
            <a:avLst/>
          </a:prstGeom>
          <a:solidFill>
            <a:srgbClr val="D0ECF2"/>
          </a:solidFill>
          <a:ln w="12700">
            <a:solidFill>
              <a:srgbClr val="D0EC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656832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Capital Partners  |  SWP Migration  |  Confidential  |  Architecture Deep Dive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96112"/>
            <a:ext cx="1737360" cy="5596128"/>
          </a:xfrm>
          <a:prstGeom prst="roundRect">
            <a:avLst>
              <a:gd name="adj" fmla="val 5263"/>
            </a:avLst>
          </a:prstGeom>
          <a:solidFill>
            <a:srgbClr val="EBF4F7">
              <a:alpha val="12000"/>
            </a:srgbClr>
          </a:solidFill>
          <a:ln w="19050">
            <a:solidFill>
              <a:srgbClr val="1F5C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" y="731520"/>
            <a:ext cx="1440180" cy="201168"/>
          </a:xfrm>
          <a:prstGeom prst="roundRect">
            <a:avLst>
              <a:gd name="adj" fmla="val 18182"/>
            </a:avLst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731520"/>
            <a:ext cx="14401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(Azure)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" y="987552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9875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1627632"/>
            <a:ext cx="1499616" cy="694944"/>
          </a:xfrm>
          <a:prstGeom prst="roundRect">
            <a:avLst>
              <a:gd name="adj" fmla="val 9211"/>
            </a:avLst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" y="162763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197510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47472" y="2487168"/>
            <a:ext cx="1499616" cy="694944"/>
          </a:xfrm>
          <a:prstGeom prst="roundRect">
            <a:avLst>
              <a:gd name="adj" fmla="val 9211"/>
            </a:avLst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2487168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283464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via SFTP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sei_daily_feed_YYYYMMDD.csv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7472" y="3346704"/>
            <a:ext cx="1499616" cy="694944"/>
          </a:xfrm>
          <a:prstGeom prst="roundRect">
            <a:avLst>
              <a:gd name="adj" fmla="val 9211"/>
            </a:avLst>
          </a:prstGeom>
          <a:solidFill>
            <a:srgbClr val="D4872A"/>
          </a:solidFill>
          <a:ln w="12700">
            <a:solidFill>
              <a:srgbClr val="D487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" y="3346704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694176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AMENDED_BY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corrections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47472" y="4206240"/>
            <a:ext cx="1499616" cy="694944"/>
          </a:xfrm>
          <a:prstGeom prst="roundRect">
            <a:avLst>
              <a:gd name="adj" fmla="val 9211"/>
            </a:avLst>
          </a:prstGeom>
          <a:solidFill>
            <a:srgbClr val="4BA8BE"/>
          </a:solidFill>
          <a:ln w="12700">
            <a:solidFill>
              <a:srgbClr val="4BA8B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" y="420624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553712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+ prices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47472" y="5065776"/>
            <a:ext cx="1499616" cy="694944"/>
          </a:xfrm>
          <a:prstGeom prst="roundRect">
            <a:avLst>
              <a:gd name="adj" fmla="val 9211"/>
            </a:avLst>
          </a:prstGeom>
          <a:solidFill>
            <a:srgbClr val="5A7A86"/>
          </a:solidFill>
          <a:ln w="12700">
            <a:solidFill>
              <a:srgbClr val="5A7A8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" y="5065776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" y="5413248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master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master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47472" y="5833872"/>
            <a:ext cx="1499616" cy="384048"/>
          </a:xfrm>
          <a:prstGeom prst="roundRect">
            <a:avLst>
              <a:gd name="adj" fmla="val 14286"/>
            </a:avLst>
          </a:prstGeom>
          <a:solidFill>
            <a:srgbClr val="1A2F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5833872"/>
            <a:ext cx="1499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Private Link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65376" y="1901952"/>
            <a:ext cx="347472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865376" y="2761488"/>
            <a:ext cx="347472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865376" y="3621024"/>
            <a:ext cx="347472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865376" y="4480560"/>
            <a:ext cx="347472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65376" y="5340096"/>
            <a:ext cx="347472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212848" y="896112"/>
            <a:ext cx="2542032" cy="5596128"/>
          </a:xfrm>
          <a:prstGeom prst="roundRect">
            <a:avLst>
              <a:gd name="adj" fmla="val 3597"/>
            </a:avLst>
          </a:prstGeom>
          <a:solidFill>
            <a:srgbClr val="EBF4F7">
              <a:alpha val="12000"/>
            </a:srgbClr>
          </a:solidFill>
          <a:ln w="19050">
            <a:solidFill>
              <a:srgbClr val="2A7A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731520"/>
            <a:ext cx="3305556" cy="201168"/>
          </a:xfrm>
          <a:prstGeom prst="roundRect">
            <a:avLst>
              <a:gd name="adj" fmla="val 18182"/>
            </a:avLst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731520"/>
            <a:ext cx="33055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3.2.1 Orchestration — DAG Layer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304288" y="987552"/>
            <a:ext cx="2359152" cy="384048"/>
          </a:xfrm>
          <a:prstGeom prst="roundRect">
            <a:avLst>
              <a:gd name="adj" fmla="val 16667"/>
            </a:avLst>
          </a:prstGeom>
          <a:solidFill>
            <a:srgbClr val="2A7A8C"/>
          </a:solidFill>
          <a:ln w="12700">
            <a:solidFill>
              <a:srgbClr val="2A7A8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304288" y="987552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sei_file_watcher  +  sei_accounting_transform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304288" y="1627632"/>
            <a:ext cx="2359152" cy="694944"/>
          </a:xfrm>
          <a:prstGeom prst="roundRect">
            <a:avLst>
              <a:gd name="adj" fmla="val 9211"/>
            </a:avLst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304288" y="162763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fetch_accounts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fetch_transactions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fetch_nav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304288" y="197510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Retry+circuit breaker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304288" y="2194560"/>
            <a:ext cx="1005840" cy="164592"/>
          </a:xfrm>
          <a:prstGeom prst="roundRect">
            <a:avLst>
              <a:gd name="adj" fmla="val 27778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04288" y="21945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PythonOperator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304288" y="2487168"/>
            <a:ext cx="2359152" cy="694944"/>
          </a:xfrm>
          <a:prstGeom prst="roundRect">
            <a:avLst>
              <a:gd name="adj" fmla="val 9211"/>
            </a:avLst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304288" y="248716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SEIFolderSensor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parse_and_stage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branch_on_content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304288" y="2834640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NORMAL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LATE_ADD AMENDED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304288" y="3054096"/>
            <a:ext cx="1005840" cy="164592"/>
          </a:xfrm>
          <a:prstGeom prst="roundRect">
            <a:avLst>
              <a:gd name="adj" fmla="val 27778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04288" y="30540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Sensor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304288" y="3346704"/>
            <a:ext cx="2359152" cy="694944"/>
          </a:xfrm>
          <a:prstGeom prst="roundRect">
            <a:avLst>
              <a:gd name="adj" fmla="val 9211"/>
            </a:avLst>
          </a:prstGeom>
          <a:solidFill>
            <a:srgbClr val="D4872A"/>
          </a:solidFill>
          <a:ln w="12700">
            <a:solidFill>
              <a:srgbClr val="D4872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304288" y="334670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process_amended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SCD2 expire+insert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write_audit_log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304288" y="369417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check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&gt;1% → alert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304288" y="3913632"/>
            <a:ext cx="1005840" cy="164592"/>
          </a:xfrm>
          <a:prstGeom prst="roundRect">
            <a:avLst>
              <a:gd name="adj" fmla="val 27778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04288" y="39136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PythonOperator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2304288" y="4206240"/>
            <a:ext cx="2359152" cy="694944"/>
          </a:xfrm>
          <a:prstGeom prst="roundRect">
            <a:avLst>
              <a:gd name="adj" fmla="val 9211"/>
            </a:avLst>
          </a:prstGeom>
          <a:solidFill>
            <a:srgbClr val="4BA8BE"/>
          </a:solidFill>
          <a:ln w="12700">
            <a:solidFill>
              <a:srgbClr val="4BA8B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304288" y="42062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fetch_nav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validate_data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branch_on_validation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304288" y="4553712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CRITICAL→halt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ERROR→skip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304288" y="4773168"/>
            <a:ext cx="1005840" cy="164592"/>
          </a:xfrm>
          <a:prstGeom prst="roundRect">
            <a:avLst>
              <a:gd name="adj" fmla="val 27778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304288" y="47731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PythonOperator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304288" y="5065776"/>
            <a:ext cx="2359152" cy="694944"/>
          </a:xfrm>
          <a:prstGeom prst="roundRect">
            <a:avLst>
              <a:gd name="adj" fmla="val 9211"/>
            </a:avLst>
          </a:prstGeom>
          <a:solidFill>
            <a:srgbClr val="5A7A86"/>
          </a:solidFill>
          <a:ln w="12700">
            <a:solidFill>
              <a:srgbClr val="5A7A8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2304288" y="50657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stg_sei_accounts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stg_sei_transactions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loader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304288" y="5413248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seed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D0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304288" y="5632704"/>
            <a:ext cx="1005840" cy="164592"/>
          </a:xfrm>
          <a:prstGeom prst="roundRect">
            <a:avLst>
              <a:gd name="adj" fmla="val 27778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04288" y="56327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BashOperator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2304288" y="5760720"/>
            <a:ext cx="2359152" cy="457200"/>
          </a:xfrm>
          <a:prstGeom prst="roundRect">
            <a:avLst>
              <a:gd name="adj" fmla="val 12000"/>
            </a:avLst>
          </a:prstGeom>
          <a:solidFill>
            <a:srgbClr val="1E3A50"/>
          </a:solidFill>
          <a:ln w="12700">
            <a:solidFill>
              <a:srgbClr val="F0D98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304288" y="576072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 passes metadata between tasks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304288" y="596188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catalog: 15 codes · 0 hardcoded logic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663440" y="1901952"/>
            <a:ext cx="292608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4663440" y="2761488"/>
            <a:ext cx="292608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663440" y="3621024"/>
            <a:ext cx="292608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663440" y="4480560"/>
            <a:ext cx="292608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4663440" y="5340096"/>
            <a:ext cx="292608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4956048" y="896112"/>
            <a:ext cx="2697480" cy="5596128"/>
          </a:xfrm>
          <a:prstGeom prst="roundRect">
            <a:avLst>
              <a:gd name="adj" fmla="val 3390"/>
            </a:avLst>
          </a:prstGeom>
          <a:solidFill>
            <a:srgbClr val="EBF4F7">
              <a:alpha val="12000"/>
            </a:srgbClr>
          </a:solidFill>
          <a:ln w="19050">
            <a:solidFill>
              <a:srgbClr val="4A657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29200" y="731520"/>
            <a:ext cx="3072384" cy="201168"/>
          </a:xfrm>
          <a:prstGeom prst="roundRect">
            <a:avLst>
              <a:gd name="adj" fmla="val 18182"/>
            </a:avLst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0" y="731520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dbt-core 1.8.4 — Medallion Transform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047488" y="987552"/>
            <a:ext cx="2514600" cy="384048"/>
          </a:xfrm>
          <a:prstGeom prst="roundRect">
            <a:avLst>
              <a:gd name="adj" fmla="val 16667"/>
            </a:avLst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5047488" y="9875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Bronze → Silver → Gold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047488" y="1627632"/>
            <a:ext cx="2514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0EC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047488" y="1627632"/>
            <a:ext cx="2514600" cy="219456"/>
          </a:xfrm>
          <a:prstGeom prst="roundRect">
            <a:avLst>
              <a:gd name="adj" fmla="val 25000"/>
            </a:avLst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47488" y="16276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102352" y="1883664"/>
            <a:ext cx="1417320" cy="146304"/>
          </a:xfrm>
          <a:prstGeom prst="roundRect">
            <a:avLst>
              <a:gd name="adj" fmla="val 3125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02352" y="18836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stg_sei_transactions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5102352" y="2048256"/>
            <a:ext cx="1417320" cy="146304"/>
          </a:xfrm>
          <a:prstGeom prst="roundRect">
            <a:avLst>
              <a:gd name="adj" fmla="val 3125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02352" y="20482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stg_sei_nav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5102352" y="2212848"/>
            <a:ext cx="1417320" cy="146304"/>
          </a:xfrm>
          <a:prstGeom prst="roundRect">
            <a:avLst>
              <a:gd name="adj" fmla="val 3125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02352" y="221284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stg_sei_accounts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102352" y="2377440"/>
            <a:ext cx="1417320" cy="146304"/>
          </a:xfrm>
          <a:prstGeom prst="roundRect">
            <a:avLst>
              <a:gd name="adj" fmla="val 3125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102352" y="237744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stg_sei_corrections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6537960" y="188366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— contract boundary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feed format changes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440680" y="2432304"/>
            <a:ext cx="0" cy="109728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5047488" y="2542032"/>
            <a:ext cx="2514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0EC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5047488" y="2542032"/>
            <a:ext cx="2514600" cy="219456"/>
          </a:xfrm>
          <a:prstGeom prst="roundRect">
            <a:avLst>
              <a:gd name="adj" fmla="val 25000"/>
            </a:avLst>
          </a:prstGeom>
          <a:solidFill>
            <a:srgbClr val="2E6B7A"/>
          </a:solidFill>
          <a:ln w="12700">
            <a:solidFill>
              <a:srgbClr val="2E6B7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047488" y="25420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102352" y="2798064"/>
            <a:ext cx="1417320" cy="146304"/>
          </a:xfrm>
          <a:prstGeom prst="roundRect">
            <a:avLst>
              <a:gd name="adj" fmla="val 3125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102352" y="27980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bronze_sei_transactions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6537960" y="279806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ingestion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delete+insert incremental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columns added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5440680" y="3346704"/>
            <a:ext cx="0" cy="109728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5047488" y="3456432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0EC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5047488" y="3456432"/>
            <a:ext cx="2514600" cy="219456"/>
          </a:xfrm>
          <a:prstGeom prst="roundRect">
            <a:avLst>
              <a:gd name="adj" fmla="val 25000"/>
            </a:avLst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047488" y="345643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102352" y="3712464"/>
            <a:ext cx="1417320" cy="146304"/>
          </a:xfrm>
          <a:prstGeom prst="roundRect">
            <a:avLst>
              <a:gd name="adj" fmla="val 3125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102352" y="371246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silver_transactions_conformed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5102352" y="3877056"/>
            <a:ext cx="1417320" cy="146304"/>
          </a:xfrm>
          <a:prstGeom prst="roundRect">
            <a:avLst>
              <a:gd name="adj" fmla="val 3125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102352" y="387705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silver_transactions_scd2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6537960" y="3712464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BUY→PURCHASE · SETTLED only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ISIN/CUSIP enrichment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Debit/credit double-entry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440680" y="4462272"/>
            <a:ext cx="0" cy="109728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5047488" y="4553712"/>
            <a:ext cx="251460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0EC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8" name="Shape 106"/>
          <p:cNvSpPr/>
          <p:nvPr/>
        </p:nvSpPr>
        <p:spPr>
          <a:xfrm>
            <a:off x="5047488" y="4553712"/>
            <a:ext cx="2514600" cy="219456"/>
          </a:xfrm>
          <a:prstGeom prst="roundRect">
            <a:avLst>
              <a:gd name="adj" fmla="val 25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047488" y="4553712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102352" y="4809744"/>
            <a:ext cx="1417320" cy="146304"/>
          </a:xfrm>
          <a:prstGeom prst="roundRect">
            <a:avLst>
              <a:gd name="adj" fmla="val 31250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02352" y="480974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gold_portfolio_performance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6537960" y="480974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row/account · NAV · YTD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fee_ratio · dividend_yield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source — runs once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5047488" y="576072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5FAFB"/>
          </a:solidFill>
          <a:ln w="12700">
            <a:solidFill>
              <a:srgbClr val="D0ECF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047488" y="5760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 NUMBER(1) · TO_DATE() · ORA_HASH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047488" y="59618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dev(DuckDB) · oracle · snowflake · pbdw · imdw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7653528" y="1901952"/>
            <a:ext cx="283464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7653528" y="2761488"/>
            <a:ext cx="283464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>
            <a:off x="7653528" y="3621024"/>
            <a:ext cx="283464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>
            <a:off x="7653528" y="4480560"/>
            <a:ext cx="283464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653528" y="5340096"/>
            <a:ext cx="283464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  <a:tailEnd type="triangle"/>
          </a:ln>
        </p:spPr>
      </p:sp>
      <p:sp>
        <p:nvSpPr>
          <p:cNvPr id="121" name="Shape 119"/>
          <p:cNvSpPr/>
          <p:nvPr/>
        </p:nvSpPr>
        <p:spPr>
          <a:xfrm>
            <a:off x="7936992" y="896112"/>
            <a:ext cx="2176272" cy="5596128"/>
          </a:xfrm>
          <a:prstGeom prst="roundRect">
            <a:avLst>
              <a:gd name="adj" fmla="val 4202"/>
            </a:avLst>
          </a:prstGeom>
          <a:solidFill>
            <a:srgbClr val="FFF9EC">
              <a:alpha val="12000"/>
            </a:srgbClr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010144" y="731520"/>
            <a:ext cx="2761488" cy="201168"/>
          </a:xfrm>
          <a:prstGeom prst="roundRect">
            <a:avLst>
              <a:gd name="adj" fmla="val 18182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010144" y="73152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Publish — Real-Time Fan-Out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8028432" y="987552"/>
            <a:ext cx="1993392" cy="384048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8028432" y="98755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sei_dual_publish DAG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8028432" y="1481328"/>
            <a:ext cx="1993392" cy="347472"/>
          </a:xfrm>
          <a:prstGeom prst="roundRect">
            <a:avLst>
              <a:gd name="adj" fmla="val 15789"/>
            </a:avLst>
          </a:prstGeom>
          <a:solidFill>
            <a:srgbClr val="1A2F4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028432" y="148132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 (runs once)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9025128" y="1828800"/>
            <a:ext cx="0" cy="292608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339328" y="2121408"/>
            <a:ext cx="1371600" cy="0"/>
          </a:xfrm>
          <a:prstGeom prst="line">
            <a:avLst/>
          </a:prstGeom>
          <a:noFill/>
          <a:ln w="19050">
            <a:solidFill>
              <a:srgbClr val="2A7A8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339328" y="2121408"/>
            <a:ext cx="0" cy="256032"/>
          </a:xfrm>
          <a:prstGeom prst="line">
            <a:avLst/>
          </a:prstGeom>
          <a:noFill/>
          <a:ln w="19050">
            <a:solidFill>
              <a:srgbClr val="2E8B6E"/>
            </a:solidFill>
            <a:prstDash val="solid"/>
            <a:tailEnd type="triangle"/>
          </a:ln>
        </p:spPr>
      </p:sp>
      <p:sp>
        <p:nvSpPr>
          <p:cNvPr id="131" name="Shape 129"/>
          <p:cNvSpPr/>
          <p:nvPr/>
        </p:nvSpPr>
        <p:spPr>
          <a:xfrm>
            <a:off x="9710928" y="2121408"/>
            <a:ext cx="0" cy="256032"/>
          </a:xfrm>
          <a:prstGeom prst="line">
            <a:avLst/>
          </a:prstGeom>
          <a:noFill/>
          <a:ln w="19050">
            <a:solidFill>
              <a:srgbClr val="1F5C6B"/>
            </a:solidFill>
            <a:prstDash val="solid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8028432" y="2395728"/>
            <a:ext cx="1170432" cy="292608"/>
          </a:xfrm>
          <a:prstGeom prst="roundRect">
            <a:avLst>
              <a:gd name="adj" fmla="val 18750"/>
            </a:avLst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028432" y="23957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PBDW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8028432" y="2761488"/>
            <a:ext cx="1170432" cy="621792"/>
          </a:xfrm>
          <a:prstGeom prst="roundRect">
            <a:avLst>
              <a:gd name="adj" fmla="val 7353"/>
            </a:avLst>
          </a:prstGeom>
          <a:solidFill>
            <a:srgbClr val="EDFAF4"/>
          </a:solidFill>
          <a:ln w="12700">
            <a:solidFill>
              <a:srgbClr val="8ED5B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5" name="Text 133"/>
          <p:cNvSpPr/>
          <p:nvPr/>
        </p:nvSpPr>
        <p:spPr>
          <a:xfrm>
            <a:off x="8028432" y="27614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pbdw_portfolio_positions</a:t>
            </a:r>
            <a:endParaRPr lang="en-US" sz="650" dirty="0"/>
          </a:p>
        </p:txBody>
      </p:sp>
      <p:sp>
        <p:nvSpPr>
          <p:cNvPr id="136" name="Text 134"/>
          <p:cNvSpPr/>
          <p:nvPr/>
        </p:nvSpPr>
        <p:spPr>
          <a:xfrm>
            <a:off x="8083296" y="301752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flat · 1 row/acct+security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8028432" y="3456432"/>
            <a:ext cx="1170432" cy="621792"/>
          </a:xfrm>
          <a:prstGeom prst="roundRect">
            <a:avLst>
              <a:gd name="adj" fmla="val 7353"/>
            </a:avLst>
          </a:prstGeom>
          <a:solidFill>
            <a:srgbClr val="EDFAF4"/>
          </a:solidFill>
          <a:ln w="12700">
            <a:solidFill>
              <a:srgbClr val="8ED5B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8" name="Text 136"/>
          <p:cNvSpPr/>
          <p:nvPr/>
        </p:nvSpPr>
        <p:spPr>
          <a:xfrm>
            <a:off x="8028432" y="34564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pbdw_accounting_journal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8083296" y="371246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Debit+credit · GL-ready</a:t>
            </a:r>
            <a:endParaRPr lang="en-US" sz="650" dirty="0"/>
          </a:p>
        </p:txBody>
      </p:sp>
      <p:sp>
        <p:nvSpPr>
          <p:cNvPr id="140" name="Shape 138"/>
          <p:cNvSpPr/>
          <p:nvPr/>
        </p:nvSpPr>
        <p:spPr>
          <a:xfrm>
            <a:off x="8028432" y="4151376"/>
            <a:ext cx="1170432" cy="621792"/>
          </a:xfrm>
          <a:prstGeom prst="roundRect">
            <a:avLst>
              <a:gd name="adj" fmla="val 7353"/>
            </a:avLst>
          </a:prstGeom>
          <a:solidFill>
            <a:srgbClr val="EDFAF4"/>
          </a:solidFill>
          <a:ln w="12700">
            <a:solidFill>
              <a:srgbClr val="8ED5B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1" name="Text 139"/>
          <p:cNvSpPr/>
          <p:nvPr/>
        </p:nvSpPr>
        <p:spPr>
          <a:xfrm>
            <a:off x="8028432" y="41513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2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pbdw_account_summary</a:t>
            </a:r>
            <a:endParaRPr lang="en-US" sz="650" dirty="0"/>
          </a:p>
        </p:txBody>
      </p:sp>
      <p:sp>
        <p:nvSpPr>
          <p:cNvPr id="142" name="Text 140"/>
          <p:cNvSpPr/>
          <p:nvPr/>
        </p:nvSpPr>
        <p:spPr>
          <a:xfrm>
            <a:off x="8083296" y="440740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snapshot · NAV+YTD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9345168" y="2395728"/>
            <a:ext cx="1170432" cy="292608"/>
          </a:xfrm>
          <a:prstGeom prst="roundRect">
            <a:avLst>
              <a:gd name="adj" fmla="val 18750"/>
            </a:avLst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345168" y="239572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IMDW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9345168" y="2761488"/>
            <a:ext cx="1170432" cy="621792"/>
          </a:xfrm>
          <a:prstGeom prst="roundRect">
            <a:avLst>
              <a:gd name="adj" fmla="val 7353"/>
            </a:avLst>
          </a:prstGeom>
          <a:solidFill>
            <a:srgbClr val="EAF6F9"/>
          </a:solidFill>
          <a:ln w="12700">
            <a:solidFill>
              <a:srgbClr val="D0EC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6" name="Text 144"/>
          <p:cNvSpPr/>
          <p:nvPr/>
        </p:nvSpPr>
        <p:spPr>
          <a:xfrm>
            <a:off x="9345168" y="27614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imdw_instrument_holdings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9400032" y="3017520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Instrument-centric · firm-wide</a:t>
            </a:r>
            <a:endParaRPr lang="en-US" sz="650" dirty="0"/>
          </a:p>
        </p:txBody>
      </p:sp>
      <p:sp>
        <p:nvSpPr>
          <p:cNvPr id="148" name="Shape 146"/>
          <p:cNvSpPr/>
          <p:nvPr/>
        </p:nvSpPr>
        <p:spPr>
          <a:xfrm>
            <a:off x="9345168" y="3456432"/>
            <a:ext cx="1170432" cy="621792"/>
          </a:xfrm>
          <a:prstGeom prst="roundRect">
            <a:avLst>
              <a:gd name="adj" fmla="val 7353"/>
            </a:avLst>
          </a:prstGeom>
          <a:solidFill>
            <a:srgbClr val="EAF6F9"/>
          </a:solidFill>
          <a:ln w="12700">
            <a:solidFill>
              <a:srgbClr val="D0EC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9" name="Text 147"/>
          <p:cNvSpPr/>
          <p:nvPr/>
        </p:nvSpPr>
        <p:spPr>
          <a:xfrm>
            <a:off x="9345168" y="34564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imdw_transaction_detail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9400032" y="3712464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grain · IBOR · incremental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9345168" y="4151376"/>
            <a:ext cx="1170432" cy="621792"/>
          </a:xfrm>
          <a:prstGeom prst="roundRect">
            <a:avLst>
              <a:gd name="adj" fmla="val 7353"/>
            </a:avLst>
          </a:prstGeom>
          <a:solidFill>
            <a:srgbClr val="EAF6F9"/>
          </a:solidFill>
          <a:ln w="12700">
            <a:solidFill>
              <a:srgbClr val="D0ECF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2" name="Text 150"/>
          <p:cNvSpPr/>
          <p:nvPr/>
        </p:nvSpPr>
        <p:spPr>
          <a:xfrm>
            <a:off x="9345168" y="41513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F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imdw_nav_timeseries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9400032" y="4407408"/>
            <a:ext cx="1078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D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daily return · vs benchmark</a:t>
            </a:r>
            <a:endParaRPr lang="en-US" sz="650" dirty="0"/>
          </a:p>
        </p:txBody>
      </p:sp>
      <p:sp>
        <p:nvSpPr>
          <p:cNvPr id="154" name="Shape 152"/>
          <p:cNvSpPr/>
          <p:nvPr/>
        </p:nvSpPr>
        <p:spPr>
          <a:xfrm>
            <a:off x="8028432" y="486460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1A2F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028432" y="486460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API Fan-Out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8028432" y="508406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publish_to_pbdw  ⟷  publish_to_imdw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· Independent · ONE_FAILED alert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ALL_DONE summary always runs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8028432" y="557784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1E3A50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028432" y="5577840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--target pbdw  |  --target imdw</a:t>
            </a:r>
            <a:endParaRPr lang="en-US" sz="750" dirty="0"/>
          </a:p>
        </p:txBody>
      </p:sp>
      <p:sp>
        <p:nvSpPr>
          <p:cNvPr id="159" name="Text 157"/>
          <p:cNvSpPr/>
          <p:nvPr/>
        </p:nvSpPr>
        <p:spPr>
          <a:xfrm>
            <a:off x="8028432" y="574243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SELECT TO PBDW_READER_ROLE / IMDW_READER_ROLE</a:t>
            </a:r>
            <a:endParaRPr lang="en-US" sz="650" dirty="0"/>
          </a:p>
        </p:txBody>
      </p:sp>
      <p:sp>
        <p:nvSpPr>
          <p:cNvPr id="160" name="Shape 158"/>
          <p:cNvSpPr/>
          <p:nvPr/>
        </p:nvSpPr>
        <p:spPr>
          <a:xfrm>
            <a:off x="10533888" y="2907792"/>
            <a:ext cx="219456" cy="0"/>
          </a:xfrm>
          <a:prstGeom prst="line">
            <a:avLst/>
          </a:prstGeom>
          <a:noFill/>
          <a:ln w="19050">
            <a:solidFill>
              <a:srgbClr val="2E8B6E"/>
            </a:solidFill>
            <a:prstDash val="solid"/>
            <a:tailEnd type="triangle"/>
          </a:ln>
        </p:spPr>
      </p:sp>
      <p:sp>
        <p:nvSpPr>
          <p:cNvPr id="161" name="Shape 159"/>
          <p:cNvSpPr/>
          <p:nvPr/>
        </p:nvSpPr>
        <p:spPr>
          <a:xfrm>
            <a:off x="10533888" y="4297680"/>
            <a:ext cx="219456" cy="0"/>
          </a:xfrm>
          <a:prstGeom prst="line">
            <a:avLst/>
          </a:prstGeom>
          <a:noFill/>
          <a:ln w="19050">
            <a:solidFill>
              <a:srgbClr val="1F5C6B"/>
            </a:solidFill>
            <a:prstDash val="solid"/>
            <a:tailEnd type="triangle"/>
          </a:ln>
        </p:spPr>
      </p:sp>
      <p:sp>
        <p:nvSpPr>
          <p:cNvPr id="162" name="Shape 160"/>
          <p:cNvSpPr/>
          <p:nvPr/>
        </p:nvSpPr>
        <p:spPr>
          <a:xfrm>
            <a:off x="10753344" y="896112"/>
            <a:ext cx="1225296" cy="5596128"/>
          </a:xfrm>
          <a:prstGeom prst="roundRect">
            <a:avLst>
              <a:gd name="adj" fmla="val 7463"/>
            </a:avLst>
          </a:prstGeom>
          <a:solidFill>
            <a:srgbClr val="EBF4F7">
              <a:alpha val="12000"/>
            </a:srgbClr>
          </a:solidFill>
          <a:ln w="19050">
            <a:solidFill>
              <a:srgbClr val="1A2F4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826496" y="731520"/>
            <a:ext cx="973836" cy="201168"/>
          </a:xfrm>
          <a:prstGeom prst="roundRect">
            <a:avLst>
              <a:gd name="adj" fmla="val 18182"/>
            </a:avLst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0826496" y="731520"/>
            <a:ext cx="9738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10826496" y="1024128"/>
            <a:ext cx="1078992" cy="438912"/>
          </a:xfrm>
          <a:prstGeom prst="ellipse">
            <a:avLst/>
          </a:prstGeom>
          <a:solidFill>
            <a:srgbClr val="1A2F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0826496" y="1024128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10826496" y="1572768"/>
            <a:ext cx="1078992" cy="438912"/>
          </a:xfrm>
          <a:prstGeom prst="ellipse">
            <a:avLst/>
          </a:prstGeom>
          <a:solidFill>
            <a:srgbClr val="2A7A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0826496" y="1572768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Client Portal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10826496" y="2121408"/>
            <a:ext cx="1078992" cy="438912"/>
          </a:xfrm>
          <a:prstGeom prst="ellipse">
            <a:avLst/>
          </a:prstGeom>
          <a:solidFill>
            <a:srgbClr val="1F5C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826496" y="2121408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Dashboards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10826496" y="2670048"/>
            <a:ext cx="1078992" cy="438912"/>
          </a:xfrm>
          <a:prstGeom prst="ellipse">
            <a:avLst/>
          </a:prstGeom>
          <a:solidFill>
            <a:srgbClr val="4A65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0826496" y="2670048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Pivotal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10826496" y="3218688"/>
            <a:ext cx="1078992" cy="438912"/>
          </a:xfrm>
          <a:prstGeom prst="ellipse">
            <a:avLst/>
          </a:prstGeom>
          <a:solidFill>
            <a:srgbClr val="5A4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826496" y="3218688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10826496" y="3767328"/>
            <a:ext cx="1078992" cy="438912"/>
          </a:xfrm>
          <a:prstGeom prst="ellipse">
            <a:avLst/>
          </a:prstGeom>
          <a:solidFill>
            <a:srgbClr val="D48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0826496" y="3767328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Reporting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10826496" y="4315968"/>
            <a:ext cx="1078992" cy="438912"/>
          </a:xfrm>
          <a:prstGeom prst="ellipse">
            <a:avLst/>
          </a:prstGeom>
          <a:solidFill>
            <a:srgbClr val="4A8A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0826496" y="4315968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Apps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10826496" y="4919472"/>
            <a:ext cx="1078992" cy="749808"/>
          </a:xfrm>
          <a:prstGeom prst="roundRect">
            <a:avLst>
              <a:gd name="adj" fmla="val 8537"/>
            </a:avLst>
          </a:prstGeom>
          <a:solidFill>
            <a:srgbClr val="1E3A50"/>
          </a:solidFill>
          <a:ln w="12700">
            <a:solidFill>
              <a:srgbClr val="F0D98C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10826496" y="49194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Semantic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750" dirty="0"/>
          </a:p>
        </p:txBody>
      </p:sp>
      <p:sp>
        <p:nvSpPr>
          <p:cNvPr id="181" name="Text 179"/>
          <p:cNvSpPr/>
          <p:nvPr/>
        </p:nvSpPr>
        <p:spPr>
          <a:xfrm>
            <a:off x="10826496" y="5193792"/>
            <a:ext cx="1078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Virtualizations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8A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Data Platform</a:t>
            </a:r>
            <a:endParaRPr lang="en-US" sz="650" dirty="0"/>
          </a:p>
        </p:txBody>
      </p:sp>
      <p:sp>
        <p:nvSpPr>
          <p:cNvPr id="182" name="Shape 180"/>
          <p:cNvSpPr/>
          <p:nvPr/>
        </p:nvSpPr>
        <p:spPr>
          <a:xfrm>
            <a:off x="2212848" y="6272784"/>
            <a:ext cx="7918704" cy="384048"/>
          </a:xfrm>
          <a:prstGeom prst="roundRect">
            <a:avLst>
              <a:gd name="adj" fmla="val 14286"/>
            </a:avLst>
          </a:prstGeom>
          <a:solidFill>
            <a:srgbClr val="FEF0EF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304288" y="62727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456432" y="632764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456432" y="632764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429→Retry+Backoff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4572000" y="632764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4572000" y="632764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PRICE_STALE→Auto-fix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5687568" y="632764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5687568" y="632764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SUSPENDED→Skip+Alert</a:t>
            </a:r>
            <a:endParaRPr lang="en-US" sz="650" dirty="0"/>
          </a:p>
        </p:txBody>
      </p:sp>
      <p:sp>
        <p:nvSpPr>
          <p:cNvPr id="190" name="Shape 188"/>
          <p:cNvSpPr/>
          <p:nvPr/>
        </p:nvSpPr>
        <p:spPr>
          <a:xfrm>
            <a:off x="6803136" y="632764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803136" y="632764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422→Exclude+Alert</a:t>
            </a:r>
            <a:endParaRPr lang="en-US" sz="650" dirty="0"/>
          </a:p>
        </p:txBody>
      </p:sp>
      <p:sp>
        <p:nvSpPr>
          <p:cNvPr id="192" name="Shape 190"/>
          <p:cNvSpPr/>
          <p:nvPr/>
        </p:nvSpPr>
        <p:spPr>
          <a:xfrm>
            <a:off x="7918704" y="632764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918704" y="632764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CRITICAL→Halt pipeline</a:t>
            </a:r>
            <a:endParaRPr lang="en-US" sz="650" dirty="0"/>
          </a:p>
        </p:txBody>
      </p:sp>
      <p:sp>
        <p:nvSpPr>
          <p:cNvPr id="194" name="Shape 192"/>
          <p:cNvSpPr/>
          <p:nvPr/>
        </p:nvSpPr>
        <p:spPr>
          <a:xfrm>
            <a:off x="9034272" y="6327648"/>
            <a:ext cx="1042416" cy="256032"/>
          </a:xfrm>
          <a:prstGeom prst="roundRect">
            <a:avLst>
              <a:gd name="adj" fmla="val 1785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034272" y="6327648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(3 fails→OPEN)</a:t>
            </a:r>
            <a:endParaRPr lang="en-US" sz="650" dirty="0"/>
          </a:p>
        </p:txBody>
      </p:sp>
      <p:sp>
        <p:nvSpPr>
          <p:cNvPr id="196" name="Shape 194"/>
          <p:cNvSpPr/>
          <p:nvPr/>
        </p:nvSpPr>
        <p:spPr>
          <a:xfrm>
            <a:off x="10771632" y="109728"/>
            <a:ext cx="73152" cy="73152"/>
          </a:xfrm>
          <a:prstGeom prst="ellipse">
            <a:avLst/>
          </a:prstGeom>
          <a:solidFill>
            <a:srgbClr val="1F5C6B"/>
          </a:solidFill>
          <a:ln w="12700">
            <a:solidFill>
              <a:srgbClr val="1F5C6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771632" y="182880"/>
            <a:ext cx="73152" cy="73152"/>
          </a:xfrm>
          <a:prstGeom prst="ellipse">
            <a:avLst/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771632" y="256032"/>
            <a:ext cx="73152" cy="73152"/>
          </a:xfrm>
          <a:prstGeom prst="ellipse">
            <a:avLst/>
          </a:prstGeom>
          <a:solidFill>
            <a:srgbClr val="D4872A"/>
          </a:solidFill>
          <a:ln w="12700">
            <a:solidFill>
              <a:srgbClr val="D4872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771632" y="329184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771632" y="402336"/>
            <a:ext cx="73152" cy="73152"/>
          </a:xfrm>
          <a:prstGeom prst="ellipse">
            <a:avLst/>
          </a:prstGeom>
          <a:solidFill>
            <a:srgbClr val="2E8B6E"/>
          </a:solidFill>
          <a:ln w="12700">
            <a:solidFill>
              <a:srgbClr val="2E8B6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771632" y="475488"/>
            <a:ext cx="73152" cy="73152"/>
          </a:xfrm>
          <a:prstGeom prst="ellipse">
            <a:avLst/>
          </a:prstGeom>
          <a:solidFill>
            <a:srgbClr val="4BA8BE"/>
          </a:solidFill>
          <a:ln w="12700">
            <a:solidFill>
              <a:srgbClr val="4BA8B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2026-06-10T19:52:26Z</dcterms:created>
  <dcterms:modified xsi:type="dcterms:W3CDTF">2026-06-10T19:52:26Z</dcterms:modified>
</cp:coreProperties>
</file>