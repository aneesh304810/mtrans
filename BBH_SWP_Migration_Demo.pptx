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Set context: this is the SWP migration demo for the architecture board. Today we're showing a fully operational end-to-end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agenda briefly. Emphasise: this is a live working pipeline, not slides about a future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brief — 2 minutes. The audience knows the context. Focus on: the challenge is real, we've solved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flow. Emphasise: data flows left to right, gold runs once, the two destinations are truly independent.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technical core. Staging is the contract wall. Bronze preserves raw. Silver applies business rules. Gold aggregates. SCD2 is in silver for correction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DAGs, four purposes. sei_file_watcher is production. The others serve specific demo and operational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message: no error logic is hardcoded in Python. Every decision traces back to the catalog. Adding a new error type = one row in a 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run demo_runner.py to walk through all 5 scenarios interactively. Show the API responses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scenarios shown in one slide with flow diagrams. Walk left to right for each. Emphasise: no manual restarts, idempotent, audit trail permanent.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Gold runs once. Six publish models read from it. PBDW is wide/flat for BI. IMDW is normalized for risk and quant.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production parity — this is the key selling point for developers. Same environment = no surprises in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next phase. Frame it as: the pipeline is built, the CI/CD guard rails are the governance layer that makes it enterprise-grade for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strong. The pipeline is working. CI/CD and OpenMetadata are the next investments. 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flow: developer pushes code, pre-push hook fires immediately, GitHub PR is the human checkpoint, Jenkins picks it up and runs all four stages automatically. Only after all four stages pass does the report generate. DevOps and data engineering both review and approve before any code reaches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F4A"/>
        </a:solidFill>
      </p:bgPr>
    </p:bg>
    <p:spTree>
      <p:nvGrpSpPr>
        <p:cNvPr id="1" name=""/>
        <p:cNvGrpSpPr/>
        <p:nvPr/>
      </p:nvGrpSpPr>
      <p:grpSpPr>
        <a:xfrm>
          <a:off x="0" y="0"/>
          <a:ext cx="0" cy="0"/>
          <a:chOff x="0" y="0"/>
          <a:chExt cx="0" cy="0"/>
        </a:xfrm>
      </p:grpSpPr>
      <p:sp>
        <p:nvSpPr>
          <p:cNvPr id="2" name="Shape 0"/>
          <p:cNvSpPr/>
          <p:nvPr/>
        </p:nvSpPr>
        <p:spPr>
          <a:xfrm>
            <a:off x="0" y="0"/>
            <a:ext cx="3474720" cy="5143500"/>
          </a:xfrm>
          <a:prstGeom prst="rect">
            <a:avLst/>
          </a:prstGeom>
          <a:solidFill>
            <a:srgbClr val="1F5C6B"/>
          </a:solidFill>
          <a:ln w="12700">
            <a:solidFill>
              <a:srgbClr val="1F5C6B"/>
            </a:solidFill>
            <a:prstDash val="solid"/>
          </a:ln>
        </p:spPr>
      </p:sp>
      <p:sp>
        <p:nvSpPr>
          <p:cNvPr id="3" name="Shape 1"/>
          <p:cNvSpPr/>
          <p:nvPr/>
        </p:nvSpPr>
        <p:spPr>
          <a:xfrm>
            <a:off x="3474720" y="0"/>
            <a:ext cx="54864" cy="5143500"/>
          </a:xfrm>
          <a:prstGeom prst="rect">
            <a:avLst/>
          </a:prstGeom>
          <a:solidFill>
            <a:srgbClr val="C9A84C"/>
          </a:solidFill>
          <a:ln w="12700">
            <a:solidFill>
              <a:srgbClr val="C9A84C"/>
            </a:solidFill>
            <a:prstDash val="solid"/>
          </a:ln>
        </p:spPr>
      </p:sp>
      <p:sp>
        <p:nvSpPr>
          <p:cNvPr id="4" name="Text 2"/>
          <p:cNvSpPr/>
          <p:nvPr/>
        </p:nvSpPr>
        <p:spPr>
          <a:xfrm>
            <a:off x="411480" y="640080"/>
            <a:ext cx="2743200" cy="73152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BBH</a:t>
            </a:r>
            <a:endParaRPr lang="en-US" sz="5200" dirty="0"/>
          </a:p>
        </p:txBody>
      </p:sp>
      <p:sp>
        <p:nvSpPr>
          <p:cNvPr id="5" name="Text 3"/>
          <p:cNvSpPr/>
          <p:nvPr/>
        </p:nvSpPr>
        <p:spPr>
          <a:xfrm>
            <a:off x="411480" y="1325880"/>
            <a:ext cx="2743200" cy="365760"/>
          </a:xfrm>
          <a:prstGeom prst="rect">
            <a:avLst/>
          </a:prstGeom>
          <a:noFill/>
          <a:ln/>
        </p:spPr>
        <p:txBody>
          <a:bodyPr wrap="square" lIns="0" tIns="0" rIns="0" bIns="0" rtlCol="0" anchor="ctr"/>
          <a:lstStyle/>
          <a:p>
            <a:pPr indent="0" marL="0">
              <a:buNone/>
            </a:pPr>
            <a:r>
              <a:rPr lang="en-US" sz="1600" spc="200" kern="0" dirty="0">
                <a:solidFill>
                  <a:srgbClr val="F0D98C"/>
                </a:solidFill>
                <a:latin typeface="Calibri" pitchFamily="34" charset="0"/>
                <a:ea typeface="Calibri" pitchFamily="34" charset="-122"/>
                <a:cs typeface="Calibri" pitchFamily="34" charset="-120"/>
              </a:rPr>
              <a:t>Capital Partners</a:t>
            </a:r>
            <a:endParaRPr lang="en-US" sz="1600" dirty="0"/>
          </a:p>
        </p:txBody>
      </p:sp>
      <p:sp>
        <p:nvSpPr>
          <p:cNvPr id="6" name="Shape 4"/>
          <p:cNvSpPr/>
          <p:nvPr/>
        </p:nvSpPr>
        <p:spPr>
          <a:xfrm>
            <a:off x="411480" y="1783080"/>
            <a:ext cx="2560320" cy="0"/>
          </a:xfrm>
          <a:prstGeom prst="line">
            <a:avLst/>
          </a:prstGeom>
          <a:noFill/>
          <a:ln w="12700">
            <a:solidFill>
              <a:srgbClr val="F0D98C"/>
            </a:solidFill>
            <a:prstDash val="solid"/>
          </a:ln>
        </p:spPr>
      </p:sp>
      <p:sp>
        <p:nvSpPr>
          <p:cNvPr id="7" name="Text 5"/>
          <p:cNvSpPr/>
          <p:nvPr/>
        </p:nvSpPr>
        <p:spPr>
          <a:xfrm>
            <a:off x="411480" y="1920240"/>
            <a:ext cx="2743200" cy="320040"/>
          </a:xfrm>
          <a:prstGeom prst="rect">
            <a:avLst/>
          </a:prstGeom>
          <a:noFill/>
          <a:ln/>
        </p:spPr>
        <p:txBody>
          <a:bodyPr wrap="square" lIns="0" tIns="0" rIns="0" bIns="0" rtlCol="0" anchor="ctr"/>
          <a:lstStyle/>
          <a:p>
            <a:pPr indent="0" marL="0">
              <a:buNone/>
            </a:pPr>
            <a:r>
              <a:rPr lang="en-US" sz="1100" dirty="0">
                <a:solidFill>
                  <a:srgbClr val="C8E9F0"/>
                </a:solidFill>
                <a:latin typeface="Calibri" pitchFamily="34" charset="0"/>
                <a:ea typeface="Calibri" pitchFamily="34" charset="-122"/>
                <a:cs typeface="Calibri" pitchFamily="34" charset="-120"/>
              </a:rPr>
              <a:t>Strategic Wealth Platform</a:t>
            </a:r>
            <a:endParaRPr lang="en-US" sz="1100" dirty="0"/>
          </a:p>
        </p:txBody>
      </p:sp>
      <p:sp>
        <p:nvSpPr>
          <p:cNvPr id="8" name="Text 6"/>
          <p:cNvSpPr/>
          <p:nvPr/>
        </p:nvSpPr>
        <p:spPr>
          <a:xfrm>
            <a:off x="411480" y="2212848"/>
            <a:ext cx="2743200" cy="320040"/>
          </a:xfrm>
          <a:prstGeom prst="rect">
            <a:avLst/>
          </a:prstGeom>
          <a:noFill/>
          <a:ln/>
        </p:spPr>
        <p:txBody>
          <a:bodyPr wrap="square" lIns="0" tIns="0" rIns="0" bIns="0" rtlCol="0" anchor="ctr"/>
          <a:lstStyle/>
          <a:p>
            <a:pPr indent="0" marL="0">
              <a:buNone/>
            </a:pPr>
            <a:r>
              <a:rPr lang="en-US" sz="1100" dirty="0">
                <a:solidFill>
                  <a:srgbClr val="C8E9F0"/>
                </a:solidFill>
                <a:latin typeface="Calibri" pitchFamily="34" charset="0"/>
                <a:ea typeface="Calibri" pitchFamily="34" charset="-122"/>
                <a:cs typeface="Calibri" pitchFamily="34" charset="-120"/>
              </a:rPr>
              <a:t>SWP Migration Program</a:t>
            </a:r>
            <a:endParaRPr lang="en-US" sz="1100" dirty="0"/>
          </a:p>
        </p:txBody>
      </p:sp>
      <p:sp>
        <p:nvSpPr>
          <p:cNvPr id="9" name="Text 7"/>
          <p:cNvSpPr/>
          <p:nvPr/>
        </p:nvSpPr>
        <p:spPr>
          <a:xfrm>
            <a:off x="3840480" y="731520"/>
            <a:ext cx="4937760" cy="2560320"/>
          </a:xfrm>
          <a:prstGeom prst="rect">
            <a:avLst/>
          </a:prstGeom>
          <a:noFill/>
          <a:ln/>
        </p:spPr>
        <p:txBody>
          <a:bodyPr wrap="square" lIns="0" tIns="0" rIns="0" bIns="0" rtlCol="0" anchor="t"/>
          <a:lstStyle/>
          <a:p>
            <a:pPr algn="l" indent="0" marL="0">
              <a:buNone/>
            </a:pPr>
            <a:r>
              <a:rPr lang="en-US" sz="3800" b="1" dirty="0">
                <a:solidFill>
                  <a:srgbClr val="FFFFFF"/>
                </a:solidFill>
                <a:latin typeface="Cambria" pitchFamily="34" charset="0"/>
                <a:ea typeface="Cambria" pitchFamily="34" charset="-122"/>
                <a:cs typeface="Cambria" pitchFamily="34" charset="-120"/>
              </a:rPr>
              <a:t>SEI Accounting</a:t>
            </a:r>
            <a:endParaRPr lang="en-US" sz="3800" dirty="0"/>
          </a:p>
          <a:p>
            <a:pPr algn="l" indent="0" marL="0">
              <a:buNone/>
            </a:pPr>
            <a:r>
              <a:rPr lang="en-US" sz="3800" b="1" dirty="0">
                <a:solidFill>
                  <a:srgbClr val="FFFFFF"/>
                </a:solidFill>
                <a:latin typeface="Cambria" pitchFamily="34" charset="0"/>
                <a:ea typeface="Cambria" pitchFamily="34" charset="-122"/>
                <a:cs typeface="Cambria" pitchFamily="34" charset="-120"/>
              </a:rPr>
              <a:t>Transformation</a:t>
            </a:r>
            <a:endParaRPr lang="en-US" sz="3800" dirty="0"/>
          </a:p>
          <a:p>
            <a:pPr algn="l" indent="0" marL="0">
              <a:buNone/>
            </a:pPr>
            <a:r>
              <a:rPr lang="en-US" sz="3800" b="1" dirty="0">
                <a:solidFill>
                  <a:srgbClr val="FFFFFF"/>
                </a:solidFill>
                <a:latin typeface="Cambria" pitchFamily="34" charset="0"/>
                <a:ea typeface="Cambria" pitchFamily="34" charset="-122"/>
                <a:cs typeface="Cambria" pitchFamily="34" charset="-120"/>
              </a:rPr>
              <a:t>Pipeline</a:t>
            </a:r>
            <a:endParaRPr lang="en-US" sz="3800" dirty="0"/>
          </a:p>
        </p:txBody>
      </p:sp>
      <p:sp>
        <p:nvSpPr>
          <p:cNvPr id="10" name="Text 8"/>
          <p:cNvSpPr/>
          <p:nvPr/>
        </p:nvSpPr>
        <p:spPr>
          <a:xfrm>
            <a:off x="3840480" y="3337560"/>
            <a:ext cx="4937760" cy="365760"/>
          </a:xfrm>
          <a:prstGeom prst="rect">
            <a:avLst/>
          </a:prstGeom>
          <a:noFill/>
          <a:ln/>
        </p:spPr>
        <p:txBody>
          <a:bodyPr wrap="square" lIns="0" tIns="0" rIns="0" bIns="0" rtlCol="0" anchor="ctr"/>
          <a:lstStyle/>
          <a:p>
            <a:pPr indent="0" marL="0">
              <a:buNone/>
            </a:pPr>
            <a:r>
              <a:rPr lang="en-US" sz="1300" dirty="0">
                <a:solidFill>
                  <a:srgbClr val="4BA8BE"/>
                </a:solidFill>
                <a:latin typeface="Calibri" pitchFamily="34" charset="0"/>
                <a:ea typeface="Calibri" pitchFamily="34" charset="-122"/>
                <a:cs typeface="Calibri" pitchFamily="34" charset="-120"/>
              </a:rPr>
              <a:t>Architecture Board Demo  |  June 2026</a:t>
            </a:r>
            <a:endParaRPr lang="en-US" sz="1300" dirty="0"/>
          </a:p>
        </p:txBody>
      </p:sp>
      <p:sp>
        <p:nvSpPr>
          <p:cNvPr id="11" name="Shape 9"/>
          <p:cNvSpPr/>
          <p:nvPr/>
        </p:nvSpPr>
        <p:spPr>
          <a:xfrm>
            <a:off x="3840480" y="4114800"/>
            <a:ext cx="1188720" cy="292608"/>
          </a:xfrm>
          <a:prstGeom prst="roundRect">
            <a:avLst>
              <a:gd name="adj" fmla="val 15625"/>
            </a:avLst>
          </a:prstGeom>
          <a:solidFill>
            <a:srgbClr val="2A7A8C"/>
          </a:solidFill>
          <a:ln w="12700">
            <a:solidFill>
              <a:srgbClr val="FFFFFF"/>
            </a:solidFill>
            <a:prstDash val="solid"/>
          </a:ln>
        </p:spPr>
      </p:sp>
      <p:sp>
        <p:nvSpPr>
          <p:cNvPr id="12" name="Text 10"/>
          <p:cNvSpPr/>
          <p:nvPr/>
        </p:nvSpPr>
        <p:spPr>
          <a:xfrm>
            <a:off x="3840480" y="4114800"/>
            <a:ext cx="1188720" cy="29260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Airflow 3.2.1</a:t>
            </a:r>
            <a:endParaRPr lang="en-US" sz="800" dirty="0"/>
          </a:p>
        </p:txBody>
      </p:sp>
      <p:sp>
        <p:nvSpPr>
          <p:cNvPr id="13" name="Shape 11"/>
          <p:cNvSpPr/>
          <p:nvPr/>
        </p:nvSpPr>
        <p:spPr>
          <a:xfrm>
            <a:off x="5120640" y="4114800"/>
            <a:ext cx="1188720" cy="292608"/>
          </a:xfrm>
          <a:prstGeom prst="roundRect">
            <a:avLst>
              <a:gd name="adj" fmla="val 15625"/>
            </a:avLst>
          </a:prstGeom>
          <a:solidFill>
            <a:srgbClr val="2A7A8C"/>
          </a:solidFill>
          <a:ln w="12700">
            <a:solidFill>
              <a:srgbClr val="FFFFFF"/>
            </a:solidFill>
            <a:prstDash val="solid"/>
          </a:ln>
        </p:spPr>
      </p:sp>
      <p:sp>
        <p:nvSpPr>
          <p:cNvPr id="14" name="Text 12"/>
          <p:cNvSpPr/>
          <p:nvPr/>
        </p:nvSpPr>
        <p:spPr>
          <a:xfrm>
            <a:off x="5120640" y="4114800"/>
            <a:ext cx="1188720" cy="29260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dbt-core 1.8.4</a:t>
            </a:r>
            <a:endParaRPr lang="en-US" sz="800" dirty="0"/>
          </a:p>
        </p:txBody>
      </p:sp>
      <p:sp>
        <p:nvSpPr>
          <p:cNvPr id="15" name="Shape 13"/>
          <p:cNvSpPr/>
          <p:nvPr/>
        </p:nvSpPr>
        <p:spPr>
          <a:xfrm>
            <a:off x="6400800" y="4114800"/>
            <a:ext cx="1188720" cy="292608"/>
          </a:xfrm>
          <a:prstGeom prst="roundRect">
            <a:avLst>
              <a:gd name="adj" fmla="val 15625"/>
            </a:avLst>
          </a:prstGeom>
          <a:solidFill>
            <a:srgbClr val="2A7A8C"/>
          </a:solidFill>
          <a:ln w="12700">
            <a:solidFill>
              <a:srgbClr val="FFFFFF"/>
            </a:solidFill>
            <a:prstDash val="solid"/>
          </a:ln>
        </p:spPr>
      </p:sp>
      <p:sp>
        <p:nvSpPr>
          <p:cNvPr id="16" name="Text 14"/>
          <p:cNvSpPr/>
          <p:nvPr/>
        </p:nvSpPr>
        <p:spPr>
          <a:xfrm>
            <a:off x="6400800" y="4114800"/>
            <a:ext cx="1188720" cy="29260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Oracle-Compatible</a:t>
            </a:r>
            <a:endParaRPr lang="en-US" sz="800" dirty="0"/>
          </a:p>
        </p:txBody>
      </p:sp>
      <p:sp>
        <p:nvSpPr>
          <p:cNvPr id="17" name="Shape 15"/>
          <p:cNvSpPr/>
          <p:nvPr/>
        </p:nvSpPr>
        <p:spPr>
          <a:xfrm>
            <a:off x="7680960" y="4114800"/>
            <a:ext cx="1188720" cy="292608"/>
          </a:xfrm>
          <a:prstGeom prst="roundRect">
            <a:avLst>
              <a:gd name="adj" fmla="val 15625"/>
            </a:avLst>
          </a:prstGeom>
          <a:solidFill>
            <a:srgbClr val="2A7A8C"/>
          </a:solidFill>
          <a:ln w="12700">
            <a:solidFill>
              <a:srgbClr val="FFFFFF"/>
            </a:solidFill>
            <a:prstDash val="solid"/>
          </a:ln>
        </p:spPr>
      </p:sp>
      <p:sp>
        <p:nvSpPr>
          <p:cNvPr id="18" name="Text 16"/>
          <p:cNvSpPr/>
          <p:nvPr/>
        </p:nvSpPr>
        <p:spPr>
          <a:xfrm>
            <a:off x="7680960" y="4114800"/>
            <a:ext cx="1188720" cy="29260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ODH / OpenShift</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F5C6B"/>
          </a:solidFill>
          <a:ln w="12700">
            <a:solidFill>
              <a:srgbClr val="1F5C6B"/>
            </a:solidFill>
            <a:prstDash val="solid"/>
          </a:ln>
        </p:spPr>
      </p:sp>
      <p:sp>
        <p:nvSpPr>
          <p:cNvPr id="3" name="Shape 1"/>
          <p:cNvSpPr/>
          <p:nvPr/>
        </p:nvSpPr>
        <p:spPr>
          <a:xfrm>
            <a:off x="201168" y="0"/>
            <a:ext cx="8942832" cy="685800"/>
          </a:xfrm>
          <a:prstGeom prst="rect">
            <a:avLst/>
          </a:prstGeom>
          <a:solidFill>
            <a:srgbClr val="1A2F4A"/>
          </a:solidFill>
          <a:ln w="12700">
            <a:solidFill>
              <a:srgbClr val="1A2F4A"/>
            </a:solidFill>
            <a:prstDash val="solid"/>
          </a:ln>
        </p:spPr>
      </p:sp>
      <p:sp>
        <p:nvSpPr>
          <p:cNvPr id="4" name="Text 2"/>
          <p:cNvSpPr/>
          <p:nvPr/>
        </p:nvSpPr>
        <p:spPr>
          <a:xfrm>
            <a:off x="384048" y="54864"/>
            <a:ext cx="5943600" cy="56692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Agenda</a:t>
            </a:r>
            <a:endParaRPr lang="en-US" sz="2000" dirty="0"/>
          </a:p>
        </p:txBody>
      </p:sp>
      <p:sp>
        <p:nvSpPr>
          <p:cNvPr id="5" name="Text 3"/>
          <p:cNvSpPr/>
          <p:nvPr/>
        </p:nvSpPr>
        <p:spPr>
          <a:xfrm>
            <a:off x="384048" y="54864"/>
            <a:ext cx="8412480" cy="566928"/>
          </a:xfrm>
          <a:prstGeom prst="rect">
            <a:avLst/>
          </a:prstGeom>
          <a:noFill/>
          <a:ln/>
        </p:spPr>
        <p:txBody>
          <a:bodyPr wrap="square" lIns="0" tIns="0" rIns="0" bIns="0" rtlCol="0" anchor="ctr"/>
          <a:lstStyle/>
          <a:p>
            <a:pPr algn="r" indent="0" marL="0">
              <a:buNone/>
            </a:pPr>
            <a:r>
              <a:rPr lang="en-US" sz="1100" dirty="0">
                <a:solidFill>
                  <a:srgbClr val="F0D98C"/>
                </a:solidFill>
                <a:latin typeface="Calibri" pitchFamily="34" charset="0"/>
                <a:ea typeface="Calibri" pitchFamily="34" charset="-122"/>
                <a:cs typeface="Calibri" pitchFamily="34" charset="-120"/>
              </a:rPr>
              <a:t>Architecture Board Demo — June 2026</a:t>
            </a:r>
            <a:endParaRPr lang="en-US" sz="1100" dirty="0"/>
          </a:p>
        </p:txBody>
      </p:sp>
      <p:sp>
        <p:nvSpPr>
          <p:cNvPr id="6" name="Shape 4"/>
          <p:cNvSpPr/>
          <p:nvPr/>
        </p:nvSpPr>
        <p:spPr>
          <a:xfrm>
            <a:off x="201168" y="4919472"/>
            <a:ext cx="8942832" cy="224028"/>
          </a:xfrm>
          <a:prstGeom prst="rect">
            <a:avLst/>
          </a:prstGeom>
          <a:solidFill>
            <a:srgbClr val="D0ECF2"/>
          </a:solidFill>
          <a:ln w="12700">
            <a:solidFill>
              <a:srgbClr val="D0ECF2"/>
            </a:solidFill>
            <a:prstDash val="solid"/>
          </a:ln>
        </p:spPr>
      </p:sp>
      <p:sp>
        <p:nvSpPr>
          <p:cNvPr id="7" name="Text 5"/>
          <p:cNvSpPr/>
          <p:nvPr/>
        </p:nvSpPr>
        <p:spPr>
          <a:xfrm>
            <a:off x="384048" y="4928616"/>
            <a:ext cx="8595360" cy="201168"/>
          </a:xfrm>
          <a:prstGeom prst="rect">
            <a:avLst/>
          </a:prstGeom>
          <a:noFill/>
          <a:ln/>
        </p:spPr>
        <p:txBody>
          <a:bodyPr wrap="square" rtlCol="0" anchor="ctr"/>
          <a:lstStyle/>
          <a:p>
            <a:pPr indent="0" marL="0">
              <a:buNone/>
            </a:pPr>
            <a:r>
              <a:rPr lang="en-US" sz="800" dirty="0">
                <a:solidFill>
                  <a:srgbClr val="1F5C6B"/>
                </a:solidFill>
                <a:latin typeface="Calibri" pitchFamily="34" charset="0"/>
                <a:ea typeface="Calibri" pitchFamily="34" charset="-122"/>
                <a:cs typeface="Calibri" pitchFamily="34" charset="-120"/>
              </a:rPr>
              <a:t>BBH Capital Partners  |  SWP Migration  |  Confidential</a:t>
            </a:r>
            <a:endParaRPr lang="en-US" sz="800" dirty="0"/>
          </a:p>
        </p:txBody>
      </p:sp>
      <p:sp>
        <p:nvSpPr>
          <p:cNvPr id="8" name="Shape 6"/>
          <p:cNvSpPr/>
          <p:nvPr/>
        </p:nvSpPr>
        <p:spPr>
          <a:xfrm>
            <a:off x="320040" y="868680"/>
            <a:ext cx="4206240" cy="1115568"/>
          </a:xfrm>
          <a:prstGeom prst="roundRect">
            <a:avLst>
              <a:gd name="adj" fmla="val 6557"/>
            </a:avLst>
          </a:prstGeom>
          <a:solidFill>
            <a:srgbClr val="FFFFFF"/>
          </a:solidFill>
          <a:ln w="12700">
            <a:solidFill>
              <a:srgbClr val="D0ECF2"/>
            </a:solidFill>
            <a:prstDash val="solid"/>
          </a:ln>
          <a:effectLst>
            <a:outerShdw sx="100000" sy="100000" kx="0" ky="0" algn="bl" rotWithShape="0" blurRad="101600" dist="38100" dir="2700000">
              <a:srgbClr val="000000">
                <a:alpha val="10000"/>
              </a:srgbClr>
            </a:outerShdw>
          </a:effectLst>
        </p:spPr>
      </p:sp>
      <p:sp>
        <p:nvSpPr>
          <p:cNvPr id="9" name="Shape 7"/>
          <p:cNvSpPr/>
          <p:nvPr/>
        </p:nvSpPr>
        <p:spPr>
          <a:xfrm>
            <a:off x="429768" y="1188720"/>
            <a:ext cx="475488" cy="475488"/>
          </a:xfrm>
          <a:prstGeom prst="ellipse">
            <a:avLst/>
          </a:prstGeom>
          <a:solidFill>
            <a:srgbClr val="1F5C6B"/>
          </a:solidFill>
          <a:ln w="12700">
            <a:solidFill>
              <a:srgbClr val="1F5C6B"/>
            </a:solidFill>
            <a:prstDash val="solid"/>
          </a:ln>
        </p:spPr>
      </p:sp>
      <p:sp>
        <p:nvSpPr>
          <p:cNvPr id="10" name="Text 8"/>
          <p:cNvSpPr/>
          <p:nvPr/>
        </p:nvSpPr>
        <p:spPr>
          <a:xfrm>
            <a:off x="429768" y="1188720"/>
            <a:ext cx="475488"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11" name="Text 9"/>
          <p:cNvSpPr/>
          <p:nvPr/>
        </p:nvSpPr>
        <p:spPr>
          <a:xfrm>
            <a:off x="1014984" y="1005840"/>
            <a:ext cx="3383280" cy="384048"/>
          </a:xfrm>
          <a:prstGeom prst="rect">
            <a:avLst/>
          </a:prstGeom>
          <a:noFill/>
          <a:ln/>
        </p:spPr>
        <p:txBody>
          <a:bodyPr wrap="square" lIns="0" tIns="0" rIns="0" bIns="0" rtlCol="0" anchor="ctr"/>
          <a:lstStyle/>
          <a:p>
            <a:pPr indent="0" marL="0">
              <a:buNone/>
            </a:pPr>
            <a:r>
              <a:rPr lang="en-US" sz="1300" b="1" dirty="0">
                <a:solidFill>
                  <a:srgbClr val="1A2F38"/>
                </a:solidFill>
                <a:latin typeface="Calibri" pitchFamily="34" charset="0"/>
                <a:ea typeface="Calibri" pitchFamily="34" charset="-122"/>
                <a:cs typeface="Calibri" pitchFamily="34" charset="-120"/>
              </a:rPr>
              <a:t>Program Overview</a:t>
            </a:r>
            <a:endParaRPr lang="en-US" sz="1300" dirty="0"/>
          </a:p>
        </p:txBody>
      </p:sp>
      <p:sp>
        <p:nvSpPr>
          <p:cNvPr id="12" name="Text 10"/>
          <p:cNvSpPr/>
          <p:nvPr/>
        </p:nvSpPr>
        <p:spPr>
          <a:xfrm>
            <a:off x="1014984" y="1371600"/>
            <a:ext cx="3383280" cy="475488"/>
          </a:xfrm>
          <a:prstGeom prst="rect">
            <a:avLst/>
          </a:prstGeom>
          <a:noFill/>
          <a:ln/>
        </p:spPr>
        <p:txBody>
          <a:bodyPr wrap="square" lIns="0" tIns="0" rIns="0" bIns="0" rtlCol="0" anchor="t"/>
          <a:lstStyle/>
          <a:p>
            <a:pPr indent="0" marL="0">
              <a:buNone/>
            </a:pPr>
            <a:r>
              <a:rPr lang="en-US" sz="1000" dirty="0">
                <a:solidFill>
                  <a:srgbClr val="3D5A66"/>
                </a:solidFill>
                <a:latin typeface="Calibri" pitchFamily="34" charset="0"/>
                <a:ea typeface="Calibri" pitchFamily="34" charset="-122"/>
                <a:cs typeface="Calibri" pitchFamily="34" charset="-120"/>
              </a:rPr>
              <a:t>Migration context, status, and demo objectives</a:t>
            </a:r>
            <a:endParaRPr lang="en-US" sz="1000" dirty="0"/>
          </a:p>
        </p:txBody>
      </p:sp>
      <p:sp>
        <p:nvSpPr>
          <p:cNvPr id="13" name="Shape 11"/>
          <p:cNvSpPr/>
          <p:nvPr/>
        </p:nvSpPr>
        <p:spPr>
          <a:xfrm>
            <a:off x="320040" y="2167128"/>
            <a:ext cx="4206240" cy="1115568"/>
          </a:xfrm>
          <a:prstGeom prst="roundRect">
            <a:avLst>
              <a:gd name="adj" fmla="val 6557"/>
            </a:avLst>
          </a:prstGeom>
          <a:solidFill>
            <a:srgbClr val="FFFFFF"/>
          </a:solidFill>
          <a:ln w="12700">
            <a:solidFill>
              <a:srgbClr val="D0ECF2"/>
            </a:solidFill>
            <a:prstDash val="solid"/>
          </a:ln>
          <a:effectLst>
            <a:outerShdw sx="100000" sy="100000" kx="0" ky="0" algn="bl" rotWithShape="0" blurRad="101600" dist="38100" dir="2700000">
              <a:srgbClr val="000000">
                <a:alpha val="10000"/>
              </a:srgbClr>
            </a:outerShdw>
          </a:effectLst>
        </p:spPr>
      </p:sp>
      <p:sp>
        <p:nvSpPr>
          <p:cNvPr id="14" name="Shape 12"/>
          <p:cNvSpPr/>
          <p:nvPr/>
        </p:nvSpPr>
        <p:spPr>
          <a:xfrm>
            <a:off x="429768" y="2487168"/>
            <a:ext cx="475488" cy="475488"/>
          </a:xfrm>
          <a:prstGeom prst="ellipse">
            <a:avLst/>
          </a:prstGeom>
          <a:solidFill>
            <a:srgbClr val="1F5C6B"/>
          </a:solidFill>
          <a:ln w="12700">
            <a:solidFill>
              <a:srgbClr val="1F5C6B"/>
            </a:solidFill>
            <a:prstDash val="solid"/>
          </a:ln>
        </p:spPr>
      </p:sp>
      <p:sp>
        <p:nvSpPr>
          <p:cNvPr id="15" name="Text 13"/>
          <p:cNvSpPr/>
          <p:nvPr/>
        </p:nvSpPr>
        <p:spPr>
          <a:xfrm>
            <a:off x="429768" y="2487168"/>
            <a:ext cx="475488"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16" name="Text 14"/>
          <p:cNvSpPr/>
          <p:nvPr/>
        </p:nvSpPr>
        <p:spPr>
          <a:xfrm>
            <a:off x="1014984" y="2304288"/>
            <a:ext cx="3383280" cy="384048"/>
          </a:xfrm>
          <a:prstGeom prst="rect">
            <a:avLst/>
          </a:prstGeom>
          <a:noFill/>
          <a:ln/>
        </p:spPr>
        <p:txBody>
          <a:bodyPr wrap="square" lIns="0" tIns="0" rIns="0" bIns="0" rtlCol="0" anchor="ctr"/>
          <a:lstStyle/>
          <a:p>
            <a:pPr indent="0" marL="0">
              <a:buNone/>
            </a:pPr>
            <a:r>
              <a:rPr lang="en-US" sz="1300" b="1" dirty="0">
                <a:solidFill>
                  <a:srgbClr val="1A2F38"/>
                </a:solidFill>
                <a:latin typeface="Calibri" pitchFamily="34" charset="0"/>
                <a:ea typeface="Calibri" pitchFamily="34" charset="-122"/>
                <a:cs typeface="Calibri" pitchFamily="34" charset="-120"/>
              </a:rPr>
              <a:t>Platform Architecture</a:t>
            </a:r>
            <a:endParaRPr lang="en-US" sz="1300" dirty="0"/>
          </a:p>
        </p:txBody>
      </p:sp>
      <p:sp>
        <p:nvSpPr>
          <p:cNvPr id="17" name="Text 15"/>
          <p:cNvSpPr/>
          <p:nvPr/>
        </p:nvSpPr>
        <p:spPr>
          <a:xfrm>
            <a:off x="1014984" y="2670048"/>
            <a:ext cx="3383280" cy="475488"/>
          </a:xfrm>
          <a:prstGeom prst="rect">
            <a:avLst/>
          </a:prstGeom>
          <a:noFill/>
          <a:ln/>
        </p:spPr>
        <p:txBody>
          <a:bodyPr wrap="square" lIns="0" tIns="0" rIns="0" bIns="0" rtlCol="0" anchor="t"/>
          <a:lstStyle/>
          <a:p>
            <a:pPr indent="0" marL="0">
              <a:buNone/>
            </a:pPr>
            <a:r>
              <a:rPr lang="en-US" sz="1000" dirty="0">
                <a:solidFill>
                  <a:srgbClr val="3D5A66"/>
                </a:solidFill>
                <a:latin typeface="Calibri" pitchFamily="34" charset="0"/>
                <a:ea typeface="Calibri" pitchFamily="34" charset="-122"/>
                <a:cs typeface="Calibri" pitchFamily="34" charset="-120"/>
              </a:rPr>
              <a:t>Medallion layers, Airflow DAGs, dual publish</a:t>
            </a:r>
            <a:endParaRPr lang="en-US" sz="1000" dirty="0"/>
          </a:p>
        </p:txBody>
      </p:sp>
      <p:sp>
        <p:nvSpPr>
          <p:cNvPr id="18" name="Shape 16"/>
          <p:cNvSpPr/>
          <p:nvPr/>
        </p:nvSpPr>
        <p:spPr>
          <a:xfrm>
            <a:off x="320040" y="3465576"/>
            <a:ext cx="4206240" cy="1115568"/>
          </a:xfrm>
          <a:prstGeom prst="roundRect">
            <a:avLst>
              <a:gd name="adj" fmla="val 6557"/>
            </a:avLst>
          </a:prstGeom>
          <a:solidFill>
            <a:srgbClr val="FFFFFF"/>
          </a:solidFill>
          <a:ln w="12700">
            <a:solidFill>
              <a:srgbClr val="D0ECF2"/>
            </a:solidFill>
            <a:prstDash val="solid"/>
          </a:ln>
          <a:effectLst>
            <a:outerShdw sx="100000" sy="100000" kx="0" ky="0" algn="bl" rotWithShape="0" blurRad="101600" dist="38100" dir="2700000">
              <a:srgbClr val="000000">
                <a:alpha val="10000"/>
              </a:srgbClr>
            </a:outerShdw>
          </a:effectLst>
        </p:spPr>
      </p:sp>
      <p:sp>
        <p:nvSpPr>
          <p:cNvPr id="19" name="Shape 17"/>
          <p:cNvSpPr/>
          <p:nvPr/>
        </p:nvSpPr>
        <p:spPr>
          <a:xfrm>
            <a:off x="429768" y="3785616"/>
            <a:ext cx="475488" cy="475488"/>
          </a:xfrm>
          <a:prstGeom prst="ellipse">
            <a:avLst/>
          </a:prstGeom>
          <a:solidFill>
            <a:srgbClr val="1F5C6B"/>
          </a:solidFill>
          <a:ln w="12700">
            <a:solidFill>
              <a:srgbClr val="1F5C6B"/>
            </a:solidFill>
            <a:prstDash val="solid"/>
          </a:ln>
        </p:spPr>
      </p:sp>
      <p:sp>
        <p:nvSpPr>
          <p:cNvPr id="20" name="Text 18"/>
          <p:cNvSpPr/>
          <p:nvPr/>
        </p:nvSpPr>
        <p:spPr>
          <a:xfrm>
            <a:off x="429768" y="3785616"/>
            <a:ext cx="475488"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21" name="Text 19"/>
          <p:cNvSpPr/>
          <p:nvPr/>
        </p:nvSpPr>
        <p:spPr>
          <a:xfrm>
            <a:off x="1014984" y="3602736"/>
            <a:ext cx="3383280" cy="384048"/>
          </a:xfrm>
          <a:prstGeom prst="rect">
            <a:avLst/>
          </a:prstGeom>
          <a:noFill/>
          <a:ln/>
        </p:spPr>
        <p:txBody>
          <a:bodyPr wrap="square" lIns="0" tIns="0" rIns="0" bIns="0" rtlCol="0" anchor="ctr"/>
          <a:lstStyle/>
          <a:p>
            <a:pPr indent="0" marL="0">
              <a:buNone/>
            </a:pPr>
            <a:r>
              <a:rPr lang="en-US" sz="1300" b="1" dirty="0">
                <a:solidFill>
                  <a:srgbClr val="1A2F38"/>
                </a:solidFill>
                <a:latin typeface="Calibri" pitchFamily="34" charset="0"/>
                <a:ea typeface="Calibri" pitchFamily="34" charset="-122"/>
                <a:cs typeface="Calibri" pitchFamily="34" charset="-120"/>
              </a:rPr>
              <a:t>End-to-End Pipeline Demo</a:t>
            </a:r>
            <a:endParaRPr lang="en-US" sz="1300" dirty="0"/>
          </a:p>
        </p:txBody>
      </p:sp>
      <p:sp>
        <p:nvSpPr>
          <p:cNvPr id="22" name="Text 20"/>
          <p:cNvSpPr/>
          <p:nvPr/>
        </p:nvSpPr>
        <p:spPr>
          <a:xfrm>
            <a:off x="1014984" y="3968496"/>
            <a:ext cx="3383280" cy="475488"/>
          </a:xfrm>
          <a:prstGeom prst="rect">
            <a:avLst/>
          </a:prstGeom>
          <a:noFill/>
          <a:ln/>
        </p:spPr>
        <p:txBody>
          <a:bodyPr wrap="square" lIns="0" tIns="0" rIns="0" bIns="0" rtlCol="0" anchor="t"/>
          <a:lstStyle/>
          <a:p>
            <a:pPr indent="0" marL="0">
              <a:buNone/>
            </a:pPr>
            <a:r>
              <a:rPr lang="en-US" sz="1000" dirty="0">
                <a:solidFill>
                  <a:srgbClr val="3D5A66"/>
                </a:solidFill>
                <a:latin typeface="Calibri" pitchFamily="34" charset="0"/>
                <a:ea typeface="Calibri" pitchFamily="34" charset="-122"/>
                <a:cs typeface="Calibri" pitchFamily="34" charset="-120"/>
              </a:rPr>
              <a:t>Extraction, validation, Oracle benchmarking</a:t>
            </a:r>
            <a:endParaRPr lang="en-US" sz="1000" dirty="0"/>
          </a:p>
        </p:txBody>
      </p:sp>
      <p:sp>
        <p:nvSpPr>
          <p:cNvPr id="23" name="Shape 21"/>
          <p:cNvSpPr/>
          <p:nvPr/>
        </p:nvSpPr>
        <p:spPr>
          <a:xfrm>
            <a:off x="4754880" y="868680"/>
            <a:ext cx="4206240" cy="1115568"/>
          </a:xfrm>
          <a:prstGeom prst="roundRect">
            <a:avLst>
              <a:gd name="adj" fmla="val 6557"/>
            </a:avLst>
          </a:prstGeom>
          <a:solidFill>
            <a:srgbClr val="FFFFFF"/>
          </a:solidFill>
          <a:ln w="12700">
            <a:solidFill>
              <a:srgbClr val="D0ECF2"/>
            </a:solidFill>
            <a:prstDash val="solid"/>
          </a:ln>
          <a:effectLst>
            <a:outerShdw sx="100000" sy="100000" kx="0" ky="0" algn="bl" rotWithShape="0" blurRad="101600" dist="38100" dir="2700000">
              <a:srgbClr val="000000">
                <a:alpha val="10000"/>
              </a:srgbClr>
            </a:outerShdw>
          </a:effectLst>
        </p:spPr>
      </p:sp>
      <p:sp>
        <p:nvSpPr>
          <p:cNvPr id="24" name="Shape 22"/>
          <p:cNvSpPr/>
          <p:nvPr/>
        </p:nvSpPr>
        <p:spPr>
          <a:xfrm>
            <a:off x="4864608" y="1188720"/>
            <a:ext cx="475488" cy="475488"/>
          </a:xfrm>
          <a:prstGeom prst="ellipse">
            <a:avLst/>
          </a:prstGeom>
          <a:solidFill>
            <a:srgbClr val="1F5C6B"/>
          </a:solidFill>
          <a:ln w="12700">
            <a:solidFill>
              <a:srgbClr val="1F5C6B"/>
            </a:solidFill>
            <a:prstDash val="solid"/>
          </a:ln>
        </p:spPr>
      </p:sp>
      <p:sp>
        <p:nvSpPr>
          <p:cNvPr id="25" name="Text 23"/>
          <p:cNvSpPr/>
          <p:nvPr/>
        </p:nvSpPr>
        <p:spPr>
          <a:xfrm>
            <a:off x="4864608" y="1188720"/>
            <a:ext cx="475488"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26" name="Text 24"/>
          <p:cNvSpPr/>
          <p:nvPr/>
        </p:nvSpPr>
        <p:spPr>
          <a:xfrm>
            <a:off x="5449824" y="1005840"/>
            <a:ext cx="3383280" cy="384048"/>
          </a:xfrm>
          <a:prstGeom prst="rect">
            <a:avLst/>
          </a:prstGeom>
          <a:noFill/>
          <a:ln/>
        </p:spPr>
        <p:txBody>
          <a:bodyPr wrap="square" lIns="0" tIns="0" rIns="0" bIns="0" rtlCol="0" anchor="ctr"/>
          <a:lstStyle/>
          <a:p>
            <a:pPr indent="0" marL="0">
              <a:buNone/>
            </a:pPr>
            <a:r>
              <a:rPr lang="en-US" sz="1300" b="1" dirty="0">
                <a:solidFill>
                  <a:srgbClr val="1A2F38"/>
                </a:solidFill>
                <a:latin typeface="Calibri" pitchFamily="34" charset="0"/>
                <a:ea typeface="Calibri" pitchFamily="34" charset="-122"/>
                <a:cs typeface="Calibri" pitchFamily="34" charset="-120"/>
              </a:rPr>
              <a:t>Error Handling &amp; Resiliency</a:t>
            </a:r>
            <a:endParaRPr lang="en-US" sz="1300" dirty="0"/>
          </a:p>
        </p:txBody>
      </p:sp>
      <p:sp>
        <p:nvSpPr>
          <p:cNvPr id="27" name="Text 25"/>
          <p:cNvSpPr/>
          <p:nvPr/>
        </p:nvSpPr>
        <p:spPr>
          <a:xfrm>
            <a:off x="5449824" y="1371600"/>
            <a:ext cx="3383280" cy="475488"/>
          </a:xfrm>
          <a:prstGeom prst="rect">
            <a:avLst/>
          </a:prstGeom>
          <a:noFill/>
          <a:ln/>
        </p:spPr>
        <p:txBody>
          <a:bodyPr wrap="square" lIns="0" tIns="0" rIns="0" bIns="0" rtlCol="0" anchor="t"/>
          <a:lstStyle/>
          <a:p>
            <a:pPr indent="0" marL="0">
              <a:buNone/>
            </a:pPr>
            <a:r>
              <a:rPr lang="en-US" sz="1000" dirty="0">
                <a:solidFill>
                  <a:srgbClr val="3D5A66"/>
                </a:solidFill>
                <a:latin typeface="Calibri" pitchFamily="34" charset="0"/>
                <a:ea typeface="Calibri" pitchFamily="34" charset="-122"/>
                <a:cs typeface="Calibri" pitchFamily="34" charset="-120"/>
              </a:rPr>
              <a:t>Rate limiting, auto-fix, circuit breaker</a:t>
            </a:r>
            <a:endParaRPr lang="en-US" sz="1000" dirty="0"/>
          </a:p>
        </p:txBody>
      </p:sp>
      <p:sp>
        <p:nvSpPr>
          <p:cNvPr id="28" name="Shape 26"/>
          <p:cNvSpPr/>
          <p:nvPr/>
        </p:nvSpPr>
        <p:spPr>
          <a:xfrm>
            <a:off x="4754880" y="2167128"/>
            <a:ext cx="4206240" cy="1115568"/>
          </a:xfrm>
          <a:prstGeom prst="roundRect">
            <a:avLst>
              <a:gd name="adj" fmla="val 6557"/>
            </a:avLst>
          </a:prstGeom>
          <a:solidFill>
            <a:srgbClr val="FFFFFF"/>
          </a:solidFill>
          <a:ln w="12700">
            <a:solidFill>
              <a:srgbClr val="D0ECF2"/>
            </a:solidFill>
            <a:prstDash val="solid"/>
          </a:ln>
          <a:effectLst>
            <a:outerShdw sx="100000" sy="100000" kx="0" ky="0" algn="bl" rotWithShape="0" blurRad="101600" dist="38100" dir="2700000">
              <a:srgbClr val="000000">
                <a:alpha val="10000"/>
              </a:srgbClr>
            </a:outerShdw>
          </a:effectLst>
        </p:spPr>
      </p:sp>
      <p:sp>
        <p:nvSpPr>
          <p:cNvPr id="29" name="Shape 27"/>
          <p:cNvSpPr/>
          <p:nvPr/>
        </p:nvSpPr>
        <p:spPr>
          <a:xfrm>
            <a:off x="4864608" y="2487168"/>
            <a:ext cx="475488" cy="475488"/>
          </a:xfrm>
          <a:prstGeom prst="ellipse">
            <a:avLst/>
          </a:prstGeom>
          <a:solidFill>
            <a:srgbClr val="1F5C6B"/>
          </a:solidFill>
          <a:ln w="12700">
            <a:solidFill>
              <a:srgbClr val="1F5C6B"/>
            </a:solidFill>
            <a:prstDash val="solid"/>
          </a:ln>
        </p:spPr>
      </p:sp>
      <p:sp>
        <p:nvSpPr>
          <p:cNvPr id="30" name="Text 28"/>
          <p:cNvSpPr/>
          <p:nvPr/>
        </p:nvSpPr>
        <p:spPr>
          <a:xfrm>
            <a:off x="4864608" y="2487168"/>
            <a:ext cx="475488"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05</a:t>
            </a:r>
            <a:endParaRPr lang="en-US" sz="1100" dirty="0"/>
          </a:p>
        </p:txBody>
      </p:sp>
      <p:sp>
        <p:nvSpPr>
          <p:cNvPr id="31" name="Text 29"/>
          <p:cNvSpPr/>
          <p:nvPr/>
        </p:nvSpPr>
        <p:spPr>
          <a:xfrm>
            <a:off x="5449824" y="2304288"/>
            <a:ext cx="3383280" cy="384048"/>
          </a:xfrm>
          <a:prstGeom prst="rect">
            <a:avLst/>
          </a:prstGeom>
          <a:noFill/>
          <a:ln/>
        </p:spPr>
        <p:txBody>
          <a:bodyPr wrap="square" lIns="0" tIns="0" rIns="0" bIns="0" rtlCol="0" anchor="ctr"/>
          <a:lstStyle/>
          <a:p>
            <a:pPr indent="0" marL="0">
              <a:buNone/>
            </a:pPr>
            <a:r>
              <a:rPr lang="en-US" sz="1300" b="1" dirty="0">
                <a:solidFill>
                  <a:srgbClr val="1A2F38"/>
                </a:solidFill>
                <a:latin typeface="Calibri" pitchFamily="34" charset="0"/>
                <a:ea typeface="Calibri" pitchFamily="34" charset="-122"/>
                <a:cs typeface="Calibri" pitchFamily="34" charset="-120"/>
              </a:rPr>
              <a:t>File Ingestion Scenarios</a:t>
            </a:r>
            <a:endParaRPr lang="en-US" sz="1300" dirty="0"/>
          </a:p>
        </p:txBody>
      </p:sp>
      <p:sp>
        <p:nvSpPr>
          <p:cNvPr id="32" name="Text 30"/>
          <p:cNvSpPr/>
          <p:nvPr/>
        </p:nvSpPr>
        <p:spPr>
          <a:xfrm>
            <a:off x="5449824" y="2670048"/>
            <a:ext cx="3383280" cy="475488"/>
          </a:xfrm>
          <a:prstGeom prst="rect">
            <a:avLst/>
          </a:prstGeom>
          <a:noFill/>
          <a:ln/>
        </p:spPr>
        <p:txBody>
          <a:bodyPr wrap="square" lIns="0" tIns="0" rIns="0" bIns="0" rtlCol="0" anchor="t"/>
          <a:lstStyle/>
          <a:p>
            <a:pPr indent="0" marL="0">
              <a:buNone/>
            </a:pPr>
            <a:r>
              <a:rPr lang="en-US" sz="1000" dirty="0">
                <a:solidFill>
                  <a:srgbClr val="3D5A66"/>
                </a:solidFill>
                <a:latin typeface="Calibri" pitchFamily="34" charset="0"/>
                <a:ea typeface="Calibri" pitchFamily="34" charset="-122"/>
                <a:cs typeface="Calibri" pitchFamily="34" charset="-120"/>
              </a:rPr>
              <a:t>Late arrival, backfill, SCD2 corrections</a:t>
            </a:r>
            <a:endParaRPr lang="en-US" sz="1000" dirty="0"/>
          </a:p>
        </p:txBody>
      </p:sp>
      <p:sp>
        <p:nvSpPr>
          <p:cNvPr id="33" name="Shape 31"/>
          <p:cNvSpPr/>
          <p:nvPr/>
        </p:nvSpPr>
        <p:spPr>
          <a:xfrm>
            <a:off x="4754880" y="3465576"/>
            <a:ext cx="4206240" cy="1115568"/>
          </a:xfrm>
          <a:prstGeom prst="roundRect">
            <a:avLst>
              <a:gd name="adj" fmla="val 6557"/>
            </a:avLst>
          </a:prstGeom>
          <a:solidFill>
            <a:srgbClr val="FFFFFF"/>
          </a:solidFill>
          <a:ln w="12700">
            <a:solidFill>
              <a:srgbClr val="D0ECF2"/>
            </a:solidFill>
            <a:prstDash val="solid"/>
          </a:ln>
          <a:effectLst>
            <a:outerShdw sx="100000" sy="100000" kx="0" ky="0" algn="bl" rotWithShape="0" blurRad="101600" dist="38100" dir="2700000">
              <a:srgbClr val="000000">
                <a:alpha val="10000"/>
              </a:srgbClr>
            </a:outerShdw>
          </a:effectLst>
        </p:spPr>
      </p:sp>
      <p:sp>
        <p:nvSpPr>
          <p:cNvPr id="34" name="Shape 32"/>
          <p:cNvSpPr/>
          <p:nvPr/>
        </p:nvSpPr>
        <p:spPr>
          <a:xfrm>
            <a:off x="4864608" y="3785616"/>
            <a:ext cx="475488" cy="475488"/>
          </a:xfrm>
          <a:prstGeom prst="ellipse">
            <a:avLst/>
          </a:prstGeom>
          <a:solidFill>
            <a:srgbClr val="1F5C6B"/>
          </a:solidFill>
          <a:ln w="12700">
            <a:solidFill>
              <a:srgbClr val="1F5C6B"/>
            </a:solidFill>
            <a:prstDash val="solid"/>
          </a:ln>
        </p:spPr>
      </p:sp>
      <p:sp>
        <p:nvSpPr>
          <p:cNvPr id="35" name="Text 33"/>
          <p:cNvSpPr/>
          <p:nvPr/>
        </p:nvSpPr>
        <p:spPr>
          <a:xfrm>
            <a:off x="4864608" y="3785616"/>
            <a:ext cx="475488"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06</a:t>
            </a:r>
            <a:endParaRPr lang="en-US" sz="1100" dirty="0"/>
          </a:p>
        </p:txBody>
      </p:sp>
      <p:sp>
        <p:nvSpPr>
          <p:cNvPr id="36" name="Text 34"/>
          <p:cNvSpPr/>
          <p:nvPr/>
        </p:nvSpPr>
        <p:spPr>
          <a:xfrm>
            <a:off x="5449824" y="3602736"/>
            <a:ext cx="3383280" cy="384048"/>
          </a:xfrm>
          <a:prstGeom prst="rect">
            <a:avLst/>
          </a:prstGeom>
          <a:noFill/>
          <a:ln/>
        </p:spPr>
        <p:txBody>
          <a:bodyPr wrap="square" lIns="0" tIns="0" rIns="0" bIns="0" rtlCol="0" anchor="ctr"/>
          <a:lstStyle/>
          <a:p>
            <a:pPr indent="0" marL="0">
              <a:buNone/>
            </a:pPr>
            <a:r>
              <a:rPr lang="en-US" sz="1300" b="1" dirty="0">
                <a:solidFill>
                  <a:srgbClr val="1A2F38"/>
                </a:solidFill>
                <a:latin typeface="Calibri" pitchFamily="34" charset="0"/>
                <a:ea typeface="Calibri" pitchFamily="34" charset="-122"/>
                <a:cs typeface="Calibri" pitchFamily="34" charset="-120"/>
              </a:rPr>
              <a:t>CP Developer Platform</a:t>
            </a:r>
            <a:endParaRPr lang="en-US" sz="1300" dirty="0"/>
          </a:p>
        </p:txBody>
      </p:sp>
      <p:sp>
        <p:nvSpPr>
          <p:cNvPr id="37" name="Text 35"/>
          <p:cNvSpPr/>
          <p:nvPr/>
        </p:nvSpPr>
        <p:spPr>
          <a:xfrm>
            <a:off x="5449824" y="3968496"/>
            <a:ext cx="3383280" cy="475488"/>
          </a:xfrm>
          <a:prstGeom prst="rect">
            <a:avLst/>
          </a:prstGeom>
          <a:noFill/>
          <a:ln/>
        </p:spPr>
        <p:txBody>
          <a:bodyPr wrap="square" lIns="0" tIns="0" rIns="0" bIns="0" rtlCol="0" anchor="t"/>
          <a:lstStyle/>
          <a:p>
            <a:pPr indent="0" marL="0">
              <a:buNone/>
            </a:pPr>
            <a:r>
              <a:rPr lang="en-US" sz="1000" dirty="0">
                <a:solidFill>
                  <a:srgbClr val="3D5A66"/>
                </a:solidFill>
                <a:latin typeface="Calibri" pitchFamily="34" charset="0"/>
                <a:ea typeface="Calibri" pitchFamily="34" charset="-122"/>
                <a:cs typeface="Calibri" pitchFamily="34" charset="-120"/>
              </a:rPr>
              <a:t>Production-parity image, CI/CD guard rails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F5C6B"/>
          </a:solidFill>
          <a:ln w="12700">
            <a:solidFill>
              <a:srgbClr val="1F5C6B"/>
            </a:solidFill>
            <a:prstDash val="solid"/>
          </a:ln>
        </p:spPr>
      </p:sp>
      <p:sp>
        <p:nvSpPr>
          <p:cNvPr id="3" name="Shape 1"/>
          <p:cNvSpPr/>
          <p:nvPr/>
        </p:nvSpPr>
        <p:spPr>
          <a:xfrm>
            <a:off x="201168" y="0"/>
            <a:ext cx="8942832" cy="685800"/>
          </a:xfrm>
          <a:prstGeom prst="rect">
            <a:avLst/>
          </a:prstGeom>
          <a:solidFill>
            <a:srgbClr val="1A2F4A"/>
          </a:solidFill>
          <a:ln w="12700">
            <a:solidFill>
              <a:srgbClr val="1A2F4A"/>
            </a:solidFill>
            <a:prstDash val="solid"/>
          </a:ln>
        </p:spPr>
      </p:sp>
      <p:sp>
        <p:nvSpPr>
          <p:cNvPr id="4" name="Text 2"/>
          <p:cNvSpPr/>
          <p:nvPr/>
        </p:nvSpPr>
        <p:spPr>
          <a:xfrm>
            <a:off x="384048" y="54864"/>
            <a:ext cx="5943600" cy="56692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Program Overview</a:t>
            </a:r>
            <a:endParaRPr lang="en-US" sz="2000" dirty="0"/>
          </a:p>
        </p:txBody>
      </p:sp>
      <p:sp>
        <p:nvSpPr>
          <p:cNvPr id="5" name="Text 3"/>
          <p:cNvSpPr/>
          <p:nvPr/>
        </p:nvSpPr>
        <p:spPr>
          <a:xfrm>
            <a:off x="384048" y="54864"/>
            <a:ext cx="8412480" cy="566928"/>
          </a:xfrm>
          <a:prstGeom prst="rect">
            <a:avLst/>
          </a:prstGeom>
          <a:noFill/>
          <a:ln/>
        </p:spPr>
        <p:txBody>
          <a:bodyPr wrap="square" lIns="0" tIns="0" rIns="0" bIns="0" rtlCol="0" anchor="ctr"/>
          <a:lstStyle/>
          <a:p>
            <a:pPr algn="r" indent="0" marL="0">
              <a:buNone/>
            </a:pPr>
            <a:r>
              <a:rPr lang="en-US" sz="1100" dirty="0">
                <a:solidFill>
                  <a:srgbClr val="F0D98C"/>
                </a:solidFill>
                <a:latin typeface="Calibri" pitchFamily="34" charset="0"/>
                <a:ea typeface="Calibri" pitchFamily="34" charset="-122"/>
                <a:cs typeface="Calibri" pitchFamily="34" charset="-120"/>
              </a:rPr>
              <a:t>Migration Context &amp; Current Status</a:t>
            </a:r>
            <a:endParaRPr lang="en-US" sz="1100" dirty="0"/>
          </a:p>
        </p:txBody>
      </p:sp>
      <p:sp>
        <p:nvSpPr>
          <p:cNvPr id="6" name="Shape 4"/>
          <p:cNvSpPr/>
          <p:nvPr/>
        </p:nvSpPr>
        <p:spPr>
          <a:xfrm>
            <a:off x="201168" y="4919472"/>
            <a:ext cx="8942832" cy="224028"/>
          </a:xfrm>
          <a:prstGeom prst="rect">
            <a:avLst/>
          </a:prstGeom>
          <a:solidFill>
            <a:srgbClr val="D0ECF2"/>
          </a:solidFill>
          <a:ln w="12700">
            <a:solidFill>
              <a:srgbClr val="D0ECF2"/>
            </a:solidFill>
            <a:prstDash val="solid"/>
          </a:ln>
        </p:spPr>
      </p:sp>
      <p:sp>
        <p:nvSpPr>
          <p:cNvPr id="7" name="Text 5"/>
          <p:cNvSpPr/>
          <p:nvPr/>
        </p:nvSpPr>
        <p:spPr>
          <a:xfrm>
            <a:off x="384048" y="4928616"/>
            <a:ext cx="8595360" cy="201168"/>
          </a:xfrm>
          <a:prstGeom prst="rect">
            <a:avLst/>
          </a:prstGeom>
          <a:noFill/>
          <a:ln/>
        </p:spPr>
        <p:txBody>
          <a:bodyPr wrap="square" rtlCol="0" anchor="ctr"/>
          <a:lstStyle/>
          <a:p>
            <a:pPr indent="0" marL="0">
              <a:buNone/>
            </a:pPr>
            <a:r>
              <a:rPr lang="en-US" sz="800" dirty="0">
                <a:solidFill>
                  <a:srgbClr val="1F5C6B"/>
                </a:solidFill>
                <a:latin typeface="Calibri" pitchFamily="34" charset="0"/>
                <a:ea typeface="Calibri" pitchFamily="34" charset="-122"/>
                <a:cs typeface="Calibri" pitchFamily="34" charset="-120"/>
              </a:rPr>
              <a:t>BBH Capital Partners  |  SWP Migration  |  Confidential</a:t>
            </a:r>
            <a:endParaRPr lang="en-US" sz="800" dirty="0"/>
          </a:p>
        </p:txBody>
      </p:sp>
      <p:sp>
        <p:nvSpPr>
          <p:cNvPr id="8" name="Shape 6"/>
          <p:cNvSpPr/>
          <p:nvPr/>
        </p:nvSpPr>
        <p:spPr>
          <a:xfrm>
            <a:off x="320040" y="822960"/>
            <a:ext cx="4114800" cy="3840480"/>
          </a:xfrm>
          <a:prstGeom prst="roundRect">
            <a:avLst>
              <a:gd name="adj" fmla="val 1905"/>
            </a:avLst>
          </a:prstGeom>
          <a:solidFill>
            <a:srgbClr val="1A2F4A"/>
          </a:solidFill>
          <a:ln w="12700">
            <a:solidFill>
              <a:srgbClr val="1A2F4A"/>
            </a:solidFill>
            <a:prstDash val="solid"/>
          </a:ln>
        </p:spPr>
      </p:sp>
      <p:sp>
        <p:nvSpPr>
          <p:cNvPr id="9" name="Text 7"/>
          <p:cNvSpPr/>
          <p:nvPr/>
        </p:nvSpPr>
        <p:spPr>
          <a:xfrm>
            <a:off x="457200" y="896112"/>
            <a:ext cx="3840480" cy="320040"/>
          </a:xfrm>
          <a:prstGeom prst="rect">
            <a:avLst/>
          </a:prstGeom>
          <a:noFill/>
          <a:ln/>
        </p:spPr>
        <p:txBody>
          <a:bodyPr wrap="square" lIns="0" tIns="0" rIns="0" bIns="0" rtlCol="0" anchor="ctr"/>
          <a:lstStyle/>
          <a:p>
            <a:pPr indent="0" marL="0">
              <a:buNone/>
            </a:pPr>
            <a:r>
              <a:rPr lang="en-US" sz="1000" b="1" spc="200" kern="0" dirty="0">
                <a:solidFill>
                  <a:srgbClr val="C9A84C"/>
                </a:solidFill>
                <a:latin typeface="Calibri" pitchFamily="34" charset="0"/>
                <a:ea typeface="Calibri" pitchFamily="34" charset="-122"/>
                <a:cs typeface="Calibri" pitchFamily="34" charset="-120"/>
              </a:rPr>
              <a:t>WHY WE'RE HERE</a:t>
            </a:r>
            <a:endParaRPr lang="en-US" sz="1000" dirty="0"/>
          </a:p>
        </p:txBody>
      </p:sp>
      <p:sp>
        <p:nvSpPr>
          <p:cNvPr id="10" name="Text 8"/>
          <p:cNvSpPr/>
          <p:nvPr/>
        </p:nvSpPr>
        <p:spPr>
          <a:xfrm>
            <a:off x="457200" y="1234440"/>
            <a:ext cx="3840480" cy="34747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Replacing Legacy Systems</a:t>
            </a:r>
            <a:endParaRPr lang="en-US" sz="1400" dirty="0"/>
          </a:p>
        </p:txBody>
      </p:sp>
      <p:sp>
        <p:nvSpPr>
          <p:cNvPr id="11" name="Shape 9"/>
          <p:cNvSpPr/>
          <p:nvPr/>
        </p:nvSpPr>
        <p:spPr>
          <a:xfrm>
            <a:off x="457200" y="1664208"/>
            <a:ext cx="3749040" cy="548640"/>
          </a:xfrm>
          <a:prstGeom prst="roundRect">
            <a:avLst>
              <a:gd name="adj" fmla="val 10000"/>
            </a:avLst>
          </a:prstGeom>
          <a:solidFill>
            <a:srgbClr val="263D56"/>
          </a:solidFill>
          <a:ln w="12700">
            <a:solidFill>
              <a:srgbClr val="2A7A8C"/>
            </a:solidFill>
            <a:prstDash val="solid"/>
          </a:ln>
        </p:spPr>
      </p:sp>
      <p:sp>
        <p:nvSpPr>
          <p:cNvPr id="12" name="Text 10"/>
          <p:cNvSpPr/>
          <p:nvPr/>
        </p:nvSpPr>
        <p:spPr>
          <a:xfrm>
            <a:off x="594360" y="1719072"/>
            <a:ext cx="3474720" cy="2286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FIS/Advent AddVantage</a:t>
            </a:r>
            <a:endParaRPr lang="en-US" sz="1100" dirty="0"/>
          </a:p>
        </p:txBody>
      </p:sp>
      <p:sp>
        <p:nvSpPr>
          <p:cNvPr id="13" name="Text 11"/>
          <p:cNvSpPr/>
          <p:nvPr/>
        </p:nvSpPr>
        <p:spPr>
          <a:xfrm>
            <a:off x="594360" y="1920240"/>
            <a:ext cx="3474720" cy="201168"/>
          </a:xfrm>
          <a:prstGeom prst="rect">
            <a:avLst/>
          </a:prstGeom>
          <a:noFill/>
          <a:ln/>
        </p:spPr>
        <p:txBody>
          <a:bodyPr wrap="square" lIns="0" tIns="0" rIns="0" bIns="0" rtlCol="0" anchor="ctr"/>
          <a:lstStyle/>
          <a:p>
            <a:pPr indent="0" marL="0">
              <a:buNone/>
            </a:pPr>
            <a:r>
              <a:rPr lang="en-US" sz="900" dirty="0">
                <a:solidFill>
                  <a:srgbClr val="8AAAB5"/>
                </a:solidFill>
                <a:latin typeface="Calibri" pitchFamily="34" charset="0"/>
                <a:ea typeface="Calibri" pitchFamily="34" charset="-122"/>
                <a:cs typeface="Calibri" pitchFamily="34" charset="-120"/>
              </a:rPr>
              <a:t>Legacy portfolio accounting</a:t>
            </a:r>
            <a:endParaRPr lang="en-US" sz="900" dirty="0"/>
          </a:p>
        </p:txBody>
      </p:sp>
      <p:sp>
        <p:nvSpPr>
          <p:cNvPr id="14" name="Shape 12"/>
          <p:cNvSpPr/>
          <p:nvPr/>
        </p:nvSpPr>
        <p:spPr>
          <a:xfrm>
            <a:off x="457200" y="2322576"/>
            <a:ext cx="3749040" cy="548640"/>
          </a:xfrm>
          <a:prstGeom prst="roundRect">
            <a:avLst>
              <a:gd name="adj" fmla="val 10000"/>
            </a:avLst>
          </a:prstGeom>
          <a:solidFill>
            <a:srgbClr val="263D56"/>
          </a:solidFill>
          <a:ln w="12700">
            <a:solidFill>
              <a:srgbClr val="2A7A8C"/>
            </a:solidFill>
            <a:prstDash val="solid"/>
          </a:ln>
        </p:spPr>
      </p:sp>
      <p:sp>
        <p:nvSpPr>
          <p:cNvPr id="15" name="Text 13"/>
          <p:cNvSpPr/>
          <p:nvPr/>
        </p:nvSpPr>
        <p:spPr>
          <a:xfrm>
            <a:off x="594360" y="2377440"/>
            <a:ext cx="3474720" cy="22860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STAR</a:t>
            </a:r>
            <a:endParaRPr lang="en-US" sz="1100" dirty="0"/>
          </a:p>
        </p:txBody>
      </p:sp>
      <p:sp>
        <p:nvSpPr>
          <p:cNvPr id="16" name="Text 14"/>
          <p:cNvSpPr/>
          <p:nvPr/>
        </p:nvSpPr>
        <p:spPr>
          <a:xfrm>
            <a:off x="594360" y="2578608"/>
            <a:ext cx="3474720" cy="201168"/>
          </a:xfrm>
          <a:prstGeom prst="rect">
            <a:avLst/>
          </a:prstGeom>
          <a:noFill/>
          <a:ln/>
        </p:spPr>
        <p:txBody>
          <a:bodyPr wrap="square" lIns="0" tIns="0" rIns="0" bIns="0" rtlCol="0" anchor="ctr"/>
          <a:lstStyle/>
          <a:p>
            <a:pPr indent="0" marL="0">
              <a:buNone/>
            </a:pPr>
            <a:r>
              <a:rPr lang="en-US" sz="900" dirty="0">
                <a:solidFill>
                  <a:srgbClr val="8AAAB5"/>
                </a:solidFill>
                <a:latin typeface="Calibri" pitchFamily="34" charset="0"/>
                <a:ea typeface="Calibri" pitchFamily="34" charset="-122"/>
                <a:cs typeface="Calibri" pitchFamily="34" charset="-120"/>
              </a:rPr>
              <a:t>Legacy portfolio accounting</a:t>
            </a:r>
            <a:endParaRPr lang="en-US" sz="900" dirty="0"/>
          </a:p>
        </p:txBody>
      </p:sp>
      <p:sp>
        <p:nvSpPr>
          <p:cNvPr id="17" name="Shape 15"/>
          <p:cNvSpPr/>
          <p:nvPr/>
        </p:nvSpPr>
        <p:spPr>
          <a:xfrm>
            <a:off x="2377440" y="3017520"/>
            <a:ext cx="0" cy="411480"/>
          </a:xfrm>
          <a:prstGeom prst="line">
            <a:avLst/>
          </a:prstGeom>
          <a:noFill/>
          <a:ln w="31750">
            <a:solidFill>
              <a:srgbClr val="C9A84C"/>
            </a:solidFill>
            <a:prstDash val="solid"/>
            <a:tailEnd type="triangle"/>
          </a:ln>
        </p:spPr>
      </p:sp>
      <p:sp>
        <p:nvSpPr>
          <p:cNvPr id="18" name="Text 16"/>
          <p:cNvSpPr/>
          <p:nvPr/>
        </p:nvSpPr>
        <p:spPr>
          <a:xfrm>
            <a:off x="457200" y="3438144"/>
            <a:ext cx="3749040" cy="219456"/>
          </a:xfrm>
          <a:prstGeom prst="rect">
            <a:avLst/>
          </a:prstGeom>
          <a:noFill/>
          <a:ln/>
        </p:spPr>
        <p:txBody>
          <a:bodyPr wrap="square" lIns="0" tIns="0" rIns="0" bIns="0" rtlCol="0" anchor="ctr"/>
          <a:lstStyle/>
          <a:p>
            <a:pPr algn="ctr" indent="0" marL="0">
              <a:buNone/>
            </a:pPr>
            <a:r>
              <a:rPr lang="en-US" sz="800" b="1" spc="100" kern="0" dirty="0">
                <a:solidFill>
                  <a:srgbClr val="C9A84C"/>
                </a:solidFill>
                <a:latin typeface="Calibri" pitchFamily="34" charset="0"/>
                <a:ea typeface="Calibri" pitchFamily="34" charset="-122"/>
                <a:cs typeface="Calibri" pitchFamily="34" charset="-120"/>
              </a:rPr>
              <a:t>NEW SYSTEM OF RECORD</a:t>
            </a:r>
            <a:endParaRPr lang="en-US" sz="800" dirty="0"/>
          </a:p>
        </p:txBody>
      </p:sp>
      <p:sp>
        <p:nvSpPr>
          <p:cNvPr id="19" name="Shape 17"/>
          <p:cNvSpPr/>
          <p:nvPr/>
        </p:nvSpPr>
        <p:spPr>
          <a:xfrm>
            <a:off x="457200" y="3675888"/>
            <a:ext cx="3749040" cy="640080"/>
          </a:xfrm>
          <a:prstGeom prst="roundRect">
            <a:avLst>
              <a:gd name="adj" fmla="val 8571"/>
            </a:avLst>
          </a:prstGeom>
          <a:solidFill>
            <a:srgbClr val="1F5C6B"/>
          </a:solidFill>
          <a:ln w="12700">
            <a:solidFill>
              <a:srgbClr val="1F5C6B"/>
            </a:solidFill>
            <a:prstDash val="solid"/>
          </a:ln>
        </p:spPr>
      </p:sp>
      <p:sp>
        <p:nvSpPr>
          <p:cNvPr id="20" name="Text 18"/>
          <p:cNvSpPr/>
          <p:nvPr/>
        </p:nvSpPr>
        <p:spPr>
          <a:xfrm>
            <a:off x="457200" y="3675888"/>
            <a:ext cx="374904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SEI Strategic Wealth Platform</a:t>
            </a:r>
            <a:endParaRPr lang="en-US" sz="1400" dirty="0"/>
          </a:p>
        </p:txBody>
      </p:sp>
      <p:sp>
        <p:nvSpPr>
          <p:cNvPr id="21" name="Shape 19"/>
          <p:cNvSpPr/>
          <p:nvPr/>
        </p:nvSpPr>
        <p:spPr>
          <a:xfrm>
            <a:off x="4617720" y="822960"/>
            <a:ext cx="4206240" cy="3840480"/>
          </a:xfrm>
          <a:prstGeom prst="roundRect">
            <a:avLst>
              <a:gd name="adj" fmla="val 1905"/>
            </a:avLst>
          </a:prstGeom>
          <a:solidFill>
            <a:srgbClr val="F0F8FA"/>
          </a:solidFill>
          <a:ln w="12700">
            <a:solidFill>
              <a:srgbClr val="D0ECF2"/>
            </a:solidFill>
            <a:prstDash val="solid"/>
          </a:ln>
          <a:effectLst>
            <a:outerShdw sx="100000" sy="100000" kx="0" ky="0" algn="bl" rotWithShape="0" blurRad="101600" dist="38100" dir="2700000">
              <a:srgbClr val="000000">
                <a:alpha val="10000"/>
              </a:srgbClr>
            </a:outerShdw>
          </a:effectLst>
        </p:spPr>
      </p:sp>
      <p:sp>
        <p:nvSpPr>
          <p:cNvPr id="22" name="Text 20"/>
          <p:cNvSpPr/>
          <p:nvPr/>
        </p:nvSpPr>
        <p:spPr>
          <a:xfrm>
            <a:off x="4754880" y="896112"/>
            <a:ext cx="3840480" cy="320040"/>
          </a:xfrm>
          <a:prstGeom prst="rect">
            <a:avLst/>
          </a:prstGeom>
          <a:noFill/>
          <a:ln/>
        </p:spPr>
        <p:txBody>
          <a:bodyPr wrap="square" lIns="0" tIns="0" rIns="0" bIns="0" rtlCol="0" anchor="ctr"/>
          <a:lstStyle/>
          <a:p>
            <a:pPr indent="0" marL="0">
              <a:buNone/>
            </a:pPr>
            <a:r>
              <a:rPr lang="en-US" sz="1000" b="1" spc="200" kern="0" dirty="0">
                <a:solidFill>
                  <a:srgbClr val="1F5C6B"/>
                </a:solidFill>
                <a:latin typeface="Calibri" pitchFamily="34" charset="0"/>
                <a:ea typeface="Calibri" pitchFamily="34" charset="-122"/>
                <a:cs typeface="Calibri" pitchFamily="34" charset="-120"/>
              </a:rPr>
              <a:t>THE CHALLENGE</a:t>
            </a:r>
            <a:endParaRPr lang="en-US" sz="1000" dirty="0"/>
          </a:p>
        </p:txBody>
      </p:sp>
      <p:sp>
        <p:nvSpPr>
          <p:cNvPr id="23" name="Text 21"/>
          <p:cNvSpPr/>
          <p:nvPr/>
        </p:nvSpPr>
        <p:spPr>
          <a:xfrm>
            <a:off x="4754880" y="1298448"/>
            <a:ext cx="365760" cy="411480"/>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24" name="Text 22"/>
          <p:cNvSpPr/>
          <p:nvPr/>
        </p:nvSpPr>
        <p:spPr>
          <a:xfrm>
            <a:off x="5166360" y="1298448"/>
            <a:ext cx="3474720" cy="411480"/>
          </a:xfrm>
          <a:prstGeom prst="rect">
            <a:avLst/>
          </a:prstGeom>
          <a:noFill/>
          <a:ln/>
        </p:spPr>
        <p:txBody>
          <a:bodyPr wrap="square" lIns="0" tIns="0" rIns="0" bIns="0" rtlCol="0" anchor="ctr"/>
          <a:lstStyle/>
          <a:p>
            <a:pPr indent="0" marL="0">
              <a:buNone/>
            </a:pPr>
            <a:r>
              <a:rPr lang="en-US" sz="1000" dirty="0">
                <a:solidFill>
                  <a:srgbClr val="1A2F38"/>
                </a:solidFill>
                <a:latin typeface="Calibri" pitchFamily="34" charset="0"/>
                <a:ea typeface="Calibri" pitchFamily="34" charset="-122"/>
                <a:cs typeface="Calibri" pitchFamily="34" charset="-120"/>
              </a:rPr>
              <a:t>SEI hosted on Azure — BBH does not own compute or storage</a:t>
            </a:r>
            <a:endParaRPr lang="en-US" sz="1000" dirty="0"/>
          </a:p>
        </p:txBody>
      </p:sp>
      <p:sp>
        <p:nvSpPr>
          <p:cNvPr id="25" name="Text 23"/>
          <p:cNvSpPr/>
          <p:nvPr/>
        </p:nvSpPr>
        <p:spPr>
          <a:xfrm>
            <a:off x="4754880" y="1865376"/>
            <a:ext cx="365760" cy="411480"/>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26" name="Text 24"/>
          <p:cNvSpPr/>
          <p:nvPr/>
        </p:nvSpPr>
        <p:spPr>
          <a:xfrm>
            <a:off x="5166360" y="1865376"/>
            <a:ext cx="3474720" cy="411480"/>
          </a:xfrm>
          <a:prstGeom prst="rect">
            <a:avLst/>
          </a:prstGeom>
          <a:noFill/>
          <a:ln/>
        </p:spPr>
        <p:txBody>
          <a:bodyPr wrap="square" lIns="0" tIns="0" rIns="0" bIns="0" rtlCol="0" anchor="ctr"/>
          <a:lstStyle/>
          <a:p>
            <a:pPr indent="0" marL="0">
              <a:buNone/>
            </a:pPr>
            <a:r>
              <a:rPr lang="en-US" sz="1000" dirty="0">
                <a:solidFill>
                  <a:srgbClr val="1A2F38"/>
                </a:solidFill>
                <a:latin typeface="Calibri" pitchFamily="34" charset="0"/>
                <a:ea typeface="Calibri" pitchFamily="34" charset="-122"/>
                <a:cs typeface="Calibri" pitchFamily="34" charset="-120"/>
              </a:rPr>
              <a:t>Data must be extracted, validated, and transformed per BBH rules</a:t>
            </a:r>
            <a:endParaRPr lang="en-US" sz="1000" dirty="0"/>
          </a:p>
        </p:txBody>
      </p:sp>
      <p:sp>
        <p:nvSpPr>
          <p:cNvPr id="27" name="Text 25"/>
          <p:cNvSpPr/>
          <p:nvPr/>
        </p:nvSpPr>
        <p:spPr>
          <a:xfrm>
            <a:off x="4754880" y="2432304"/>
            <a:ext cx="365760" cy="411480"/>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28" name="Text 26"/>
          <p:cNvSpPr/>
          <p:nvPr/>
        </p:nvSpPr>
        <p:spPr>
          <a:xfrm>
            <a:off x="5166360" y="2432304"/>
            <a:ext cx="3474720" cy="411480"/>
          </a:xfrm>
          <a:prstGeom prst="rect">
            <a:avLst/>
          </a:prstGeom>
          <a:noFill/>
          <a:ln/>
        </p:spPr>
        <p:txBody>
          <a:bodyPr wrap="square" lIns="0" tIns="0" rIns="0" bIns="0" rtlCol="0" anchor="ctr"/>
          <a:lstStyle/>
          <a:p>
            <a:pPr indent="0" marL="0">
              <a:buNone/>
            </a:pPr>
            <a:r>
              <a:rPr lang="en-US" sz="1000" dirty="0">
                <a:solidFill>
                  <a:srgbClr val="1A2F38"/>
                </a:solidFill>
                <a:latin typeface="Calibri" pitchFamily="34" charset="0"/>
                <a:ea typeface="Calibri" pitchFamily="34" charset="-122"/>
                <a:cs typeface="Calibri" pitchFamily="34" charset="-120"/>
              </a:rPr>
              <a:t>Downstream consumers: risk, dashboards, compliance, client statements</a:t>
            </a:r>
            <a:endParaRPr lang="en-US" sz="1000" dirty="0"/>
          </a:p>
        </p:txBody>
      </p:sp>
      <p:sp>
        <p:nvSpPr>
          <p:cNvPr id="29" name="Text 27"/>
          <p:cNvSpPr/>
          <p:nvPr/>
        </p:nvSpPr>
        <p:spPr>
          <a:xfrm>
            <a:off x="4754880" y="2999232"/>
            <a:ext cx="365760" cy="411480"/>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30" name="Text 28"/>
          <p:cNvSpPr/>
          <p:nvPr/>
        </p:nvSpPr>
        <p:spPr>
          <a:xfrm>
            <a:off x="5166360" y="2999232"/>
            <a:ext cx="3474720" cy="411480"/>
          </a:xfrm>
          <a:prstGeom prst="rect">
            <a:avLst/>
          </a:prstGeom>
          <a:noFill/>
          <a:ln/>
        </p:spPr>
        <p:txBody>
          <a:bodyPr wrap="square" lIns="0" tIns="0" rIns="0" bIns="0" rtlCol="0" anchor="ctr"/>
          <a:lstStyle/>
          <a:p>
            <a:pPr indent="0" marL="0">
              <a:buNone/>
            </a:pPr>
            <a:r>
              <a:rPr lang="en-US" sz="1000" dirty="0">
                <a:solidFill>
                  <a:srgbClr val="1A2F38"/>
                </a:solidFill>
                <a:latin typeface="Calibri" pitchFamily="34" charset="0"/>
                <a:ea typeface="Calibri" pitchFamily="34" charset="-122"/>
                <a:cs typeface="Calibri" pitchFamily="34" charset="-120"/>
              </a:rPr>
              <a:t>Accuracy, reliability, and auditability are non-negotiable</a:t>
            </a:r>
            <a:endParaRPr lang="en-US" sz="1000" dirty="0"/>
          </a:p>
        </p:txBody>
      </p:sp>
      <p:sp>
        <p:nvSpPr>
          <p:cNvPr id="31" name="Text 29"/>
          <p:cNvSpPr/>
          <p:nvPr/>
        </p:nvSpPr>
        <p:spPr>
          <a:xfrm>
            <a:off x="4754880" y="3566160"/>
            <a:ext cx="365760" cy="411480"/>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32" name="Text 30"/>
          <p:cNvSpPr/>
          <p:nvPr/>
        </p:nvSpPr>
        <p:spPr>
          <a:xfrm>
            <a:off x="5166360" y="3566160"/>
            <a:ext cx="3474720" cy="411480"/>
          </a:xfrm>
          <a:prstGeom prst="rect">
            <a:avLst/>
          </a:prstGeom>
          <a:noFill/>
          <a:ln/>
        </p:spPr>
        <p:txBody>
          <a:bodyPr wrap="square" lIns="0" tIns="0" rIns="0" bIns="0" rtlCol="0" anchor="ctr"/>
          <a:lstStyle/>
          <a:p>
            <a:pPr indent="0" marL="0">
              <a:buNone/>
            </a:pPr>
            <a:r>
              <a:rPr lang="en-US" sz="1000" dirty="0">
                <a:solidFill>
                  <a:srgbClr val="1A2F38"/>
                </a:solidFill>
                <a:latin typeface="Calibri" pitchFamily="34" charset="0"/>
                <a:ea typeface="Calibri" pitchFamily="34" charset="-122"/>
                <a:cs typeface="Calibri" pitchFamily="34" charset="-120"/>
              </a:rPr>
              <a:t>CI/CD governance pipeline as automated guard rail — next phase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F5C6B"/>
          </a:solidFill>
          <a:ln w="12700">
            <a:solidFill>
              <a:srgbClr val="1F5C6B"/>
            </a:solidFill>
            <a:prstDash val="solid"/>
          </a:ln>
        </p:spPr>
      </p:sp>
      <p:sp>
        <p:nvSpPr>
          <p:cNvPr id="3" name="Shape 1"/>
          <p:cNvSpPr/>
          <p:nvPr/>
        </p:nvSpPr>
        <p:spPr>
          <a:xfrm>
            <a:off x="201168" y="0"/>
            <a:ext cx="8942832" cy="685800"/>
          </a:xfrm>
          <a:prstGeom prst="rect">
            <a:avLst/>
          </a:prstGeom>
          <a:solidFill>
            <a:srgbClr val="1A2F4A"/>
          </a:solidFill>
          <a:ln w="12700">
            <a:solidFill>
              <a:srgbClr val="1A2F4A"/>
            </a:solidFill>
            <a:prstDash val="solid"/>
          </a:ln>
        </p:spPr>
      </p:sp>
      <p:sp>
        <p:nvSpPr>
          <p:cNvPr id="4" name="Text 2"/>
          <p:cNvSpPr/>
          <p:nvPr/>
        </p:nvSpPr>
        <p:spPr>
          <a:xfrm>
            <a:off x="384048" y="54864"/>
            <a:ext cx="5943600" cy="56692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Platform Architecture</a:t>
            </a:r>
            <a:endParaRPr lang="en-US" sz="2000" dirty="0"/>
          </a:p>
        </p:txBody>
      </p:sp>
      <p:sp>
        <p:nvSpPr>
          <p:cNvPr id="5" name="Text 3"/>
          <p:cNvSpPr/>
          <p:nvPr/>
        </p:nvSpPr>
        <p:spPr>
          <a:xfrm>
            <a:off x="384048" y="54864"/>
            <a:ext cx="8412480" cy="566928"/>
          </a:xfrm>
          <a:prstGeom prst="rect">
            <a:avLst/>
          </a:prstGeom>
          <a:noFill/>
          <a:ln/>
        </p:spPr>
        <p:txBody>
          <a:bodyPr wrap="square" lIns="0" tIns="0" rIns="0" bIns="0" rtlCol="0" anchor="ctr"/>
          <a:lstStyle/>
          <a:p>
            <a:pPr algn="r" indent="0" marL="0">
              <a:buNone/>
            </a:pPr>
            <a:r>
              <a:rPr lang="en-US" sz="1100" dirty="0">
                <a:solidFill>
                  <a:srgbClr val="F0D98C"/>
                </a:solidFill>
                <a:latin typeface="Calibri" pitchFamily="34" charset="0"/>
                <a:ea typeface="Calibri" pitchFamily="34" charset="-122"/>
                <a:cs typeface="Calibri" pitchFamily="34" charset="-120"/>
              </a:rPr>
              <a:t>End-to-End Data Flow</a:t>
            </a:r>
            <a:endParaRPr lang="en-US" sz="1100" dirty="0"/>
          </a:p>
        </p:txBody>
      </p:sp>
      <p:sp>
        <p:nvSpPr>
          <p:cNvPr id="6" name="Shape 4"/>
          <p:cNvSpPr/>
          <p:nvPr/>
        </p:nvSpPr>
        <p:spPr>
          <a:xfrm>
            <a:off x="201168" y="4919472"/>
            <a:ext cx="8942832" cy="224028"/>
          </a:xfrm>
          <a:prstGeom prst="rect">
            <a:avLst/>
          </a:prstGeom>
          <a:solidFill>
            <a:srgbClr val="D0ECF2"/>
          </a:solidFill>
          <a:ln w="12700">
            <a:solidFill>
              <a:srgbClr val="D0ECF2"/>
            </a:solidFill>
            <a:prstDash val="solid"/>
          </a:ln>
        </p:spPr>
      </p:sp>
      <p:sp>
        <p:nvSpPr>
          <p:cNvPr id="7" name="Text 5"/>
          <p:cNvSpPr/>
          <p:nvPr/>
        </p:nvSpPr>
        <p:spPr>
          <a:xfrm>
            <a:off x="384048" y="4928616"/>
            <a:ext cx="8595360" cy="201168"/>
          </a:xfrm>
          <a:prstGeom prst="rect">
            <a:avLst/>
          </a:prstGeom>
          <a:noFill/>
          <a:ln/>
        </p:spPr>
        <p:txBody>
          <a:bodyPr wrap="square" rtlCol="0" anchor="ctr"/>
          <a:lstStyle/>
          <a:p>
            <a:pPr indent="0" marL="0">
              <a:buNone/>
            </a:pPr>
            <a:r>
              <a:rPr lang="en-US" sz="800" dirty="0">
                <a:solidFill>
                  <a:srgbClr val="1F5C6B"/>
                </a:solidFill>
                <a:latin typeface="Calibri" pitchFamily="34" charset="0"/>
                <a:ea typeface="Calibri" pitchFamily="34" charset="-122"/>
                <a:cs typeface="Calibri" pitchFamily="34" charset="-120"/>
              </a:rPr>
              <a:t>BBH Capital Partners  |  SWP Migration  |  Confidential</a:t>
            </a:r>
            <a:endParaRPr lang="en-US" sz="800" dirty="0"/>
          </a:p>
        </p:txBody>
      </p:sp>
      <p:sp>
        <p:nvSpPr>
          <p:cNvPr id="8" name="Shape 6"/>
          <p:cNvSpPr/>
          <p:nvPr/>
        </p:nvSpPr>
        <p:spPr>
          <a:xfrm>
            <a:off x="320040" y="960120"/>
            <a:ext cx="1325880" cy="1280160"/>
          </a:xfrm>
          <a:prstGeom prst="roundRect">
            <a:avLst>
              <a:gd name="adj" fmla="val 5000"/>
            </a:avLst>
          </a:prstGeom>
          <a:solidFill>
            <a:srgbClr val="4A6572"/>
          </a:solidFill>
          <a:ln w="12700">
            <a:solidFill>
              <a:srgbClr val="000000"/>
            </a:solidFill>
            <a:prstDash val="solid"/>
          </a:ln>
          <a:effectLst>
            <a:outerShdw sx="100000" sy="100000" kx="0" ky="0" algn="bl" rotWithShape="0" blurRad="101600" dist="38100" dir="2700000">
              <a:srgbClr val="000000">
                <a:alpha val="10000"/>
              </a:srgbClr>
            </a:outerShdw>
          </a:effectLst>
        </p:spPr>
      </p:sp>
      <p:sp>
        <p:nvSpPr>
          <p:cNvPr id="9" name="Text 7"/>
          <p:cNvSpPr/>
          <p:nvPr/>
        </p:nvSpPr>
        <p:spPr>
          <a:xfrm>
            <a:off x="393192" y="1014984"/>
            <a:ext cx="1179576" cy="665683"/>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SEI SWP</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(Azure)</a:t>
            </a:r>
            <a:endParaRPr lang="en-US" sz="1000" dirty="0"/>
          </a:p>
        </p:txBody>
      </p:sp>
      <p:sp>
        <p:nvSpPr>
          <p:cNvPr id="10" name="Text 8"/>
          <p:cNvSpPr/>
          <p:nvPr/>
        </p:nvSpPr>
        <p:spPr>
          <a:xfrm>
            <a:off x="393192" y="1625803"/>
            <a:ext cx="1179576" cy="576072"/>
          </a:xfrm>
          <a:prstGeom prst="rect">
            <a:avLst/>
          </a:prstGeom>
          <a:noFill/>
          <a:ln/>
        </p:spPr>
        <p:txBody>
          <a:bodyPr wrap="square" lIns="0" tIns="0" rIns="0" bIns="0" rtlCol="0" anchor="t"/>
          <a:lstStyle/>
          <a:p>
            <a:pPr algn="ctr" indent="0" marL="0">
              <a:buNone/>
            </a:pPr>
            <a:r>
              <a:rPr lang="en-US" sz="800" dirty="0">
                <a:solidFill>
                  <a:srgbClr val="3D5A66"/>
                </a:solidFill>
                <a:latin typeface="Calibri" pitchFamily="34" charset="0"/>
                <a:ea typeface="Calibri" pitchFamily="34" charset="-122"/>
                <a:cs typeface="Calibri" pitchFamily="34" charset="-120"/>
              </a:rPr>
              <a:t>Daily CSV</a:t>
            </a:r>
            <a:endParaRPr lang="en-US" sz="800" dirty="0"/>
          </a:p>
          <a:p>
            <a:pPr algn="ctr" indent="0" marL="0">
              <a:buNone/>
            </a:pPr>
            <a:r>
              <a:rPr lang="en-US" sz="800" dirty="0">
                <a:solidFill>
                  <a:srgbClr val="3D5A66"/>
                </a:solidFill>
                <a:latin typeface="Calibri" pitchFamily="34" charset="0"/>
                <a:ea typeface="Calibri" pitchFamily="34" charset="-122"/>
                <a:cs typeface="Calibri" pitchFamily="34" charset="-120"/>
              </a:rPr>
              <a:t>feed file</a:t>
            </a:r>
            <a:endParaRPr lang="en-US" sz="800" dirty="0"/>
          </a:p>
        </p:txBody>
      </p:sp>
      <p:sp>
        <p:nvSpPr>
          <p:cNvPr id="11" name="Shape 9"/>
          <p:cNvSpPr/>
          <p:nvPr/>
        </p:nvSpPr>
        <p:spPr>
          <a:xfrm>
            <a:off x="1655064" y="1600200"/>
            <a:ext cx="146304" cy="0"/>
          </a:xfrm>
          <a:prstGeom prst="line">
            <a:avLst/>
          </a:prstGeom>
          <a:noFill/>
          <a:ln w="25400">
            <a:solidFill>
              <a:srgbClr val="2A7A8C"/>
            </a:solidFill>
            <a:prstDash val="solid"/>
            <a:tailEnd type="triangle"/>
          </a:ln>
        </p:spPr>
      </p:sp>
      <p:sp>
        <p:nvSpPr>
          <p:cNvPr id="12" name="Shape 10"/>
          <p:cNvSpPr/>
          <p:nvPr/>
        </p:nvSpPr>
        <p:spPr>
          <a:xfrm>
            <a:off x="1828800" y="960120"/>
            <a:ext cx="1325880" cy="1280160"/>
          </a:xfrm>
          <a:prstGeom prst="roundRect">
            <a:avLst>
              <a:gd name="adj" fmla="val 5000"/>
            </a:avLst>
          </a:prstGeom>
          <a:solidFill>
            <a:srgbClr val="1F5C6B"/>
          </a:solidFill>
          <a:ln w="12700">
            <a:solidFill>
              <a:srgbClr val="000000"/>
            </a:solidFill>
            <a:prstDash val="solid"/>
          </a:ln>
          <a:effectLst>
            <a:outerShdw sx="100000" sy="100000" kx="0" ky="0" algn="bl" rotWithShape="0" blurRad="101600" dist="38100" dir="2700000">
              <a:srgbClr val="000000">
                <a:alpha val="10000"/>
              </a:srgbClr>
            </a:outerShdw>
          </a:effectLst>
        </p:spPr>
      </p:sp>
      <p:sp>
        <p:nvSpPr>
          <p:cNvPr id="13" name="Text 11"/>
          <p:cNvSpPr/>
          <p:nvPr/>
        </p:nvSpPr>
        <p:spPr>
          <a:xfrm>
            <a:off x="1901952" y="1014984"/>
            <a:ext cx="1179576" cy="665683"/>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File</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Watcher</a:t>
            </a:r>
            <a:endParaRPr lang="en-US" sz="1000" dirty="0"/>
          </a:p>
        </p:txBody>
      </p:sp>
      <p:sp>
        <p:nvSpPr>
          <p:cNvPr id="14" name="Text 12"/>
          <p:cNvSpPr/>
          <p:nvPr/>
        </p:nvSpPr>
        <p:spPr>
          <a:xfrm>
            <a:off x="1901952" y="1625803"/>
            <a:ext cx="1179576" cy="576072"/>
          </a:xfrm>
          <a:prstGeom prst="rect">
            <a:avLst/>
          </a:prstGeom>
          <a:noFill/>
          <a:ln/>
        </p:spPr>
        <p:txBody>
          <a:bodyPr wrap="square" lIns="0" tIns="0" rIns="0" bIns="0" rtlCol="0" anchor="t"/>
          <a:lstStyle/>
          <a:p>
            <a:pPr algn="ctr" indent="0" marL="0">
              <a:buNone/>
            </a:pPr>
            <a:r>
              <a:rPr lang="en-US" sz="800" dirty="0">
                <a:solidFill>
                  <a:srgbClr val="3D5A66"/>
                </a:solidFill>
                <a:latin typeface="Calibri" pitchFamily="34" charset="0"/>
                <a:ea typeface="Calibri" pitchFamily="34" charset="-122"/>
                <a:cs typeface="Calibri" pitchFamily="34" charset="-120"/>
              </a:rPr>
              <a:t>30s poll</a:t>
            </a:r>
            <a:endParaRPr lang="en-US" sz="800" dirty="0"/>
          </a:p>
          <a:p>
            <a:pPr algn="ctr" indent="0" marL="0">
              <a:buNone/>
            </a:pPr>
            <a:r>
              <a:rPr lang="en-US" sz="800" dirty="0">
                <a:solidFill>
                  <a:srgbClr val="3D5A66"/>
                </a:solidFill>
                <a:latin typeface="Calibri" pitchFamily="34" charset="0"/>
                <a:ea typeface="Calibri" pitchFamily="34" charset="-122"/>
                <a:cs typeface="Calibri" pitchFamily="34" charset="-120"/>
              </a:rPr>
              <a:t>Classify + route</a:t>
            </a:r>
            <a:endParaRPr lang="en-US" sz="800" dirty="0"/>
          </a:p>
        </p:txBody>
      </p:sp>
      <p:sp>
        <p:nvSpPr>
          <p:cNvPr id="15" name="Shape 13"/>
          <p:cNvSpPr/>
          <p:nvPr/>
        </p:nvSpPr>
        <p:spPr>
          <a:xfrm>
            <a:off x="3163824" y="1600200"/>
            <a:ext cx="146304" cy="0"/>
          </a:xfrm>
          <a:prstGeom prst="line">
            <a:avLst/>
          </a:prstGeom>
          <a:noFill/>
          <a:ln w="25400">
            <a:solidFill>
              <a:srgbClr val="2A7A8C"/>
            </a:solidFill>
            <a:prstDash val="solid"/>
            <a:tailEnd type="triangle"/>
          </a:ln>
        </p:spPr>
      </p:sp>
      <p:sp>
        <p:nvSpPr>
          <p:cNvPr id="16" name="Shape 14"/>
          <p:cNvSpPr/>
          <p:nvPr/>
        </p:nvSpPr>
        <p:spPr>
          <a:xfrm>
            <a:off x="3337560" y="960120"/>
            <a:ext cx="1325880" cy="1280160"/>
          </a:xfrm>
          <a:prstGeom prst="roundRect">
            <a:avLst>
              <a:gd name="adj" fmla="val 5000"/>
            </a:avLst>
          </a:prstGeom>
          <a:solidFill>
            <a:srgbClr val="2A7A8C"/>
          </a:solidFill>
          <a:ln w="12700">
            <a:solidFill>
              <a:srgbClr val="000000"/>
            </a:solidFill>
            <a:prstDash val="solid"/>
          </a:ln>
          <a:effectLst>
            <a:outerShdw sx="100000" sy="100000" kx="0" ky="0" algn="bl" rotWithShape="0" blurRad="101600" dist="38100" dir="2700000">
              <a:srgbClr val="000000">
                <a:alpha val="10000"/>
              </a:srgbClr>
            </a:outerShdw>
          </a:effectLst>
        </p:spPr>
      </p:sp>
      <p:sp>
        <p:nvSpPr>
          <p:cNvPr id="17" name="Text 15"/>
          <p:cNvSpPr/>
          <p:nvPr/>
        </p:nvSpPr>
        <p:spPr>
          <a:xfrm>
            <a:off x="3410712" y="1014984"/>
            <a:ext cx="1179576" cy="665683"/>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dbt</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Medallion</a:t>
            </a:r>
            <a:endParaRPr lang="en-US" sz="1000" dirty="0"/>
          </a:p>
        </p:txBody>
      </p:sp>
      <p:sp>
        <p:nvSpPr>
          <p:cNvPr id="18" name="Text 16"/>
          <p:cNvSpPr/>
          <p:nvPr/>
        </p:nvSpPr>
        <p:spPr>
          <a:xfrm>
            <a:off x="3410712" y="1625803"/>
            <a:ext cx="1179576" cy="576072"/>
          </a:xfrm>
          <a:prstGeom prst="rect">
            <a:avLst/>
          </a:prstGeom>
          <a:noFill/>
          <a:ln/>
        </p:spPr>
        <p:txBody>
          <a:bodyPr wrap="square" lIns="0" tIns="0" rIns="0" bIns="0" rtlCol="0" anchor="t"/>
          <a:lstStyle/>
          <a:p>
            <a:pPr algn="ctr" indent="0" marL="0">
              <a:buNone/>
            </a:pPr>
            <a:r>
              <a:rPr lang="en-US" sz="800" dirty="0">
                <a:solidFill>
                  <a:srgbClr val="3D5A66"/>
                </a:solidFill>
                <a:latin typeface="Calibri" pitchFamily="34" charset="0"/>
                <a:ea typeface="Calibri" pitchFamily="34" charset="-122"/>
                <a:cs typeface="Calibri" pitchFamily="34" charset="-120"/>
              </a:rPr>
              <a:t>Staging→Bronze</a:t>
            </a:r>
            <a:endParaRPr lang="en-US" sz="800" dirty="0"/>
          </a:p>
          <a:p>
            <a:pPr algn="ctr" indent="0" marL="0">
              <a:buNone/>
            </a:pPr>
            <a:r>
              <a:rPr lang="en-US" sz="800" dirty="0">
                <a:solidFill>
                  <a:srgbClr val="3D5A66"/>
                </a:solidFill>
                <a:latin typeface="Calibri" pitchFamily="34" charset="0"/>
                <a:ea typeface="Calibri" pitchFamily="34" charset="-122"/>
                <a:cs typeface="Calibri" pitchFamily="34" charset="-120"/>
              </a:rPr>
              <a:t>→Silver→Gold</a:t>
            </a:r>
            <a:endParaRPr lang="en-US" sz="800" dirty="0"/>
          </a:p>
        </p:txBody>
      </p:sp>
      <p:sp>
        <p:nvSpPr>
          <p:cNvPr id="19" name="Shape 17"/>
          <p:cNvSpPr/>
          <p:nvPr/>
        </p:nvSpPr>
        <p:spPr>
          <a:xfrm>
            <a:off x="4672584" y="1600200"/>
            <a:ext cx="146304" cy="0"/>
          </a:xfrm>
          <a:prstGeom prst="line">
            <a:avLst/>
          </a:prstGeom>
          <a:noFill/>
          <a:ln w="25400">
            <a:solidFill>
              <a:srgbClr val="2A7A8C"/>
            </a:solidFill>
            <a:prstDash val="solid"/>
            <a:tailEnd type="triangle"/>
          </a:ln>
        </p:spPr>
      </p:sp>
      <p:sp>
        <p:nvSpPr>
          <p:cNvPr id="20" name="Shape 18"/>
          <p:cNvSpPr/>
          <p:nvPr/>
        </p:nvSpPr>
        <p:spPr>
          <a:xfrm>
            <a:off x="4846320" y="960120"/>
            <a:ext cx="1325880" cy="1280160"/>
          </a:xfrm>
          <a:prstGeom prst="roundRect">
            <a:avLst>
              <a:gd name="adj" fmla="val 5000"/>
            </a:avLst>
          </a:prstGeom>
          <a:solidFill>
            <a:srgbClr val="2E8B6E"/>
          </a:solidFill>
          <a:ln w="12700">
            <a:solidFill>
              <a:srgbClr val="000000"/>
            </a:solidFill>
            <a:prstDash val="solid"/>
          </a:ln>
          <a:effectLst>
            <a:outerShdw sx="100000" sy="100000" kx="0" ky="0" algn="bl" rotWithShape="0" blurRad="101600" dist="38100" dir="2700000">
              <a:srgbClr val="000000">
                <a:alpha val="10000"/>
              </a:srgbClr>
            </a:outerShdw>
          </a:effectLst>
        </p:spPr>
      </p:sp>
      <p:sp>
        <p:nvSpPr>
          <p:cNvPr id="21" name="Text 19"/>
          <p:cNvSpPr/>
          <p:nvPr/>
        </p:nvSpPr>
        <p:spPr>
          <a:xfrm>
            <a:off x="4919472" y="1014984"/>
            <a:ext cx="1179576" cy="665683"/>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PBDW</a:t>
            </a:r>
            <a:endParaRPr lang="en-US" sz="1000" dirty="0"/>
          </a:p>
        </p:txBody>
      </p:sp>
      <p:sp>
        <p:nvSpPr>
          <p:cNvPr id="22" name="Text 20"/>
          <p:cNvSpPr/>
          <p:nvPr/>
        </p:nvSpPr>
        <p:spPr>
          <a:xfrm>
            <a:off x="4919472" y="1625803"/>
            <a:ext cx="1179576" cy="576072"/>
          </a:xfrm>
          <a:prstGeom prst="rect">
            <a:avLst/>
          </a:prstGeom>
          <a:noFill/>
          <a:ln/>
        </p:spPr>
        <p:txBody>
          <a:bodyPr wrap="square" lIns="0" tIns="0" rIns="0" bIns="0" rtlCol="0" anchor="t"/>
          <a:lstStyle/>
          <a:p>
            <a:pPr algn="ctr" indent="0" marL="0">
              <a:buNone/>
            </a:pPr>
            <a:r>
              <a:rPr lang="en-US" sz="800" dirty="0">
                <a:solidFill>
                  <a:srgbClr val="3D5A66"/>
                </a:solidFill>
                <a:latin typeface="Calibri" pitchFamily="34" charset="0"/>
                <a:ea typeface="Calibri" pitchFamily="34" charset="-122"/>
                <a:cs typeface="Calibri" pitchFamily="34" charset="-120"/>
              </a:rPr>
              <a:t>BI/Reports</a:t>
            </a:r>
            <a:endParaRPr lang="en-US" sz="800" dirty="0"/>
          </a:p>
          <a:p>
            <a:pPr algn="ctr" indent="0" marL="0">
              <a:buNone/>
            </a:pPr>
            <a:r>
              <a:rPr lang="en-US" sz="800" dirty="0">
                <a:solidFill>
                  <a:srgbClr val="3D5A66"/>
                </a:solidFill>
                <a:latin typeface="Calibri" pitchFamily="34" charset="0"/>
                <a:ea typeface="Calibri" pitchFamily="34" charset="-122"/>
                <a:cs typeface="Calibri" pitchFamily="34" charset="-120"/>
              </a:rPr>
              <a:t>Portfolio</a:t>
            </a:r>
            <a:endParaRPr lang="en-US" sz="800" dirty="0"/>
          </a:p>
        </p:txBody>
      </p:sp>
      <p:sp>
        <p:nvSpPr>
          <p:cNvPr id="23" name="Shape 21"/>
          <p:cNvSpPr/>
          <p:nvPr/>
        </p:nvSpPr>
        <p:spPr>
          <a:xfrm>
            <a:off x="6263640" y="960120"/>
            <a:ext cx="1325880" cy="1280160"/>
          </a:xfrm>
          <a:prstGeom prst="roundRect">
            <a:avLst>
              <a:gd name="adj" fmla="val 5000"/>
            </a:avLst>
          </a:prstGeom>
          <a:solidFill>
            <a:srgbClr val="2E8B6E"/>
          </a:solidFill>
          <a:ln w="12700">
            <a:solidFill>
              <a:srgbClr val="000000"/>
            </a:solidFill>
            <a:prstDash val="solid"/>
          </a:ln>
          <a:effectLst>
            <a:outerShdw sx="100000" sy="100000" kx="0" ky="0" algn="bl" rotWithShape="0" blurRad="101600" dist="38100" dir="2700000">
              <a:srgbClr val="000000">
                <a:alpha val="10000"/>
              </a:srgbClr>
            </a:outerShdw>
          </a:effectLst>
        </p:spPr>
      </p:sp>
      <p:sp>
        <p:nvSpPr>
          <p:cNvPr id="24" name="Text 22"/>
          <p:cNvSpPr/>
          <p:nvPr/>
        </p:nvSpPr>
        <p:spPr>
          <a:xfrm>
            <a:off x="6336792" y="1014984"/>
            <a:ext cx="1179576" cy="665683"/>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IMDW</a:t>
            </a:r>
            <a:endParaRPr lang="en-US" sz="1000" dirty="0"/>
          </a:p>
        </p:txBody>
      </p:sp>
      <p:sp>
        <p:nvSpPr>
          <p:cNvPr id="25" name="Text 23"/>
          <p:cNvSpPr/>
          <p:nvPr/>
        </p:nvSpPr>
        <p:spPr>
          <a:xfrm>
            <a:off x="6336792" y="1625803"/>
            <a:ext cx="1179576" cy="576072"/>
          </a:xfrm>
          <a:prstGeom prst="rect">
            <a:avLst/>
          </a:prstGeom>
          <a:noFill/>
          <a:ln/>
        </p:spPr>
        <p:txBody>
          <a:bodyPr wrap="square" lIns="0" tIns="0" rIns="0" bIns="0" rtlCol="0" anchor="t"/>
          <a:lstStyle/>
          <a:p>
            <a:pPr algn="ctr" indent="0" marL="0">
              <a:buNone/>
            </a:pPr>
            <a:r>
              <a:rPr lang="en-US" sz="800" dirty="0">
                <a:solidFill>
                  <a:srgbClr val="3D5A66"/>
                </a:solidFill>
                <a:latin typeface="Calibri" pitchFamily="34" charset="0"/>
                <a:ea typeface="Calibri" pitchFamily="34" charset="-122"/>
                <a:cs typeface="Calibri" pitchFamily="34" charset="-120"/>
              </a:rPr>
              <a:t>Risk/Quant</a:t>
            </a:r>
            <a:endParaRPr lang="en-US" sz="800" dirty="0"/>
          </a:p>
          <a:p>
            <a:pPr algn="ctr" indent="0" marL="0">
              <a:buNone/>
            </a:pPr>
            <a:r>
              <a:rPr lang="en-US" sz="800" dirty="0">
                <a:solidFill>
                  <a:srgbClr val="3D5A66"/>
                </a:solidFill>
                <a:latin typeface="Calibri" pitchFamily="34" charset="0"/>
                <a:ea typeface="Calibri" pitchFamily="34" charset="-122"/>
                <a:cs typeface="Calibri" pitchFamily="34" charset="-120"/>
              </a:rPr>
              <a:t>Instrument</a:t>
            </a:r>
            <a:endParaRPr lang="en-US" sz="800" dirty="0"/>
          </a:p>
        </p:txBody>
      </p:sp>
      <p:sp>
        <p:nvSpPr>
          <p:cNvPr id="26" name="Shape 24"/>
          <p:cNvSpPr/>
          <p:nvPr/>
        </p:nvSpPr>
        <p:spPr>
          <a:xfrm>
            <a:off x="4773168" y="1600200"/>
            <a:ext cx="45720" cy="594360"/>
          </a:xfrm>
          <a:prstGeom prst="line">
            <a:avLst/>
          </a:prstGeom>
          <a:noFill/>
          <a:ln w="25400">
            <a:solidFill>
              <a:srgbClr val="2A7A8C"/>
            </a:solidFill>
            <a:prstDash val="solid"/>
          </a:ln>
        </p:spPr>
      </p:sp>
      <p:sp>
        <p:nvSpPr>
          <p:cNvPr id="27" name="Shape 25"/>
          <p:cNvSpPr/>
          <p:nvPr/>
        </p:nvSpPr>
        <p:spPr>
          <a:xfrm>
            <a:off x="4773168" y="2194560"/>
            <a:ext cx="1463040" cy="0"/>
          </a:xfrm>
          <a:prstGeom prst="line">
            <a:avLst/>
          </a:prstGeom>
          <a:noFill/>
          <a:ln w="25400">
            <a:solidFill>
              <a:srgbClr val="2A7A8C"/>
            </a:solidFill>
            <a:prstDash val="solid"/>
          </a:ln>
        </p:spPr>
      </p:sp>
      <p:sp>
        <p:nvSpPr>
          <p:cNvPr id="28" name="Shape 26"/>
          <p:cNvSpPr/>
          <p:nvPr/>
        </p:nvSpPr>
        <p:spPr>
          <a:xfrm>
            <a:off x="6236208" y="1920240"/>
            <a:ext cx="0" cy="274320"/>
          </a:xfrm>
          <a:prstGeom prst="line">
            <a:avLst/>
          </a:prstGeom>
          <a:noFill/>
          <a:ln w="25400">
            <a:solidFill>
              <a:srgbClr val="2A7A8C"/>
            </a:solidFill>
            <a:prstDash val="solid"/>
            <a:tailEnd type="triangle"/>
          </a:ln>
        </p:spPr>
      </p:sp>
      <p:sp>
        <p:nvSpPr>
          <p:cNvPr id="29" name="Shape 27"/>
          <p:cNvSpPr/>
          <p:nvPr/>
        </p:nvSpPr>
        <p:spPr>
          <a:xfrm>
            <a:off x="320040" y="2468880"/>
            <a:ext cx="1572768" cy="1170432"/>
          </a:xfrm>
          <a:prstGeom prst="roundRect">
            <a:avLst>
              <a:gd name="adj" fmla="val 6250"/>
            </a:avLst>
          </a:prstGeom>
          <a:solidFill>
            <a:srgbClr val="F0F8FA"/>
          </a:solidFill>
          <a:ln w="12700">
            <a:solidFill>
              <a:srgbClr val="D0ECF2"/>
            </a:solidFill>
            <a:prstDash val="solid"/>
          </a:ln>
        </p:spPr>
      </p:sp>
      <p:sp>
        <p:nvSpPr>
          <p:cNvPr id="30" name="Text 28"/>
          <p:cNvSpPr/>
          <p:nvPr/>
        </p:nvSpPr>
        <p:spPr>
          <a:xfrm>
            <a:off x="393192" y="2542032"/>
            <a:ext cx="1426464" cy="347472"/>
          </a:xfrm>
          <a:prstGeom prst="rect">
            <a:avLst/>
          </a:prstGeom>
          <a:noFill/>
          <a:ln/>
        </p:spPr>
        <p:txBody>
          <a:bodyPr wrap="square" lIns="0" tIns="0" rIns="0" bIns="0" rtlCol="0" anchor="ctr"/>
          <a:lstStyle/>
          <a:p>
            <a:pPr algn="ctr" indent="0" marL="0">
              <a:buNone/>
            </a:pPr>
            <a:r>
              <a:rPr lang="en-US" sz="1800" dirty="0">
                <a:solidFill>
                  <a:srgbClr val="000000"/>
                </a:solidFill>
              </a:rPr>
              <a:t>1×</a:t>
            </a:r>
            <a:endParaRPr lang="en-US" sz="1800" dirty="0"/>
          </a:p>
        </p:txBody>
      </p:sp>
      <p:sp>
        <p:nvSpPr>
          <p:cNvPr id="31" name="Text 29"/>
          <p:cNvSpPr/>
          <p:nvPr/>
        </p:nvSpPr>
        <p:spPr>
          <a:xfrm>
            <a:off x="393192" y="2889504"/>
            <a:ext cx="1426464" cy="658368"/>
          </a:xfrm>
          <a:prstGeom prst="rect">
            <a:avLst/>
          </a:prstGeom>
          <a:noFill/>
          <a:ln/>
        </p:spPr>
        <p:txBody>
          <a:bodyPr wrap="square" lIns="0" tIns="0" rIns="0" bIns="0" rtlCol="0" anchor="t"/>
          <a:lstStyle/>
          <a:p>
            <a:pPr algn="ctr" indent="0" marL="0">
              <a:buNone/>
            </a:pPr>
            <a:r>
              <a:rPr lang="en-US" sz="900" dirty="0">
                <a:solidFill>
                  <a:srgbClr val="1A2F38"/>
                </a:solidFill>
                <a:latin typeface="Calibri" pitchFamily="34" charset="0"/>
                <a:ea typeface="Calibri" pitchFamily="34" charset="-122"/>
                <a:cs typeface="Calibri" pitchFamily="34" charset="-120"/>
              </a:rPr>
              <a:t>Gold runs once — shared by PBDW &amp; IMDW</a:t>
            </a:r>
            <a:endParaRPr lang="en-US" sz="900" dirty="0"/>
          </a:p>
        </p:txBody>
      </p:sp>
      <p:sp>
        <p:nvSpPr>
          <p:cNvPr id="32" name="Shape 30"/>
          <p:cNvSpPr/>
          <p:nvPr/>
        </p:nvSpPr>
        <p:spPr>
          <a:xfrm>
            <a:off x="2011680" y="2468880"/>
            <a:ext cx="1572768" cy="1170432"/>
          </a:xfrm>
          <a:prstGeom prst="roundRect">
            <a:avLst>
              <a:gd name="adj" fmla="val 6250"/>
            </a:avLst>
          </a:prstGeom>
          <a:solidFill>
            <a:srgbClr val="F0F8FA"/>
          </a:solidFill>
          <a:ln w="12700">
            <a:solidFill>
              <a:srgbClr val="D0ECF2"/>
            </a:solidFill>
            <a:prstDash val="solid"/>
          </a:ln>
        </p:spPr>
      </p:sp>
      <p:sp>
        <p:nvSpPr>
          <p:cNvPr id="33" name="Text 31"/>
          <p:cNvSpPr/>
          <p:nvPr/>
        </p:nvSpPr>
        <p:spPr>
          <a:xfrm>
            <a:off x="2084832" y="2542032"/>
            <a:ext cx="1426464" cy="347472"/>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4" name="Text 32"/>
          <p:cNvSpPr/>
          <p:nvPr/>
        </p:nvSpPr>
        <p:spPr>
          <a:xfrm>
            <a:off x="2084832" y="2889504"/>
            <a:ext cx="1426464" cy="658368"/>
          </a:xfrm>
          <a:prstGeom prst="rect">
            <a:avLst/>
          </a:prstGeom>
          <a:noFill/>
          <a:ln/>
        </p:spPr>
        <p:txBody>
          <a:bodyPr wrap="square" lIns="0" tIns="0" rIns="0" bIns="0" rtlCol="0" anchor="t"/>
          <a:lstStyle/>
          <a:p>
            <a:pPr algn="ctr" indent="0" marL="0">
              <a:buNone/>
            </a:pPr>
            <a:r>
              <a:rPr lang="en-US" sz="900" dirty="0">
                <a:solidFill>
                  <a:srgbClr val="1A2F38"/>
                </a:solidFill>
                <a:latin typeface="Calibri" pitchFamily="34" charset="0"/>
                <a:ea typeface="Calibri" pitchFamily="34" charset="-122"/>
                <a:cs typeface="Calibri" pitchFamily="34" charset="-120"/>
              </a:rPr>
              <a:t>PBDW &amp; IMDW publish in parallel, independently</a:t>
            </a:r>
            <a:endParaRPr lang="en-US" sz="900" dirty="0"/>
          </a:p>
        </p:txBody>
      </p:sp>
      <p:sp>
        <p:nvSpPr>
          <p:cNvPr id="35" name="Shape 33"/>
          <p:cNvSpPr/>
          <p:nvPr/>
        </p:nvSpPr>
        <p:spPr>
          <a:xfrm>
            <a:off x="3703320" y="2468880"/>
            <a:ext cx="1572768" cy="1170432"/>
          </a:xfrm>
          <a:prstGeom prst="roundRect">
            <a:avLst>
              <a:gd name="adj" fmla="val 6250"/>
            </a:avLst>
          </a:prstGeom>
          <a:solidFill>
            <a:srgbClr val="F0F8FA"/>
          </a:solidFill>
          <a:ln w="12700">
            <a:solidFill>
              <a:srgbClr val="D0ECF2"/>
            </a:solidFill>
            <a:prstDash val="solid"/>
          </a:ln>
        </p:spPr>
      </p:sp>
      <p:sp>
        <p:nvSpPr>
          <p:cNvPr id="36" name="Text 34"/>
          <p:cNvSpPr/>
          <p:nvPr/>
        </p:nvSpPr>
        <p:spPr>
          <a:xfrm>
            <a:off x="3776472" y="2542032"/>
            <a:ext cx="1426464" cy="347472"/>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7" name="Text 35"/>
          <p:cNvSpPr/>
          <p:nvPr/>
        </p:nvSpPr>
        <p:spPr>
          <a:xfrm>
            <a:off x="3776472" y="2889504"/>
            <a:ext cx="1426464" cy="658368"/>
          </a:xfrm>
          <a:prstGeom prst="rect">
            <a:avLst/>
          </a:prstGeom>
          <a:noFill/>
          <a:ln/>
        </p:spPr>
        <p:txBody>
          <a:bodyPr wrap="square" lIns="0" tIns="0" rIns="0" bIns="0" rtlCol="0" anchor="t"/>
          <a:lstStyle/>
          <a:p>
            <a:pPr algn="ctr" indent="0" marL="0">
              <a:buNone/>
            </a:pPr>
            <a:r>
              <a:rPr lang="en-US" sz="900" dirty="0">
                <a:solidFill>
                  <a:srgbClr val="1A2F38"/>
                </a:solidFill>
                <a:latin typeface="Calibri" pitchFamily="34" charset="0"/>
                <a:ea typeface="Calibri" pitchFamily="34" charset="-122"/>
                <a:cs typeface="Calibri" pitchFamily="34" charset="-120"/>
              </a:rPr>
              <a:t>max_active_runs=1 — date-ordered processing</a:t>
            </a:r>
            <a:endParaRPr lang="en-US" sz="900" dirty="0"/>
          </a:p>
        </p:txBody>
      </p:sp>
      <p:sp>
        <p:nvSpPr>
          <p:cNvPr id="38" name="Shape 36"/>
          <p:cNvSpPr/>
          <p:nvPr/>
        </p:nvSpPr>
        <p:spPr>
          <a:xfrm>
            <a:off x="5394960" y="2468880"/>
            <a:ext cx="1572768" cy="1170432"/>
          </a:xfrm>
          <a:prstGeom prst="roundRect">
            <a:avLst>
              <a:gd name="adj" fmla="val 6250"/>
            </a:avLst>
          </a:prstGeom>
          <a:solidFill>
            <a:srgbClr val="F0F8FA"/>
          </a:solidFill>
          <a:ln w="12700">
            <a:solidFill>
              <a:srgbClr val="D0ECF2"/>
            </a:solidFill>
            <a:prstDash val="solid"/>
          </a:ln>
        </p:spPr>
      </p:sp>
      <p:sp>
        <p:nvSpPr>
          <p:cNvPr id="39" name="Text 37"/>
          <p:cNvSpPr/>
          <p:nvPr/>
        </p:nvSpPr>
        <p:spPr>
          <a:xfrm>
            <a:off x="5468112" y="2542032"/>
            <a:ext cx="1426464" cy="347472"/>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40" name="Text 38"/>
          <p:cNvSpPr/>
          <p:nvPr/>
        </p:nvSpPr>
        <p:spPr>
          <a:xfrm>
            <a:off x="5468112" y="2889504"/>
            <a:ext cx="1426464" cy="658368"/>
          </a:xfrm>
          <a:prstGeom prst="rect">
            <a:avLst/>
          </a:prstGeom>
          <a:noFill/>
          <a:ln/>
        </p:spPr>
        <p:txBody>
          <a:bodyPr wrap="square" lIns="0" tIns="0" rIns="0" bIns="0" rtlCol="0" anchor="t"/>
          <a:lstStyle/>
          <a:p>
            <a:pPr algn="ctr" indent="0" marL="0">
              <a:buNone/>
            </a:pPr>
            <a:r>
              <a:rPr lang="en-US" sz="900" dirty="0">
                <a:solidFill>
                  <a:srgbClr val="1A2F38"/>
                </a:solidFill>
                <a:latin typeface="Calibri" pitchFamily="34" charset="0"/>
                <a:ea typeface="Calibri" pitchFamily="34" charset="-122"/>
                <a:cs typeface="Calibri" pitchFamily="34" charset="-120"/>
              </a:rPr>
              <a:t>Atomic file move — no ambiguous state on failure</a:t>
            </a:r>
            <a:endParaRPr lang="en-US" sz="900" dirty="0"/>
          </a:p>
        </p:txBody>
      </p:sp>
      <p:sp>
        <p:nvSpPr>
          <p:cNvPr id="41" name="Shape 39"/>
          <p:cNvSpPr/>
          <p:nvPr/>
        </p:nvSpPr>
        <p:spPr>
          <a:xfrm>
            <a:off x="7086600" y="2468880"/>
            <a:ext cx="1572768" cy="1170432"/>
          </a:xfrm>
          <a:prstGeom prst="roundRect">
            <a:avLst>
              <a:gd name="adj" fmla="val 6250"/>
            </a:avLst>
          </a:prstGeom>
          <a:solidFill>
            <a:srgbClr val="F0F8FA"/>
          </a:solidFill>
          <a:ln w="12700">
            <a:solidFill>
              <a:srgbClr val="D0ECF2"/>
            </a:solidFill>
            <a:prstDash val="solid"/>
          </a:ln>
        </p:spPr>
      </p:sp>
      <p:sp>
        <p:nvSpPr>
          <p:cNvPr id="42" name="Text 40"/>
          <p:cNvSpPr/>
          <p:nvPr/>
        </p:nvSpPr>
        <p:spPr>
          <a:xfrm>
            <a:off x="7159752" y="2542032"/>
            <a:ext cx="1426464" cy="347472"/>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43" name="Text 41"/>
          <p:cNvSpPr/>
          <p:nvPr/>
        </p:nvSpPr>
        <p:spPr>
          <a:xfrm>
            <a:off x="7159752" y="2889504"/>
            <a:ext cx="1426464" cy="658368"/>
          </a:xfrm>
          <a:prstGeom prst="rect">
            <a:avLst/>
          </a:prstGeom>
          <a:noFill/>
          <a:ln/>
        </p:spPr>
        <p:txBody>
          <a:bodyPr wrap="square" lIns="0" tIns="0" rIns="0" bIns="0" rtlCol="0" anchor="t"/>
          <a:lstStyle/>
          <a:p>
            <a:pPr algn="ctr" indent="0" marL="0">
              <a:buNone/>
            </a:pPr>
            <a:r>
              <a:rPr lang="en-US" sz="900" dirty="0">
                <a:solidFill>
                  <a:srgbClr val="1A2F38"/>
                </a:solidFill>
                <a:latin typeface="Calibri" pitchFamily="34" charset="0"/>
                <a:ea typeface="Calibri" pitchFamily="34" charset="-122"/>
                <a:cs typeface="Calibri" pitchFamily="34" charset="-120"/>
              </a:rPr>
              <a:t>All SQL Oracle-compatible throughout</a:t>
            </a:r>
            <a:endParaRPr lang="en-US" sz="900" dirty="0"/>
          </a:p>
        </p:txBody>
      </p:sp>
      <p:sp>
        <p:nvSpPr>
          <p:cNvPr id="44" name="Text 42"/>
          <p:cNvSpPr/>
          <p:nvPr/>
        </p:nvSpPr>
        <p:spPr>
          <a:xfrm>
            <a:off x="320040" y="3767328"/>
            <a:ext cx="1280160" cy="256032"/>
          </a:xfrm>
          <a:prstGeom prst="rect">
            <a:avLst/>
          </a:prstGeom>
          <a:noFill/>
          <a:ln/>
        </p:spPr>
        <p:txBody>
          <a:bodyPr wrap="square" lIns="0" tIns="0" rIns="0" bIns="0" rtlCol="0" anchor="ctr"/>
          <a:lstStyle/>
          <a:p>
            <a:pPr indent="0" marL="0">
              <a:buNone/>
            </a:pPr>
            <a:r>
              <a:rPr lang="en-US" sz="900" b="1" dirty="0">
                <a:solidFill>
                  <a:srgbClr val="1F5C6B"/>
                </a:solidFill>
                <a:latin typeface="Calibri" pitchFamily="34" charset="0"/>
                <a:ea typeface="Calibri" pitchFamily="34" charset="-122"/>
                <a:cs typeface="Calibri" pitchFamily="34" charset="-120"/>
              </a:rPr>
              <a:t>File Lifecycle:</a:t>
            </a:r>
            <a:endParaRPr lang="en-US" sz="900" dirty="0"/>
          </a:p>
        </p:txBody>
      </p:sp>
      <p:sp>
        <p:nvSpPr>
          <p:cNvPr id="45" name="Shape 43"/>
          <p:cNvSpPr/>
          <p:nvPr/>
        </p:nvSpPr>
        <p:spPr>
          <a:xfrm>
            <a:off x="1600200" y="3749040"/>
            <a:ext cx="1783080" cy="274320"/>
          </a:xfrm>
          <a:prstGeom prst="roundRect">
            <a:avLst>
              <a:gd name="adj" fmla="val 16667"/>
            </a:avLst>
          </a:prstGeom>
          <a:solidFill>
            <a:srgbClr val="2A7A8C"/>
          </a:solidFill>
          <a:ln w="12700">
            <a:solidFill>
              <a:srgbClr val="FFFFFF"/>
            </a:solidFill>
            <a:prstDash val="solid"/>
          </a:ln>
        </p:spPr>
      </p:sp>
      <p:sp>
        <p:nvSpPr>
          <p:cNvPr id="46" name="Text 44"/>
          <p:cNvSpPr/>
          <p:nvPr/>
        </p:nvSpPr>
        <p:spPr>
          <a:xfrm>
            <a:off x="1600200" y="3749040"/>
            <a:ext cx="178308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incoming/</a:t>
            </a:r>
            <a:endParaRPr lang="en-US" sz="800" dirty="0"/>
          </a:p>
        </p:txBody>
      </p:sp>
      <p:sp>
        <p:nvSpPr>
          <p:cNvPr id="47" name="Shape 45"/>
          <p:cNvSpPr/>
          <p:nvPr/>
        </p:nvSpPr>
        <p:spPr>
          <a:xfrm>
            <a:off x="3401568" y="3886200"/>
            <a:ext cx="64008" cy="0"/>
          </a:xfrm>
          <a:prstGeom prst="line">
            <a:avLst/>
          </a:prstGeom>
          <a:noFill/>
          <a:ln w="25400">
            <a:solidFill>
              <a:srgbClr val="2A7A8C"/>
            </a:solidFill>
            <a:prstDash val="solid"/>
            <a:tailEnd type="triangle"/>
          </a:ln>
        </p:spPr>
      </p:sp>
      <p:sp>
        <p:nvSpPr>
          <p:cNvPr id="48" name="Shape 46"/>
          <p:cNvSpPr/>
          <p:nvPr/>
        </p:nvSpPr>
        <p:spPr>
          <a:xfrm>
            <a:off x="3483864" y="3749040"/>
            <a:ext cx="1783080" cy="274320"/>
          </a:xfrm>
          <a:prstGeom prst="roundRect">
            <a:avLst>
              <a:gd name="adj" fmla="val 16667"/>
            </a:avLst>
          </a:prstGeom>
          <a:solidFill>
            <a:srgbClr val="D4872A"/>
          </a:solidFill>
          <a:ln w="12700">
            <a:solidFill>
              <a:srgbClr val="FFFFFF"/>
            </a:solidFill>
            <a:prstDash val="solid"/>
          </a:ln>
        </p:spPr>
      </p:sp>
      <p:sp>
        <p:nvSpPr>
          <p:cNvPr id="49" name="Text 47"/>
          <p:cNvSpPr/>
          <p:nvPr/>
        </p:nvSpPr>
        <p:spPr>
          <a:xfrm>
            <a:off x="3483864" y="3749040"/>
            <a:ext cx="178308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processing/</a:t>
            </a:r>
            <a:endParaRPr lang="en-US" sz="800" dirty="0"/>
          </a:p>
        </p:txBody>
      </p:sp>
      <p:sp>
        <p:nvSpPr>
          <p:cNvPr id="50" name="Shape 48"/>
          <p:cNvSpPr/>
          <p:nvPr/>
        </p:nvSpPr>
        <p:spPr>
          <a:xfrm>
            <a:off x="5285232" y="3886200"/>
            <a:ext cx="64008" cy="0"/>
          </a:xfrm>
          <a:prstGeom prst="line">
            <a:avLst/>
          </a:prstGeom>
          <a:noFill/>
          <a:ln w="25400">
            <a:solidFill>
              <a:srgbClr val="2A7A8C"/>
            </a:solidFill>
            <a:prstDash val="solid"/>
            <a:tailEnd type="triangle"/>
          </a:ln>
        </p:spPr>
      </p:sp>
      <p:sp>
        <p:nvSpPr>
          <p:cNvPr id="51" name="Shape 49"/>
          <p:cNvSpPr/>
          <p:nvPr/>
        </p:nvSpPr>
        <p:spPr>
          <a:xfrm>
            <a:off x="5367528" y="3749040"/>
            <a:ext cx="1783080" cy="274320"/>
          </a:xfrm>
          <a:prstGeom prst="roundRect">
            <a:avLst>
              <a:gd name="adj" fmla="val 16667"/>
            </a:avLst>
          </a:prstGeom>
          <a:solidFill>
            <a:srgbClr val="2E8B6E"/>
          </a:solidFill>
          <a:ln w="12700">
            <a:solidFill>
              <a:srgbClr val="FFFFFF"/>
            </a:solidFill>
            <a:prstDash val="solid"/>
          </a:ln>
        </p:spPr>
      </p:sp>
      <p:sp>
        <p:nvSpPr>
          <p:cNvPr id="52" name="Text 50"/>
          <p:cNvSpPr/>
          <p:nvPr/>
        </p:nvSpPr>
        <p:spPr>
          <a:xfrm>
            <a:off x="5367528" y="3749040"/>
            <a:ext cx="178308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processed/YYYY-MM-DD/</a:t>
            </a:r>
            <a:endParaRPr lang="en-US" sz="800" dirty="0"/>
          </a:p>
        </p:txBody>
      </p:sp>
      <p:sp>
        <p:nvSpPr>
          <p:cNvPr id="53" name="Shape 51"/>
          <p:cNvSpPr/>
          <p:nvPr/>
        </p:nvSpPr>
        <p:spPr>
          <a:xfrm>
            <a:off x="7168896" y="3886200"/>
            <a:ext cx="64008" cy="0"/>
          </a:xfrm>
          <a:prstGeom prst="line">
            <a:avLst/>
          </a:prstGeom>
          <a:noFill/>
          <a:ln w="25400">
            <a:solidFill>
              <a:srgbClr val="2A7A8C"/>
            </a:solidFill>
            <a:prstDash val="solid"/>
            <a:tailEnd type="triangle"/>
          </a:ln>
        </p:spPr>
      </p:sp>
      <p:sp>
        <p:nvSpPr>
          <p:cNvPr id="54" name="Shape 52"/>
          <p:cNvSpPr/>
          <p:nvPr/>
        </p:nvSpPr>
        <p:spPr>
          <a:xfrm>
            <a:off x="7251192" y="3749040"/>
            <a:ext cx="1783080" cy="274320"/>
          </a:xfrm>
          <a:prstGeom prst="roundRect">
            <a:avLst>
              <a:gd name="adj" fmla="val 16667"/>
            </a:avLst>
          </a:prstGeom>
          <a:solidFill>
            <a:srgbClr val="C0392B"/>
          </a:solidFill>
          <a:ln w="12700">
            <a:solidFill>
              <a:srgbClr val="FFFFFF"/>
            </a:solidFill>
            <a:prstDash val="solid"/>
          </a:ln>
        </p:spPr>
      </p:sp>
      <p:sp>
        <p:nvSpPr>
          <p:cNvPr id="55" name="Text 53"/>
          <p:cNvSpPr/>
          <p:nvPr/>
        </p:nvSpPr>
        <p:spPr>
          <a:xfrm>
            <a:off x="7251192" y="3749040"/>
            <a:ext cx="178308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 failed/ on error</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F5C6B"/>
          </a:solidFill>
          <a:ln w="12700">
            <a:solidFill>
              <a:srgbClr val="1F5C6B"/>
            </a:solidFill>
            <a:prstDash val="solid"/>
          </a:ln>
        </p:spPr>
      </p:sp>
      <p:sp>
        <p:nvSpPr>
          <p:cNvPr id="3" name="Shape 1"/>
          <p:cNvSpPr/>
          <p:nvPr/>
        </p:nvSpPr>
        <p:spPr>
          <a:xfrm>
            <a:off x="201168" y="0"/>
            <a:ext cx="8942832" cy="685800"/>
          </a:xfrm>
          <a:prstGeom prst="rect">
            <a:avLst/>
          </a:prstGeom>
          <a:solidFill>
            <a:srgbClr val="1A2F4A"/>
          </a:solidFill>
          <a:ln w="12700">
            <a:solidFill>
              <a:srgbClr val="1A2F4A"/>
            </a:solidFill>
            <a:prstDash val="solid"/>
          </a:ln>
        </p:spPr>
      </p:sp>
      <p:sp>
        <p:nvSpPr>
          <p:cNvPr id="4" name="Text 2"/>
          <p:cNvSpPr/>
          <p:nvPr/>
        </p:nvSpPr>
        <p:spPr>
          <a:xfrm>
            <a:off x="384048" y="54864"/>
            <a:ext cx="5943600" cy="56692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Platform Architecture</a:t>
            </a:r>
            <a:endParaRPr lang="en-US" sz="2000" dirty="0"/>
          </a:p>
        </p:txBody>
      </p:sp>
      <p:sp>
        <p:nvSpPr>
          <p:cNvPr id="5" name="Text 3"/>
          <p:cNvSpPr/>
          <p:nvPr/>
        </p:nvSpPr>
        <p:spPr>
          <a:xfrm>
            <a:off x="384048" y="54864"/>
            <a:ext cx="8412480" cy="566928"/>
          </a:xfrm>
          <a:prstGeom prst="rect">
            <a:avLst/>
          </a:prstGeom>
          <a:noFill/>
          <a:ln/>
        </p:spPr>
        <p:txBody>
          <a:bodyPr wrap="square" lIns="0" tIns="0" rIns="0" bIns="0" rtlCol="0" anchor="ctr"/>
          <a:lstStyle/>
          <a:p>
            <a:pPr algn="r" indent="0" marL="0">
              <a:buNone/>
            </a:pPr>
            <a:r>
              <a:rPr lang="en-US" sz="1100" dirty="0">
                <a:solidFill>
                  <a:srgbClr val="F0D98C"/>
                </a:solidFill>
                <a:latin typeface="Calibri" pitchFamily="34" charset="0"/>
                <a:ea typeface="Calibri" pitchFamily="34" charset="-122"/>
                <a:cs typeface="Calibri" pitchFamily="34" charset="-120"/>
              </a:rPr>
              <a:t>Medallion — Four Transformation Layers</a:t>
            </a:r>
            <a:endParaRPr lang="en-US" sz="1100" dirty="0"/>
          </a:p>
        </p:txBody>
      </p:sp>
      <p:sp>
        <p:nvSpPr>
          <p:cNvPr id="6" name="Shape 4"/>
          <p:cNvSpPr/>
          <p:nvPr/>
        </p:nvSpPr>
        <p:spPr>
          <a:xfrm>
            <a:off x="201168" y="4919472"/>
            <a:ext cx="8942832" cy="224028"/>
          </a:xfrm>
          <a:prstGeom prst="rect">
            <a:avLst/>
          </a:prstGeom>
          <a:solidFill>
            <a:srgbClr val="D0ECF2"/>
          </a:solidFill>
          <a:ln w="12700">
            <a:solidFill>
              <a:srgbClr val="D0ECF2"/>
            </a:solidFill>
            <a:prstDash val="solid"/>
          </a:ln>
        </p:spPr>
      </p:sp>
      <p:sp>
        <p:nvSpPr>
          <p:cNvPr id="7" name="Text 5"/>
          <p:cNvSpPr/>
          <p:nvPr/>
        </p:nvSpPr>
        <p:spPr>
          <a:xfrm>
            <a:off x="384048" y="4928616"/>
            <a:ext cx="8595360" cy="201168"/>
          </a:xfrm>
          <a:prstGeom prst="rect">
            <a:avLst/>
          </a:prstGeom>
          <a:noFill/>
          <a:ln/>
        </p:spPr>
        <p:txBody>
          <a:bodyPr wrap="square" rtlCol="0" anchor="ctr"/>
          <a:lstStyle/>
          <a:p>
            <a:pPr indent="0" marL="0">
              <a:buNone/>
            </a:pPr>
            <a:r>
              <a:rPr lang="en-US" sz="800" dirty="0">
                <a:solidFill>
                  <a:srgbClr val="1F5C6B"/>
                </a:solidFill>
                <a:latin typeface="Calibri" pitchFamily="34" charset="0"/>
                <a:ea typeface="Calibri" pitchFamily="34" charset="-122"/>
                <a:cs typeface="Calibri" pitchFamily="34" charset="-120"/>
              </a:rPr>
              <a:t>BBH Capital Partners  |  SWP Migration  |  Confidential</a:t>
            </a:r>
            <a:endParaRPr lang="en-US" sz="800" dirty="0"/>
          </a:p>
        </p:txBody>
      </p:sp>
      <p:sp>
        <p:nvSpPr>
          <p:cNvPr id="8" name="Shape 6"/>
          <p:cNvSpPr/>
          <p:nvPr/>
        </p:nvSpPr>
        <p:spPr>
          <a:xfrm>
            <a:off x="320040" y="804672"/>
            <a:ext cx="1965960" cy="3730752"/>
          </a:xfrm>
          <a:prstGeom prst="roundRect">
            <a:avLst>
              <a:gd name="adj" fmla="val 4651"/>
            </a:avLst>
          </a:prstGeom>
          <a:solidFill>
            <a:srgbClr val="FFFFFF"/>
          </a:solidFill>
          <a:ln w="19050">
            <a:solidFill>
              <a:srgbClr val="D0ECF2"/>
            </a:solidFill>
            <a:prstDash val="solid"/>
          </a:ln>
          <a:effectLst>
            <a:outerShdw sx="100000" sy="100000" kx="0" ky="0" algn="bl" rotWithShape="0" blurRad="101600" dist="38100" dir="2700000">
              <a:srgbClr val="000000">
                <a:alpha val="10000"/>
              </a:srgbClr>
            </a:outerShdw>
          </a:effectLst>
        </p:spPr>
      </p:sp>
      <p:sp>
        <p:nvSpPr>
          <p:cNvPr id="9" name="Shape 7"/>
          <p:cNvSpPr/>
          <p:nvPr/>
        </p:nvSpPr>
        <p:spPr>
          <a:xfrm>
            <a:off x="320040" y="804672"/>
            <a:ext cx="1965960" cy="566928"/>
          </a:xfrm>
          <a:prstGeom prst="roundRect">
            <a:avLst>
              <a:gd name="adj" fmla="val 12903"/>
            </a:avLst>
          </a:prstGeom>
          <a:solidFill>
            <a:srgbClr val="4A6572"/>
          </a:solidFill>
          <a:ln w="12700">
            <a:solidFill>
              <a:srgbClr val="4A6572"/>
            </a:solidFill>
            <a:prstDash val="solid"/>
          </a:ln>
        </p:spPr>
      </p:sp>
      <p:sp>
        <p:nvSpPr>
          <p:cNvPr id="10" name="Text 8"/>
          <p:cNvSpPr/>
          <p:nvPr/>
        </p:nvSpPr>
        <p:spPr>
          <a:xfrm>
            <a:off x="393192" y="841248"/>
            <a:ext cx="1819656"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STAGING</a:t>
            </a:r>
            <a:endParaRPr lang="en-US" sz="1300" dirty="0"/>
          </a:p>
        </p:txBody>
      </p:sp>
      <p:sp>
        <p:nvSpPr>
          <p:cNvPr id="11" name="Text 9"/>
          <p:cNvSpPr/>
          <p:nvPr/>
        </p:nvSpPr>
        <p:spPr>
          <a:xfrm>
            <a:off x="393192" y="1133856"/>
            <a:ext cx="1819656" cy="219456"/>
          </a:xfrm>
          <a:prstGeom prst="rect">
            <a:avLst/>
          </a:prstGeom>
          <a:noFill/>
          <a:ln/>
        </p:spPr>
        <p:txBody>
          <a:bodyPr wrap="square" lIns="0" tIns="0" rIns="0" bIns="0" rtlCol="0" anchor="ctr"/>
          <a:lstStyle/>
          <a:p>
            <a:pPr algn="ctr" indent="0" marL="0">
              <a:buNone/>
            </a:pPr>
            <a:r>
              <a:rPr lang="en-US" sz="800" dirty="0">
                <a:solidFill>
                  <a:srgbClr val="D0ECF2"/>
                </a:solidFill>
                <a:latin typeface="Calibri" pitchFamily="34" charset="0"/>
                <a:ea typeface="Calibri" pitchFamily="34" charset="-122"/>
                <a:cs typeface="Calibri" pitchFamily="34" charset="-120"/>
              </a:rPr>
              <a:t>Contract boundary</a:t>
            </a:r>
            <a:endParaRPr lang="en-US" sz="800" dirty="0"/>
          </a:p>
          <a:p>
            <a:pPr algn="ctr" indent="0" marL="0">
              <a:buNone/>
            </a:pPr>
            <a:r>
              <a:rPr lang="en-US" sz="800" dirty="0">
                <a:solidFill>
                  <a:srgbClr val="D0ECF2"/>
                </a:solidFill>
                <a:latin typeface="Calibri" pitchFamily="34" charset="0"/>
                <a:ea typeface="Calibri" pitchFamily="34" charset="-122"/>
                <a:cs typeface="Calibri" pitchFamily="34" charset="-120"/>
              </a:rPr>
              <a:t>over raw seed data</a:t>
            </a:r>
            <a:endParaRPr lang="en-US" sz="800" dirty="0"/>
          </a:p>
        </p:txBody>
      </p:sp>
      <p:sp>
        <p:nvSpPr>
          <p:cNvPr id="12" name="Shape 10"/>
          <p:cNvSpPr/>
          <p:nvPr/>
        </p:nvSpPr>
        <p:spPr>
          <a:xfrm>
            <a:off x="484632" y="1554480"/>
            <a:ext cx="109728" cy="109728"/>
          </a:xfrm>
          <a:prstGeom prst="ellipse">
            <a:avLst/>
          </a:prstGeom>
          <a:solidFill>
            <a:srgbClr val="4A6572"/>
          </a:solidFill>
          <a:ln w="12700">
            <a:solidFill>
              <a:srgbClr val="4A6572"/>
            </a:solidFill>
            <a:prstDash val="solid"/>
          </a:ln>
        </p:spPr>
      </p:sp>
      <p:sp>
        <p:nvSpPr>
          <p:cNvPr id="13" name="Text 11"/>
          <p:cNvSpPr/>
          <p:nvPr/>
        </p:nvSpPr>
        <p:spPr>
          <a:xfrm>
            <a:off x="667512" y="1499616"/>
            <a:ext cx="1508760" cy="868680"/>
          </a:xfrm>
          <a:prstGeom prst="rect">
            <a:avLst/>
          </a:prstGeom>
          <a:noFill/>
          <a:ln/>
        </p:spPr>
        <p:txBody>
          <a:bodyPr wrap="square" lIns="0" tIns="0" rIns="0" bIns="0" rtlCol="0" anchor="t"/>
          <a:lstStyle/>
          <a:p>
            <a:pPr indent="0" marL="0">
              <a:buNone/>
            </a:pPr>
            <a:r>
              <a:rPr lang="en-US" sz="950" dirty="0">
                <a:solidFill>
                  <a:srgbClr val="1A2F38"/>
                </a:solidFill>
                <a:latin typeface="Calibri" pitchFamily="34" charset="0"/>
                <a:ea typeface="Calibri" pitchFamily="34" charset="-122"/>
                <a:cs typeface="Calibri" pitchFamily="34" charset="-120"/>
              </a:rPr>
              <a:t>Views — no storage cost</a:t>
            </a:r>
            <a:endParaRPr lang="en-US" sz="950" dirty="0"/>
          </a:p>
        </p:txBody>
      </p:sp>
      <p:sp>
        <p:nvSpPr>
          <p:cNvPr id="14" name="Shape 12"/>
          <p:cNvSpPr/>
          <p:nvPr/>
        </p:nvSpPr>
        <p:spPr>
          <a:xfrm>
            <a:off x="484632" y="2542032"/>
            <a:ext cx="109728" cy="109728"/>
          </a:xfrm>
          <a:prstGeom prst="ellipse">
            <a:avLst/>
          </a:prstGeom>
          <a:solidFill>
            <a:srgbClr val="4A6572"/>
          </a:solidFill>
          <a:ln w="12700">
            <a:solidFill>
              <a:srgbClr val="4A6572"/>
            </a:solidFill>
            <a:prstDash val="solid"/>
          </a:ln>
        </p:spPr>
      </p:sp>
      <p:sp>
        <p:nvSpPr>
          <p:cNvPr id="15" name="Text 13"/>
          <p:cNvSpPr/>
          <p:nvPr/>
        </p:nvSpPr>
        <p:spPr>
          <a:xfrm>
            <a:off x="667512" y="2487168"/>
            <a:ext cx="1508760" cy="868680"/>
          </a:xfrm>
          <a:prstGeom prst="rect">
            <a:avLst/>
          </a:prstGeom>
          <a:noFill/>
          <a:ln/>
        </p:spPr>
        <p:txBody>
          <a:bodyPr wrap="square" lIns="0" tIns="0" rIns="0" bIns="0" rtlCol="0" anchor="t"/>
          <a:lstStyle/>
          <a:p>
            <a:pPr indent="0" marL="0">
              <a:buNone/>
            </a:pPr>
            <a:r>
              <a:rPr lang="en-US" sz="950" dirty="0">
                <a:solidFill>
                  <a:srgbClr val="1A2F38"/>
                </a:solidFill>
                <a:latin typeface="Calibri" pitchFamily="34" charset="0"/>
                <a:ea typeface="Calibri" pitchFamily="34" charset="-122"/>
                <a:cs typeface="Calibri" pitchFamily="34" charset="-120"/>
              </a:rPr>
              <a:t>If SEI changes feed format,</a:t>
            </a:r>
            <a:endParaRPr lang="en-US" sz="950" dirty="0"/>
          </a:p>
          <a:p>
            <a:pPr indent="0" marL="0">
              <a:buNone/>
            </a:pPr>
            <a:r>
              <a:rPr lang="en-US" sz="950" dirty="0">
                <a:solidFill>
                  <a:srgbClr val="1A2F38"/>
                </a:solidFill>
                <a:latin typeface="Calibri" pitchFamily="34" charset="0"/>
                <a:ea typeface="Calibri" pitchFamily="34" charset="-122"/>
                <a:cs typeface="Calibri" pitchFamily="34" charset="-120"/>
              </a:rPr>
              <a:t>only this layer changes</a:t>
            </a:r>
            <a:endParaRPr lang="en-US" sz="950" dirty="0"/>
          </a:p>
        </p:txBody>
      </p:sp>
      <p:sp>
        <p:nvSpPr>
          <p:cNvPr id="16" name="Shape 14"/>
          <p:cNvSpPr/>
          <p:nvPr/>
        </p:nvSpPr>
        <p:spPr>
          <a:xfrm>
            <a:off x="484632" y="3529584"/>
            <a:ext cx="109728" cy="109728"/>
          </a:xfrm>
          <a:prstGeom prst="ellipse">
            <a:avLst/>
          </a:prstGeom>
          <a:solidFill>
            <a:srgbClr val="4A6572"/>
          </a:solidFill>
          <a:ln w="12700">
            <a:solidFill>
              <a:srgbClr val="4A6572"/>
            </a:solidFill>
            <a:prstDash val="solid"/>
          </a:ln>
        </p:spPr>
      </p:sp>
      <p:sp>
        <p:nvSpPr>
          <p:cNvPr id="17" name="Text 15"/>
          <p:cNvSpPr/>
          <p:nvPr/>
        </p:nvSpPr>
        <p:spPr>
          <a:xfrm>
            <a:off x="667512" y="3474720"/>
            <a:ext cx="1508760" cy="868680"/>
          </a:xfrm>
          <a:prstGeom prst="rect">
            <a:avLst/>
          </a:prstGeom>
          <a:noFill/>
          <a:ln/>
        </p:spPr>
        <p:txBody>
          <a:bodyPr wrap="square" lIns="0" tIns="0" rIns="0" bIns="0" rtlCol="0" anchor="t"/>
          <a:lstStyle/>
          <a:p>
            <a:pPr indent="0" marL="0">
              <a:buNone/>
            </a:pPr>
            <a:r>
              <a:rPr lang="en-US" sz="950" dirty="0">
                <a:solidFill>
                  <a:srgbClr val="1A2F38"/>
                </a:solidFill>
                <a:latin typeface="Calibri" pitchFamily="34" charset="0"/>
                <a:ea typeface="Calibri" pitchFamily="34" charset="-122"/>
                <a:cs typeface="Calibri" pitchFamily="34" charset="-120"/>
              </a:rPr>
              <a:t>Everything downstream insulated</a:t>
            </a:r>
            <a:endParaRPr lang="en-US" sz="950" dirty="0"/>
          </a:p>
        </p:txBody>
      </p:sp>
      <p:sp>
        <p:nvSpPr>
          <p:cNvPr id="18" name="Shape 16"/>
          <p:cNvSpPr/>
          <p:nvPr/>
        </p:nvSpPr>
        <p:spPr>
          <a:xfrm>
            <a:off x="2286000" y="2670048"/>
            <a:ext cx="109728" cy="0"/>
          </a:xfrm>
          <a:prstGeom prst="line">
            <a:avLst/>
          </a:prstGeom>
          <a:noFill/>
          <a:ln w="25400">
            <a:solidFill>
              <a:srgbClr val="2A7A8C"/>
            </a:solidFill>
            <a:prstDash val="solid"/>
            <a:tailEnd type="triangle"/>
          </a:ln>
        </p:spPr>
      </p:sp>
      <p:sp>
        <p:nvSpPr>
          <p:cNvPr id="19" name="Shape 17"/>
          <p:cNvSpPr/>
          <p:nvPr/>
        </p:nvSpPr>
        <p:spPr>
          <a:xfrm>
            <a:off x="2404872" y="804672"/>
            <a:ext cx="1965960" cy="3730752"/>
          </a:xfrm>
          <a:prstGeom prst="roundRect">
            <a:avLst>
              <a:gd name="adj" fmla="val 4651"/>
            </a:avLst>
          </a:prstGeom>
          <a:solidFill>
            <a:srgbClr val="FFFFFF"/>
          </a:solidFill>
          <a:ln w="19050">
            <a:solidFill>
              <a:srgbClr val="D0ECF2"/>
            </a:solidFill>
            <a:prstDash val="solid"/>
          </a:ln>
          <a:effectLst>
            <a:outerShdw sx="100000" sy="100000" kx="0" ky="0" algn="bl" rotWithShape="0" blurRad="101600" dist="38100" dir="2700000">
              <a:srgbClr val="000000">
                <a:alpha val="10000"/>
              </a:srgbClr>
            </a:outerShdw>
          </a:effectLst>
        </p:spPr>
      </p:sp>
      <p:sp>
        <p:nvSpPr>
          <p:cNvPr id="20" name="Shape 18"/>
          <p:cNvSpPr/>
          <p:nvPr/>
        </p:nvSpPr>
        <p:spPr>
          <a:xfrm>
            <a:off x="2404872" y="804672"/>
            <a:ext cx="1965960" cy="566928"/>
          </a:xfrm>
          <a:prstGeom prst="roundRect">
            <a:avLst>
              <a:gd name="adj" fmla="val 12903"/>
            </a:avLst>
          </a:prstGeom>
          <a:solidFill>
            <a:srgbClr val="2E6B7A"/>
          </a:solidFill>
          <a:ln w="12700">
            <a:solidFill>
              <a:srgbClr val="2E6B7A"/>
            </a:solidFill>
            <a:prstDash val="solid"/>
          </a:ln>
        </p:spPr>
      </p:sp>
      <p:sp>
        <p:nvSpPr>
          <p:cNvPr id="21" name="Text 19"/>
          <p:cNvSpPr/>
          <p:nvPr/>
        </p:nvSpPr>
        <p:spPr>
          <a:xfrm>
            <a:off x="2478024" y="841248"/>
            <a:ext cx="1819656"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BRONZE</a:t>
            </a:r>
            <a:endParaRPr lang="en-US" sz="1300" dirty="0"/>
          </a:p>
        </p:txBody>
      </p:sp>
      <p:sp>
        <p:nvSpPr>
          <p:cNvPr id="22" name="Text 20"/>
          <p:cNvSpPr/>
          <p:nvPr/>
        </p:nvSpPr>
        <p:spPr>
          <a:xfrm>
            <a:off x="2478024" y="1133856"/>
            <a:ext cx="1819656" cy="219456"/>
          </a:xfrm>
          <a:prstGeom prst="rect">
            <a:avLst/>
          </a:prstGeom>
          <a:noFill/>
          <a:ln/>
        </p:spPr>
        <p:txBody>
          <a:bodyPr wrap="square" lIns="0" tIns="0" rIns="0" bIns="0" rtlCol="0" anchor="ctr"/>
          <a:lstStyle/>
          <a:p>
            <a:pPr algn="ctr" indent="0" marL="0">
              <a:buNone/>
            </a:pPr>
            <a:r>
              <a:rPr lang="en-US" sz="800" dirty="0">
                <a:solidFill>
                  <a:srgbClr val="D0ECF2"/>
                </a:solidFill>
                <a:latin typeface="Calibri" pitchFamily="34" charset="0"/>
                <a:ea typeface="Calibri" pitchFamily="34" charset="-122"/>
                <a:cs typeface="Calibri" pitchFamily="34" charset="-120"/>
              </a:rPr>
              <a:t>Raw ingestion</a:t>
            </a:r>
            <a:endParaRPr lang="en-US" sz="800" dirty="0"/>
          </a:p>
          <a:p>
            <a:pPr algn="ctr" indent="0" marL="0">
              <a:buNone/>
            </a:pPr>
            <a:r>
              <a:rPr lang="en-US" sz="800" dirty="0">
                <a:solidFill>
                  <a:srgbClr val="D0ECF2"/>
                </a:solidFill>
                <a:latin typeface="Calibri" pitchFamily="34" charset="0"/>
                <a:ea typeface="Calibri" pitchFamily="34" charset="-122"/>
                <a:cs typeface="Calibri" pitchFamily="34" charset="-120"/>
              </a:rPr>
              <a:t>zero transformation</a:t>
            </a:r>
            <a:endParaRPr lang="en-US" sz="800" dirty="0"/>
          </a:p>
        </p:txBody>
      </p:sp>
      <p:sp>
        <p:nvSpPr>
          <p:cNvPr id="23" name="Shape 21"/>
          <p:cNvSpPr/>
          <p:nvPr/>
        </p:nvSpPr>
        <p:spPr>
          <a:xfrm>
            <a:off x="2569464" y="1554480"/>
            <a:ext cx="109728" cy="109728"/>
          </a:xfrm>
          <a:prstGeom prst="ellipse">
            <a:avLst/>
          </a:prstGeom>
          <a:solidFill>
            <a:srgbClr val="2E6B7A"/>
          </a:solidFill>
          <a:ln w="12700">
            <a:solidFill>
              <a:srgbClr val="2E6B7A"/>
            </a:solidFill>
            <a:prstDash val="solid"/>
          </a:ln>
        </p:spPr>
      </p:sp>
      <p:sp>
        <p:nvSpPr>
          <p:cNvPr id="24" name="Text 22"/>
          <p:cNvSpPr/>
          <p:nvPr/>
        </p:nvSpPr>
        <p:spPr>
          <a:xfrm>
            <a:off x="2752344" y="1499616"/>
            <a:ext cx="1508760" cy="868680"/>
          </a:xfrm>
          <a:prstGeom prst="rect">
            <a:avLst/>
          </a:prstGeom>
          <a:noFill/>
          <a:ln/>
        </p:spPr>
        <p:txBody>
          <a:bodyPr wrap="square" lIns="0" tIns="0" rIns="0" bIns="0" rtlCol="0" anchor="t"/>
          <a:lstStyle/>
          <a:p>
            <a:pPr indent="0" marL="0">
              <a:buNone/>
            </a:pPr>
            <a:r>
              <a:rPr lang="en-US" sz="950" dirty="0">
                <a:solidFill>
                  <a:srgbClr val="1A2F38"/>
                </a:solidFill>
                <a:latin typeface="Calibri" pitchFamily="34" charset="0"/>
                <a:ea typeface="Calibri" pitchFamily="34" charset="-122"/>
                <a:cs typeface="Calibri" pitchFamily="34" charset="-120"/>
              </a:rPr>
              <a:t>Every record stored exactly</a:t>
            </a:r>
            <a:endParaRPr lang="en-US" sz="950" dirty="0"/>
          </a:p>
          <a:p>
            <a:pPr indent="0" marL="0">
              <a:buNone/>
            </a:pPr>
            <a:r>
              <a:rPr lang="en-US" sz="950" dirty="0">
                <a:solidFill>
                  <a:srgbClr val="1A2F38"/>
                </a:solidFill>
                <a:latin typeface="Calibri" pitchFamily="34" charset="0"/>
                <a:ea typeface="Calibri" pitchFamily="34" charset="-122"/>
                <a:cs typeface="Calibri" pitchFamily="34" charset="-120"/>
              </a:rPr>
              <a:t>as received from SEI</a:t>
            </a:r>
            <a:endParaRPr lang="en-US" sz="950" dirty="0"/>
          </a:p>
        </p:txBody>
      </p:sp>
      <p:sp>
        <p:nvSpPr>
          <p:cNvPr id="25" name="Shape 23"/>
          <p:cNvSpPr/>
          <p:nvPr/>
        </p:nvSpPr>
        <p:spPr>
          <a:xfrm>
            <a:off x="2569464" y="2542032"/>
            <a:ext cx="109728" cy="109728"/>
          </a:xfrm>
          <a:prstGeom prst="ellipse">
            <a:avLst/>
          </a:prstGeom>
          <a:solidFill>
            <a:srgbClr val="2E6B7A"/>
          </a:solidFill>
          <a:ln w="12700">
            <a:solidFill>
              <a:srgbClr val="2E6B7A"/>
            </a:solidFill>
            <a:prstDash val="solid"/>
          </a:ln>
        </p:spPr>
      </p:sp>
      <p:sp>
        <p:nvSpPr>
          <p:cNvPr id="26" name="Text 24"/>
          <p:cNvSpPr/>
          <p:nvPr/>
        </p:nvSpPr>
        <p:spPr>
          <a:xfrm>
            <a:off x="2752344" y="2487168"/>
            <a:ext cx="1508760" cy="868680"/>
          </a:xfrm>
          <a:prstGeom prst="rect">
            <a:avLst/>
          </a:prstGeom>
          <a:noFill/>
          <a:ln/>
        </p:spPr>
        <p:txBody>
          <a:bodyPr wrap="square" lIns="0" tIns="0" rIns="0" bIns="0" rtlCol="0" anchor="t"/>
          <a:lstStyle/>
          <a:p>
            <a:pPr indent="0" marL="0">
              <a:buNone/>
            </a:pPr>
            <a:r>
              <a:rPr lang="en-US" sz="950" dirty="0">
                <a:solidFill>
                  <a:srgbClr val="1A2F38"/>
                </a:solidFill>
                <a:latin typeface="Calibri" pitchFamily="34" charset="0"/>
                <a:ea typeface="Calibri" pitchFamily="34" charset="-122"/>
                <a:cs typeface="Calibri" pitchFamily="34" charset="-120"/>
              </a:rPr>
              <a:t>Audit columns added</a:t>
            </a:r>
            <a:endParaRPr lang="en-US" sz="950" dirty="0"/>
          </a:p>
          <a:p>
            <a:pPr indent="0" marL="0">
              <a:buNone/>
            </a:pPr>
            <a:r>
              <a:rPr lang="en-US" sz="950" dirty="0">
                <a:solidFill>
                  <a:srgbClr val="1A2F38"/>
                </a:solidFill>
                <a:latin typeface="Calibri" pitchFamily="34" charset="0"/>
                <a:ea typeface="Calibri" pitchFamily="34" charset="-122"/>
                <a:cs typeface="Calibri" pitchFamily="34" charset="-120"/>
              </a:rPr>
              <a:t>_ingested_at, _source_system</a:t>
            </a:r>
            <a:endParaRPr lang="en-US" sz="950" dirty="0"/>
          </a:p>
        </p:txBody>
      </p:sp>
      <p:sp>
        <p:nvSpPr>
          <p:cNvPr id="27" name="Shape 25"/>
          <p:cNvSpPr/>
          <p:nvPr/>
        </p:nvSpPr>
        <p:spPr>
          <a:xfrm>
            <a:off x="2569464" y="3529584"/>
            <a:ext cx="109728" cy="109728"/>
          </a:xfrm>
          <a:prstGeom prst="ellipse">
            <a:avLst/>
          </a:prstGeom>
          <a:solidFill>
            <a:srgbClr val="2E6B7A"/>
          </a:solidFill>
          <a:ln w="12700">
            <a:solidFill>
              <a:srgbClr val="2E6B7A"/>
            </a:solidFill>
            <a:prstDash val="solid"/>
          </a:ln>
        </p:spPr>
      </p:sp>
      <p:sp>
        <p:nvSpPr>
          <p:cNvPr id="28" name="Text 26"/>
          <p:cNvSpPr/>
          <p:nvPr/>
        </p:nvSpPr>
        <p:spPr>
          <a:xfrm>
            <a:off x="2752344" y="3474720"/>
            <a:ext cx="1508760" cy="868680"/>
          </a:xfrm>
          <a:prstGeom prst="rect">
            <a:avLst/>
          </a:prstGeom>
          <a:noFill/>
          <a:ln/>
        </p:spPr>
        <p:txBody>
          <a:bodyPr wrap="square" lIns="0" tIns="0" rIns="0" bIns="0" rtlCol="0" anchor="t"/>
          <a:lstStyle/>
          <a:p>
            <a:pPr indent="0" marL="0">
              <a:buNone/>
            </a:pPr>
            <a:r>
              <a:rPr lang="en-US" sz="950" dirty="0">
                <a:solidFill>
                  <a:srgbClr val="1A2F38"/>
                </a:solidFill>
                <a:latin typeface="Calibri" pitchFamily="34" charset="0"/>
                <a:ea typeface="Calibri" pitchFamily="34" charset="-122"/>
                <a:cs typeface="Calibri" pitchFamily="34" charset="-120"/>
              </a:rPr>
              <a:t>Incremental: delete+insert</a:t>
            </a:r>
            <a:endParaRPr lang="en-US" sz="950" dirty="0"/>
          </a:p>
          <a:p>
            <a:pPr indent="0" marL="0">
              <a:buNone/>
            </a:pPr>
            <a:r>
              <a:rPr lang="en-US" sz="950" dirty="0">
                <a:solidFill>
                  <a:srgbClr val="1A2F38"/>
                </a:solidFill>
                <a:latin typeface="Calibri" pitchFamily="34" charset="0"/>
                <a:ea typeface="Calibri" pitchFamily="34" charset="-122"/>
                <a:cs typeface="Calibri" pitchFamily="34" charset="-120"/>
              </a:rPr>
              <a:t>partitioned by tx_date_raw</a:t>
            </a:r>
            <a:endParaRPr lang="en-US" sz="950" dirty="0"/>
          </a:p>
        </p:txBody>
      </p:sp>
      <p:sp>
        <p:nvSpPr>
          <p:cNvPr id="29" name="Shape 27"/>
          <p:cNvSpPr/>
          <p:nvPr/>
        </p:nvSpPr>
        <p:spPr>
          <a:xfrm>
            <a:off x="4370832" y="2670048"/>
            <a:ext cx="109728" cy="0"/>
          </a:xfrm>
          <a:prstGeom prst="line">
            <a:avLst/>
          </a:prstGeom>
          <a:noFill/>
          <a:ln w="25400">
            <a:solidFill>
              <a:srgbClr val="2A7A8C"/>
            </a:solidFill>
            <a:prstDash val="solid"/>
            <a:tailEnd type="triangle"/>
          </a:ln>
        </p:spPr>
      </p:sp>
      <p:sp>
        <p:nvSpPr>
          <p:cNvPr id="30" name="Shape 28"/>
          <p:cNvSpPr/>
          <p:nvPr/>
        </p:nvSpPr>
        <p:spPr>
          <a:xfrm>
            <a:off x="4489704" y="804672"/>
            <a:ext cx="1965960" cy="3730752"/>
          </a:xfrm>
          <a:prstGeom prst="roundRect">
            <a:avLst>
              <a:gd name="adj" fmla="val 4651"/>
            </a:avLst>
          </a:prstGeom>
          <a:solidFill>
            <a:srgbClr val="FFFFFF"/>
          </a:solidFill>
          <a:ln w="19050">
            <a:solidFill>
              <a:srgbClr val="D0ECF2"/>
            </a:solidFill>
            <a:prstDash val="solid"/>
          </a:ln>
          <a:effectLst>
            <a:outerShdw sx="100000" sy="100000" kx="0" ky="0" algn="bl" rotWithShape="0" blurRad="101600" dist="38100" dir="2700000">
              <a:srgbClr val="000000">
                <a:alpha val="10000"/>
              </a:srgbClr>
            </a:outerShdw>
          </a:effectLst>
        </p:spPr>
      </p:sp>
      <p:sp>
        <p:nvSpPr>
          <p:cNvPr id="31" name="Shape 29"/>
          <p:cNvSpPr/>
          <p:nvPr/>
        </p:nvSpPr>
        <p:spPr>
          <a:xfrm>
            <a:off x="4489704" y="804672"/>
            <a:ext cx="1965960" cy="566928"/>
          </a:xfrm>
          <a:prstGeom prst="roundRect">
            <a:avLst>
              <a:gd name="adj" fmla="val 12903"/>
            </a:avLst>
          </a:prstGeom>
          <a:solidFill>
            <a:srgbClr val="1F5C6B"/>
          </a:solidFill>
          <a:ln w="12700">
            <a:solidFill>
              <a:srgbClr val="1F5C6B"/>
            </a:solidFill>
            <a:prstDash val="solid"/>
          </a:ln>
        </p:spPr>
      </p:sp>
      <p:sp>
        <p:nvSpPr>
          <p:cNvPr id="32" name="Text 30"/>
          <p:cNvSpPr/>
          <p:nvPr/>
        </p:nvSpPr>
        <p:spPr>
          <a:xfrm>
            <a:off x="4562856" y="841248"/>
            <a:ext cx="1819656"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SILVER</a:t>
            </a:r>
            <a:endParaRPr lang="en-US" sz="1300" dirty="0"/>
          </a:p>
        </p:txBody>
      </p:sp>
      <p:sp>
        <p:nvSpPr>
          <p:cNvPr id="33" name="Text 31"/>
          <p:cNvSpPr/>
          <p:nvPr/>
        </p:nvSpPr>
        <p:spPr>
          <a:xfrm>
            <a:off x="4562856" y="1133856"/>
            <a:ext cx="1819656" cy="219456"/>
          </a:xfrm>
          <a:prstGeom prst="rect">
            <a:avLst/>
          </a:prstGeom>
          <a:noFill/>
          <a:ln/>
        </p:spPr>
        <p:txBody>
          <a:bodyPr wrap="square" lIns="0" tIns="0" rIns="0" bIns="0" rtlCol="0" anchor="ctr"/>
          <a:lstStyle/>
          <a:p>
            <a:pPr algn="ctr" indent="0" marL="0">
              <a:buNone/>
            </a:pPr>
            <a:r>
              <a:rPr lang="en-US" sz="800" dirty="0">
                <a:solidFill>
                  <a:srgbClr val="D0ECF2"/>
                </a:solidFill>
                <a:latin typeface="Calibri" pitchFamily="34" charset="0"/>
                <a:ea typeface="Calibri" pitchFamily="34" charset="-122"/>
                <a:cs typeface="Calibri" pitchFamily="34" charset="-120"/>
              </a:rPr>
              <a:t>Business rules</a:t>
            </a:r>
            <a:endParaRPr lang="en-US" sz="800" dirty="0"/>
          </a:p>
          <a:p>
            <a:pPr algn="ctr" indent="0" marL="0">
              <a:buNone/>
            </a:pPr>
            <a:r>
              <a:rPr lang="en-US" sz="800" dirty="0">
                <a:solidFill>
                  <a:srgbClr val="D0ECF2"/>
                </a:solidFill>
                <a:latin typeface="Calibri" pitchFamily="34" charset="0"/>
                <a:ea typeface="Calibri" pitchFamily="34" charset="-122"/>
                <a:cs typeface="Calibri" pitchFamily="34" charset="-120"/>
              </a:rPr>
              <a:t>applied here</a:t>
            </a:r>
            <a:endParaRPr lang="en-US" sz="800" dirty="0"/>
          </a:p>
        </p:txBody>
      </p:sp>
      <p:sp>
        <p:nvSpPr>
          <p:cNvPr id="34" name="Shape 32"/>
          <p:cNvSpPr/>
          <p:nvPr/>
        </p:nvSpPr>
        <p:spPr>
          <a:xfrm>
            <a:off x="4654296" y="1554480"/>
            <a:ext cx="109728" cy="109728"/>
          </a:xfrm>
          <a:prstGeom prst="ellipse">
            <a:avLst/>
          </a:prstGeom>
          <a:solidFill>
            <a:srgbClr val="1F5C6B"/>
          </a:solidFill>
          <a:ln w="12700">
            <a:solidFill>
              <a:srgbClr val="1F5C6B"/>
            </a:solidFill>
            <a:prstDash val="solid"/>
          </a:ln>
        </p:spPr>
      </p:sp>
      <p:sp>
        <p:nvSpPr>
          <p:cNvPr id="35" name="Text 33"/>
          <p:cNvSpPr/>
          <p:nvPr/>
        </p:nvSpPr>
        <p:spPr>
          <a:xfrm>
            <a:off x="4837176" y="1499616"/>
            <a:ext cx="1508760" cy="868680"/>
          </a:xfrm>
          <a:prstGeom prst="rect">
            <a:avLst/>
          </a:prstGeom>
          <a:noFill/>
          <a:ln/>
        </p:spPr>
        <p:txBody>
          <a:bodyPr wrap="square" lIns="0" tIns="0" rIns="0" bIns="0" rtlCol="0" anchor="t"/>
          <a:lstStyle/>
          <a:p>
            <a:pPr indent="0" marL="0">
              <a:buNone/>
            </a:pPr>
            <a:r>
              <a:rPr lang="en-US" sz="950" dirty="0">
                <a:solidFill>
                  <a:srgbClr val="1A2F38"/>
                </a:solidFill>
                <a:latin typeface="Calibri" pitchFamily="34" charset="0"/>
                <a:ea typeface="Calibri" pitchFamily="34" charset="-122"/>
                <a:cs typeface="Calibri" pitchFamily="34" charset="-120"/>
              </a:rPr>
              <a:t>Type: BUY→PURCHASE, DIV→DIVIDEND</a:t>
            </a:r>
            <a:endParaRPr lang="en-US" sz="950" dirty="0"/>
          </a:p>
        </p:txBody>
      </p:sp>
      <p:sp>
        <p:nvSpPr>
          <p:cNvPr id="36" name="Shape 34"/>
          <p:cNvSpPr/>
          <p:nvPr/>
        </p:nvSpPr>
        <p:spPr>
          <a:xfrm>
            <a:off x="4654296" y="2542032"/>
            <a:ext cx="109728" cy="109728"/>
          </a:xfrm>
          <a:prstGeom prst="ellipse">
            <a:avLst/>
          </a:prstGeom>
          <a:solidFill>
            <a:srgbClr val="1F5C6B"/>
          </a:solidFill>
          <a:ln w="12700">
            <a:solidFill>
              <a:srgbClr val="1F5C6B"/>
            </a:solidFill>
            <a:prstDash val="solid"/>
          </a:ln>
        </p:spPr>
      </p:sp>
      <p:sp>
        <p:nvSpPr>
          <p:cNvPr id="37" name="Text 35"/>
          <p:cNvSpPr/>
          <p:nvPr/>
        </p:nvSpPr>
        <p:spPr>
          <a:xfrm>
            <a:off x="4837176" y="2487168"/>
            <a:ext cx="1508760" cy="868680"/>
          </a:xfrm>
          <a:prstGeom prst="rect">
            <a:avLst/>
          </a:prstGeom>
          <a:noFill/>
          <a:ln/>
        </p:spPr>
        <p:txBody>
          <a:bodyPr wrap="square" lIns="0" tIns="0" rIns="0" bIns="0" rtlCol="0" anchor="t"/>
          <a:lstStyle/>
          <a:p>
            <a:pPr indent="0" marL="0">
              <a:buNone/>
            </a:pPr>
            <a:r>
              <a:rPr lang="en-US" sz="950" dirty="0">
                <a:solidFill>
                  <a:srgbClr val="1A2F38"/>
                </a:solidFill>
                <a:latin typeface="Calibri" pitchFamily="34" charset="0"/>
                <a:ea typeface="Calibri" pitchFamily="34" charset="-122"/>
                <a:cs typeface="Calibri" pitchFamily="34" charset="-120"/>
              </a:rPr>
              <a:t>SETTLED only — FAILED/BLOCKED out</a:t>
            </a:r>
            <a:endParaRPr lang="en-US" sz="950" dirty="0"/>
          </a:p>
        </p:txBody>
      </p:sp>
      <p:sp>
        <p:nvSpPr>
          <p:cNvPr id="38" name="Shape 36"/>
          <p:cNvSpPr/>
          <p:nvPr/>
        </p:nvSpPr>
        <p:spPr>
          <a:xfrm>
            <a:off x="4654296" y="3529584"/>
            <a:ext cx="109728" cy="109728"/>
          </a:xfrm>
          <a:prstGeom prst="ellipse">
            <a:avLst/>
          </a:prstGeom>
          <a:solidFill>
            <a:srgbClr val="1F5C6B"/>
          </a:solidFill>
          <a:ln w="12700">
            <a:solidFill>
              <a:srgbClr val="1F5C6B"/>
            </a:solidFill>
            <a:prstDash val="solid"/>
          </a:ln>
        </p:spPr>
      </p:sp>
      <p:sp>
        <p:nvSpPr>
          <p:cNvPr id="39" name="Text 37"/>
          <p:cNvSpPr/>
          <p:nvPr/>
        </p:nvSpPr>
        <p:spPr>
          <a:xfrm>
            <a:off x="4837176" y="3474720"/>
            <a:ext cx="1508760" cy="868680"/>
          </a:xfrm>
          <a:prstGeom prst="rect">
            <a:avLst/>
          </a:prstGeom>
          <a:noFill/>
          <a:ln/>
        </p:spPr>
        <p:txBody>
          <a:bodyPr wrap="square" lIns="0" tIns="0" rIns="0" bIns="0" rtlCol="0" anchor="t"/>
          <a:lstStyle/>
          <a:p>
            <a:pPr indent="0" marL="0">
              <a:buNone/>
            </a:pPr>
            <a:r>
              <a:rPr lang="en-US" sz="950" dirty="0">
                <a:solidFill>
                  <a:srgbClr val="1A2F38"/>
                </a:solidFill>
                <a:latin typeface="Calibri" pitchFamily="34" charset="0"/>
                <a:ea typeface="Calibri" pitchFamily="34" charset="-122"/>
                <a:cs typeface="Calibri" pitchFamily="34" charset="-120"/>
              </a:rPr>
              <a:t>ISIN, CUSIP, sector enrichment</a:t>
            </a:r>
            <a:endParaRPr lang="en-US" sz="950" dirty="0"/>
          </a:p>
        </p:txBody>
      </p:sp>
      <p:sp>
        <p:nvSpPr>
          <p:cNvPr id="40" name="Shape 38"/>
          <p:cNvSpPr/>
          <p:nvPr/>
        </p:nvSpPr>
        <p:spPr>
          <a:xfrm>
            <a:off x="4654296" y="4517136"/>
            <a:ext cx="109728" cy="109728"/>
          </a:xfrm>
          <a:prstGeom prst="ellipse">
            <a:avLst/>
          </a:prstGeom>
          <a:solidFill>
            <a:srgbClr val="1F5C6B"/>
          </a:solidFill>
          <a:ln w="12700">
            <a:solidFill>
              <a:srgbClr val="1F5C6B"/>
            </a:solidFill>
            <a:prstDash val="solid"/>
          </a:ln>
        </p:spPr>
      </p:sp>
      <p:sp>
        <p:nvSpPr>
          <p:cNvPr id="41" name="Text 39"/>
          <p:cNvSpPr/>
          <p:nvPr/>
        </p:nvSpPr>
        <p:spPr>
          <a:xfrm>
            <a:off x="4837176" y="4462272"/>
            <a:ext cx="1508760" cy="868680"/>
          </a:xfrm>
          <a:prstGeom prst="rect">
            <a:avLst/>
          </a:prstGeom>
          <a:noFill/>
          <a:ln/>
        </p:spPr>
        <p:txBody>
          <a:bodyPr wrap="square" lIns="0" tIns="0" rIns="0" bIns="0" rtlCol="0" anchor="t"/>
          <a:lstStyle/>
          <a:p>
            <a:pPr indent="0" marL="0">
              <a:buNone/>
            </a:pPr>
            <a:r>
              <a:rPr lang="en-US" sz="950" dirty="0">
                <a:solidFill>
                  <a:srgbClr val="1A2F38"/>
                </a:solidFill>
                <a:latin typeface="Calibri" pitchFamily="34" charset="0"/>
                <a:ea typeface="Calibri" pitchFamily="34" charset="-122"/>
                <a:cs typeface="Calibri" pitchFamily="34" charset="-120"/>
              </a:rPr>
              <a:t>Debit/credit double-entry split</a:t>
            </a:r>
            <a:endParaRPr lang="en-US" sz="950" dirty="0"/>
          </a:p>
        </p:txBody>
      </p:sp>
      <p:sp>
        <p:nvSpPr>
          <p:cNvPr id="42" name="Shape 40"/>
          <p:cNvSpPr/>
          <p:nvPr/>
        </p:nvSpPr>
        <p:spPr>
          <a:xfrm>
            <a:off x="6455664" y="2670048"/>
            <a:ext cx="109728" cy="0"/>
          </a:xfrm>
          <a:prstGeom prst="line">
            <a:avLst/>
          </a:prstGeom>
          <a:noFill/>
          <a:ln w="25400">
            <a:solidFill>
              <a:srgbClr val="2A7A8C"/>
            </a:solidFill>
            <a:prstDash val="solid"/>
            <a:tailEnd type="triangle"/>
          </a:ln>
        </p:spPr>
      </p:sp>
      <p:sp>
        <p:nvSpPr>
          <p:cNvPr id="43" name="Shape 41"/>
          <p:cNvSpPr/>
          <p:nvPr/>
        </p:nvSpPr>
        <p:spPr>
          <a:xfrm>
            <a:off x="6574536" y="804672"/>
            <a:ext cx="1965960" cy="3730752"/>
          </a:xfrm>
          <a:prstGeom prst="roundRect">
            <a:avLst>
              <a:gd name="adj" fmla="val 4651"/>
            </a:avLst>
          </a:prstGeom>
          <a:solidFill>
            <a:srgbClr val="FFFFFF"/>
          </a:solidFill>
          <a:ln w="19050">
            <a:solidFill>
              <a:srgbClr val="D0ECF2"/>
            </a:solidFill>
            <a:prstDash val="solid"/>
          </a:ln>
          <a:effectLst>
            <a:outerShdw sx="100000" sy="100000" kx="0" ky="0" algn="bl" rotWithShape="0" blurRad="101600" dist="38100" dir="2700000">
              <a:srgbClr val="000000">
                <a:alpha val="10000"/>
              </a:srgbClr>
            </a:outerShdw>
          </a:effectLst>
        </p:spPr>
      </p:sp>
      <p:sp>
        <p:nvSpPr>
          <p:cNvPr id="44" name="Shape 42"/>
          <p:cNvSpPr/>
          <p:nvPr/>
        </p:nvSpPr>
        <p:spPr>
          <a:xfrm>
            <a:off x="6574536" y="804672"/>
            <a:ext cx="1965960" cy="566928"/>
          </a:xfrm>
          <a:prstGeom prst="roundRect">
            <a:avLst>
              <a:gd name="adj" fmla="val 12903"/>
            </a:avLst>
          </a:prstGeom>
          <a:solidFill>
            <a:srgbClr val="C9A84C"/>
          </a:solidFill>
          <a:ln w="12700">
            <a:solidFill>
              <a:srgbClr val="C9A84C"/>
            </a:solidFill>
            <a:prstDash val="solid"/>
          </a:ln>
        </p:spPr>
      </p:sp>
      <p:sp>
        <p:nvSpPr>
          <p:cNvPr id="45" name="Text 43"/>
          <p:cNvSpPr/>
          <p:nvPr/>
        </p:nvSpPr>
        <p:spPr>
          <a:xfrm>
            <a:off x="6647688" y="841248"/>
            <a:ext cx="1819656" cy="292608"/>
          </a:xfrm>
          <a:prstGeom prst="rect">
            <a:avLst/>
          </a:prstGeom>
          <a:noFill/>
          <a:ln/>
        </p:spPr>
        <p:txBody>
          <a:bodyPr wrap="square" lIns="0" tIns="0" rIns="0" bIns="0" rtlCol="0" anchor="ctr"/>
          <a:lstStyle/>
          <a:p>
            <a:pPr algn="ctr" indent="0" marL="0">
              <a:buNone/>
            </a:pPr>
            <a:r>
              <a:rPr lang="en-US" sz="1300" b="1" dirty="0">
                <a:solidFill>
                  <a:srgbClr val="1A2F4A"/>
                </a:solidFill>
                <a:latin typeface="Calibri" pitchFamily="34" charset="0"/>
                <a:ea typeface="Calibri" pitchFamily="34" charset="-122"/>
                <a:cs typeface="Calibri" pitchFamily="34" charset="-120"/>
              </a:rPr>
              <a:t>GOLD</a:t>
            </a:r>
            <a:endParaRPr lang="en-US" sz="1300" dirty="0"/>
          </a:p>
        </p:txBody>
      </p:sp>
      <p:sp>
        <p:nvSpPr>
          <p:cNvPr id="46" name="Text 44"/>
          <p:cNvSpPr/>
          <p:nvPr/>
        </p:nvSpPr>
        <p:spPr>
          <a:xfrm>
            <a:off x="6647688" y="1133856"/>
            <a:ext cx="1819656" cy="219456"/>
          </a:xfrm>
          <a:prstGeom prst="rect">
            <a:avLst/>
          </a:prstGeom>
          <a:noFill/>
          <a:ln/>
        </p:spPr>
        <p:txBody>
          <a:bodyPr wrap="square" lIns="0" tIns="0" rIns="0" bIns="0" rtlCol="0" anchor="ctr"/>
          <a:lstStyle/>
          <a:p>
            <a:pPr algn="ctr" indent="0" marL="0">
              <a:buNone/>
            </a:pPr>
            <a:r>
              <a:rPr lang="en-US" sz="800" dirty="0">
                <a:solidFill>
                  <a:srgbClr val="1A2F4A"/>
                </a:solidFill>
                <a:latin typeface="Calibri" pitchFamily="34" charset="0"/>
                <a:ea typeface="Calibri" pitchFamily="34" charset="-122"/>
                <a:cs typeface="Calibri" pitchFamily="34" charset="-120"/>
              </a:rPr>
              <a:t>Account-level</a:t>
            </a:r>
            <a:endParaRPr lang="en-US" sz="800" dirty="0"/>
          </a:p>
          <a:p>
            <a:pPr algn="ctr" indent="0" marL="0">
              <a:buNone/>
            </a:pPr>
            <a:r>
              <a:rPr lang="en-US" sz="800" dirty="0">
                <a:solidFill>
                  <a:srgbClr val="1A2F4A"/>
                </a:solidFill>
                <a:latin typeface="Calibri" pitchFamily="34" charset="0"/>
                <a:ea typeface="Calibri" pitchFamily="34" charset="-122"/>
                <a:cs typeface="Calibri" pitchFamily="34" charset="-120"/>
              </a:rPr>
              <a:t>aggregation</a:t>
            </a:r>
            <a:endParaRPr lang="en-US" sz="800" dirty="0"/>
          </a:p>
        </p:txBody>
      </p:sp>
      <p:sp>
        <p:nvSpPr>
          <p:cNvPr id="47" name="Shape 45"/>
          <p:cNvSpPr/>
          <p:nvPr/>
        </p:nvSpPr>
        <p:spPr>
          <a:xfrm>
            <a:off x="6739128" y="1554480"/>
            <a:ext cx="109728" cy="109728"/>
          </a:xfrm>
          <a:prstGeom prst="ellipse">
            <a:avLst/>
          </a:prstGeom>
          <a:solidFill>
            <a:srgbClr val="C9A84C"/>
          </a:solidFill>
          <a:ln w="12700">
            <a:solidFill>
              <a:srgbClr val="C9A84C"/>
            </a:solidFill>
            <a:prstDash val="solid"/>
          </a:ln>
        </p:spPr>
      </p:sp>
      <p:sp>
        <p:nvSpPr>
          <p:cNvPr id="48" name="Text 46"/>
          <p:cNvSpPr/>
          <p:nvPr/>
        </p:nvSpPr>
        <p:spPr>
          <a:xfrm>
            <a:off x="6922008" y="1499616"/>
            <a:ext cx="1508760" cy="868680"/>
          </a:xfrm>
          <a:prstGeom prst="rect">
            <a:avLst/>
          </a:prstGeom>
          <a:noFill/>
          <a:ln/>
        </p:spPr>
        <p:txBody>
          <a:bodyPr wrap="square" lIns="0" tIns="0" rIns="0" bIns="0" rtlCol="0" anchor="t"/>
          <a:lstStyle/>
          <a:p>
            <a:pPr indent="0" marL="0">
              <a:buNone/>
            </a:pPr>
            <a:r>
              <a:rPr lang="en-US" sz="950" dirty="0">
                <a:solidFill>
                  <a:srgbClr val="1A2F38"/>
                </a:solidFill>
                <a:latin typeface="Calibri" pitchFamily="34" charset="0"/>
                <a:ea typeface="Calibri" pitchFamily="34" charset="-122"/>
                <a:cs typeface="Calibri" pitchFamily="34" charset="-120"/>
              </a:rPr>
              <a:t>One row per account</a:t>
            </a:r>
            <a:endParaRPr lang="en-US" sz="950" dirty="0"/>
          </a:p>
        </p:txBody>
      </p:sp>
      <p:sp>
        <p:nvSpPr>
          <p:cNvPr id="49" name="Shape 47"/>
          <p:cNvSpPr/>
          <p:nvPr/>
        </p:nvSpPr>
        <p:spPr>
          <a:xfrm>
            <a:off x="6739128" y="2542032"/>
            <a:ext cx="109728" cy="109728"/>
          </a:xfrm>
          <a:prstGeom prst="ellipse">
            <a:avLst/>
          </a:prstGeom>
          <a:solidFill>
            <a:srgbClr val="C9A84C"/>
          </a:solidFill>
          <a:ln w="12700">
            <a:solidFill>
              <a:srgbClr val="C9A84C"/>
            </a:solidFill>
            <a:prstDash val="solid"/>
          </a:ln>
        </p:spPr>
      </p:sp>
      <p:sp>
        <p:nvSpPr>
          <p:cNvPr id="50" name="Text 48"/>
          <p:cNvSpPr/>
          <p:nvPr/>
        </p:nvSpPr>
        <p:spPr>
          <a:xfrm>
            <a:off x="6922008" y="2487168"/>
            <a:ext cx="1508760" cy="868680"/>
          </a:xfrm>
          <a:prstGeom prst="rect">
            <a:avLst/>
          </a:prstGeom>
          <a:noFill/>
          <a:ln/>
        </p:spPr>
        <p:txBody>
          <a:bodyPr wrap="square" lIns="0" tIns="0" rIns="0" bIns="0" rtlCol="0" anchor="t"/>
          <a:lstStyle/>
          <a:p>
            <a:pPr indent="0" marL="0">
              <a:buNone/>
            </a:pPr>
            <a:r>
              <a:rPr lang="en-US" sz="950" dirty="0">
                <a:solidFill>
                  <a:srgbClr val="1A2F38"/>
                </a:solidFill>
                <a:latin typeface="Calibri" pitchFamily="34" charset="0"/>
                <a:ea typeface="Calibri" pitchFamily="34" charset="-122"/>
                <a:cs typeface="Calibri" pitchFamily="34" charset="-120"/>
              </a:rPr>
              <a:t>NAV, YTD return, dividends, fees</a:t>
            </a:r>
            <a:endParaRPr lang="en-US" sz="950" dirty="0"/>
          </a:p>
        </p:txBody>
      </p:sp>
      <p:sp>
        <p:nvSpPr>
          <p:cNvPr id="51" name="Shape 49"/>
          <p:cNvSpPr/>
          <p:nvPr/>
        </p:nvSpPr>
        <p:spPr>
          <a:xfrm>
            <a:off x="6739128" y="3529584"/>
            <a:ext cx="109728" cy="109728"/>
          </a:xfrm>
          <a:prstGeom prst="ellipse">
            <a:avLst/>
          </a:prstGeom>
          <a:solidFill>
            <a:srgbClr val="C9A84C"/>
          </a:solidFill>
          <a:ln w="12700">
            <a:solidFill>
              <a:srgbClr val="C9A84C"/>
            </a:solidFill>
            <a:prstDash val="solid"/>
          </a:ln>
        </p:spPr>
      </p:sp>
      <p:sp>
        <p:nvSpPr>
          <p:cNvPr id="52" name="Text 50"/>
          <p:cNvSpPr/>
          <p:nvPr/>
        </p:nvSpPr>
        <p:spPr>
          <a:xfrm>
            <a:off x="6922008" y="3474720"/>
            <a:ext cx="1508760" cy="868680"/>
          </a:xfrm>
          <a:prstGeom prst="rect">
            <a:avLst/>
          </a:prstGeom>
          <a:noFill/>
          <a:ln/>
        </p:spPr>
        <p:txBody>
          <a:bodyPr wrap="square" lIns="0" tIns="0" rIns="0" bIns="0" rtlCol="0" anchor="t"/>
          <a:lstStyle/>
          <a:p>
            <a:pPr indent="0" marL="0">
              <a:buNone/>
            </a:pPr>
            <a:r>
              <a:rPr lang="en-US" sz="950" dirty="0">
                <a:solidFill>
                  <a:srgbClr val="1A2F38"/>
                </a:solidFill>
                <a:latin typeface="Calibri" pitchFamily="34" charset="0"/>
                <a:ea typeface="Calibri" pitchFamily="34" charset="-122"/>
                <a:cs typeface="Calibri" pitchFamily="34" charset="-120"/>
              </a:rPr>
              <a:t>excluded_from_gold for ACC003</a:t>
            </a:r>
            <a:endParaRPr lang="en-US" sz="950" dirty="0"/>
          </a:p>
        </p:txBody>
      </p:sp>
      <p:sp>
        <p:nvSpPr>
          <p:cNvPr id="53" name="Shape 51"/>
          <p:cNvSpPr/>
          <p:nvPr/>
        </p:nvSpPr>
        <p:spPr>
          <a:xfrm>
            <a:off x="6739128" y="4517136"/>
            <a:ext cx="109728" cy="109728"/>
          </a:xfrm>
          <a:prstGeom prst="ellipse">
            <a:avLst/>
          </a:prstGeom>
          <a:solidFill>
            <a:srgbClr val="C9A84C"/>
          </a:solidFill>
          <a:ln w="12700">
            <a:solidFill>
              <a:srgbClr val="C9A84C"/>
            </a:solidFill>
            <a:prstDash val="solid"/>
          </a:ln>
        </p:spPr>
      </p:sp>
      <p:sp>
        <p:nvSpPr>
          <p:cNvPr id="54" name="Text 52"/>
          <p:cNvSpPr/>
          <p:nvPr/>
        </p:nvSpPr>
        <p:spPr>
          <a:xfrm>
            <a:off x="6922008" y="4462272"/>
            <a:ext cx="1508760" cy="868680"/>
          </a:xfrm>
          <a:prstGeom prst="rect">
            <a:avLst/>
          </a:prstGeom>
          <a:noFill/>
          <a:ln/>
        </p:spPr>
        <p:txBody>
          <a:bodyPr wrap="square" lIns="0" tIns="0" rIns="0" bIns="0" rtlCol="0" anchor="t"/>
          <a:lstStyle/>
          <a:p>
            <a:pPr indent="0" marL="0">
              <a:buNone/>
            </a:pPr>
            <a:r>
              <a:rPr lang="en-US" sz="950" dirty="0">
                <a:solidFill>
                  <a:srgbClr val="1A2F38"/>
                </a:solidFill>
                <a:latin typeface="Calibri" pitchFamily="34" charset="0"/>
                <a:ea typeface="Calibri" pitchFamily="34" charset="-122"/>
                <a:cs typeface="Calibri" pitchFamily="34" charset="-120"/>
              </a:rPr>
              <a:t>Shared source — runs once</a:t>
            </a:r>
            <a:endParaRPr lang="en-US" sz="950" dirty="0"/>
          </a:p>
        </p:txBody>
      </p:sp>
      <p:sp>
        <p:nvSpPr>
          <p:cNvPr id="55" name="Shape 53"/>
          <p:cNvSpPr/>
          <p:nvPr/>
        </p:nvSpPr>
        <p:spPr>
          <a:xfrm>
            <a:off x="320040" y="4645152"/>
            <a:ext cx="8503920" cy="310896"/>
          </a:xfrm>
          <a:prstGeom prst="roundRect">
            <a:avLst>
              <a:gd name="adj" fmla="val 23529"/>
            </a:avLst>
          </a:prstGeom>
          <a:solidFill>
            <a:srgbClr val="FFF8EC"/>
          </a:solidFill>
          <a:ln w="12700">
            <a:solidFill>
              <a:srgbClr val="C9A84C"/>
            </a:solidFill>
            <a:prstDash val="solid"/>
          </a:ln>
        </p:spPr>
      </p:sp>
      <p:sp>
        <p:nvSpPr>
          <p:cNvPr id="56" name="Text 54"/>
          <p:cNvSpPr/>
          <p:nvPr/>
        </p:nvSpPr>
        <p:spPr>
          <a:xfrm>
            <a:off x="457200" y="4663440"/>
            <a:ext cx="8229600" cy="256032"/>
          </a:xfrm>
          <a:prstGeom prst="rect">
            <a:avLst/>
          </a:prstGeom>
          <a:noFill/>
          <a:ln/>
        </p:spPr>
        <p:txBody>
          <a:bodyPr wrap="square" lIns="0" tIns="0" rIns="0" bIns="0" rtlCol="0" anchor="ctr"/>
          <a:lstStyle/>
          <a:p>
            <a:pPr indent="0" marL="0">
              <a:buNone/>
            </a:pPr>
            <a:r>
              <a:rPr lang="en-US" sz="850" dirty="0">
                <a:solidFill>
                  <a:srgbClr val="1A2F38"/>
                </a:solidFill>
                <a:latin typeface="Calibri" pitchFamily="34" charset="0"/>
                <a:ea typeface="Calibri" pitchFamily="34" charset="-122"/>
                <a:cs typeface="Calibri" pitchFamily="34" charset="-120"/>
              </a:rPr>
              <a:t>Silver SCD2 Model: corrections expire original row (is_current=0) → insert corrected row (is_current=1). Bad rows NEVER deleted — retained for audit and regulatory review.</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F5C6B"/>
          </a:solidFill>
          <a:ln w="12700">
            <a:solidFill>
              <a:srgbClr val="1F5C6B"/>
            </a:solidFill>
            <a:prstDash val="solid"/>
          </a:ln>
        </p:spPr>
      </p:sp>
      <p:sp>
        <p:nvSpPr>
          <p:cNvPr id="3" name="Shape 1"/>
          <p:cNvSpPr/>
          <p:nvPr/>
        </p:nvSpPr>
        <p:spPr>
          <a:xfrm>
            <a:off x="201168" y="0"/>
            <a:ext cx="8942832" cy="685800"/>
          </a:xfrm>
          <a:prstGeom prst="rect">
            <a:avLst/>
          </a:prstGeom>
          <a:solidFill>
            <a:srgbClr val="1A2F4A"/>
          </a:solidFill>
          <a:ln w="12700">
            <a:solidFill>
              <a:srgbClr val="1A2F4A"/>
            </a:solidFill>
            <a:prstDash val="solid"/>
          </a:ln>
        </p:spPr>
      </p:sp>
      <p:sp>
        <p:nvSpPr>
          <p:cNvPr id="4" name="Text 2"/>
          <p:cNvSpPr/>
          <p:nvPr/>
        </p:nvSpPr>
        <p:spPr>
          <a:xfrm>
            <a:off x="384048" y="54864"/>
            <a:ext cx="5943600" cy="56692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Platform Architecture</a:t>
            </a:r>
            <a:endParaRPr lang="en-US" sz="2000" dirty="0"/>
          </a:p>
        </p:txBody>
      </p:sp>
      <p:sp>
        <p:nvSpPr>
          <p:cNvPr id="5" name="Text 3"/>
          <p:cNvSpPr/>
          <p:nvPr/>
        </p:nvSpPr>
        <p:spPr>
          <a:xfrm>
            <a:off x="384048" y="54864"/>
            <a:ext cx="8412480" cy="566928"/>
          </a:xfrm>
          <a:prstGeom prst="rect">
            <a:avLst/>
          </a:prstGeom>
          <a:noFill/>
          <a:ln/>
        </p:spPr>
        <p:txBody>
          <a:bodyPr wrap="square" lIns="0" tIns="0" rIns="0" bIns="0" rtlCol="0" anchor="ctr"/>
          <a:lstStyle/>
          <a:p>
            <a:pPr algn="r" indent="0" marL="0">
              <a:buNone/>
            </a:pPr>
            <a:r>
              <a:rPr lang="en-US" sz="1100" dirty="0">
                <a:solidFill>
                  <a:srgbClr val="F0D98C"/>
                </a:solidFill>
                <a:latin typeface="Calibri" pitchFamily="34" charset="0"/>
                <a:ea typeface="Calibri" pitchFamily="34" charset="-122"/>
                <a:cs typeface="Calibri" pitchFamily="34" charset="-120"/>
              </a:rPr>
              <a:t>Four Airflow DAGs — Orchestration Layer</a:t>
            </a:r>
            <a:endParaRPr lang="en-US" sz="1100" dirty="0"/>
          </a:p>
        </p:txBody>
      </p:sp>
      <p:sp>
        <p:nvSpPr>
          <p:cNvPr id="6" name="Shape 4"/>
          <p:cNvSpPr/>
          <p:nvPr/>
        </p:nvSpPr>
        <p:spPr>
          <a:xfrm>
            <a:off x="201168" y="4919472"/>
            <a:ext cx="8942832" cy="224028"/>
          </a:xfrm>
          <a:prstGeom prst="rect">
            <a:avLst/>
          </a:prstGeom>
          <a:solidFill>
            <a:srgbClr val="D0ECF2"/>
          </a:solidFill>
          <a:ln w="12700">
            <a:solidFill>
              <a:srgbClr val="D0ECF2"/>
            </a:solidFill>
            <a:prstDash val="solid"/>
          </a:ln>
        </p:spPr>
      </p:sp>
      <p:sp>
        <p:nvSpPr>
          <p:cNvPr id="7" name="Text 5"/>
          <p:cNvSpPr/>
          <p:nvPr/>
        </p:nvSpPr>
        <p:spPr>
          <a:xfrm>
            <a:off x="384048" y="4928616"/>
            <a:ext cx="8595360" cy="201168"/>
          </a:xfrm>
          <a:prstGeom prst="rect">
            <a:avLst/>
          </a:prstGeom>
          <a:noFill/>
          <a:ln/>
        </p:spPr>
        <p:txBody>
          <a:bodyPr wrap="square" rtlCol="0" anchor="ctr"/>
          <a:lstStyle/>
          <a:p>
            <a:pPr indent="0" marL="0">
              <a:buNone/>
            </a:pPr>
            <a:r>
              <a:rPr lang="en-US" sz="800" dirty="0">
                <a:solidFill>
                  <a:srgbClr val="1F5C6B"/>
                </a:solidFill>
                <a:latin typeface="Calibri" pitchFamily="34" charset="0"/>
                <a:ea typeface="Calibri" pitchFamily="34" charset="-122"/>
                <a:cs typeface="Calibri" pitchFamily="34" charset="-120"/>
              </a:rPr>
              <a:t>BBH Capital Partners  |  SWP Migration  |  Confidential</a:t>
            </a:r>
            <a:endParaRPr lang="en-US" sz="800" dirty="0"/>
          </a:p>
        </p:txBody>
      </p:sp>
      <p:sp>
        <p:nvSpPr>
          <p:cNvPr id="8" name="Shape 6"/>
          <p:cNvSpPr/>
          <p:nvPr/>
        </p:nvSpPr>
        <p:spPr>
          <a:xfrm>
            <a:off x="320040" y="804672"/>
            <a:ext cx="4114800" cy="1719072"/>
          </a:xfrm>
          <a:prstGeom prst="roundRect">
            <a:avLst>
              <a:gd name="adj" fmla="val 4255"/>
            </a:avLst>
          </a:prstGeom>
          <a:solidFill>
            <a:srgbClr val="FFFFFF"/>
          </a:solidFill>
          <a:ln w="12700">
            <a:solidFill>
              <a:srgbClr val="D0ECF2"/>
            </a:solidFill>
            <a:prstDash val="solid"/>
          </a:ln>
          <a:effectLst>
            <a:outerShdw sx="100000" sy="100000" kx="0" ky="0" algn="bl" rotWithShape="0" blurRad="101600" dist="38100" dir="2700000">
              <a:srgbClr val="000000">
                <a:alpha val="10000"/>
              </a:srgbClr>
            </a:outerShdw>
          </a:effectLst>
        </p:spPr>
      </p:sp>
      <p:sp>
        <p:nvSpPr>
          <p:cNvPr id="9" name="Shape 7"/>
          <p:cNvSpPr/>
          <p:nvPr/>
        </p:nvSpPr>
        <p:spPr>
          <a:xfrm>
            <a:off x="429768" y="914400"/>
            <a:ext cx="822960" cy="219456"/>
          </a:xfrm>
          <a:prstGeom prst="roundRect">
            <a:avLst>
              <a:gd name="adj" fmla="val 20833"/>
            </a:avLst>
          </a:prstGeom>
          <a:solidFill>
            <a:srgbClr val="1F5C6B"/>
          </a:solidFill>
          <a:ln w="12700">
            <a:solidFill>
              <a:srgbClr val="FFFFFF"/>
            </a:solidFill>
            <a:prstDash val="solid"/>
          </a:ln>
        </p:spPr>
      </p:sp>
      <p:sp>
        <p:nvSpPr>
          <p:cNvPr id="10" name="Text 8"/>
          <p:cNvSpPr/>
          <p:nvPr/>
        </p:nvSpPr>
        <p:spPr>
          <a:xfrm>
            <a:off x="429768" y="914400"/>
            <a:ext cx="822960"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PRIMARY</a:t>
            </a:r>
            <a:endParaRPr lang="en-US" sz="800" dirty="0"/>
          </a:p>
        </p:txBody>
      </p:sp>
      <p:sp>
        <p:nvSpPr>
          <p:cNvPr id="11" name="Text 9"/>
          <p:cNvSpPr/>
          <p:nvPr/>
        </p:nvSpPr>
        <p:spPr>
          <a:xfrm>
            <a:off x="1325880" y="886968"/>
            <a:ext cx="2999232" cy="274320"/>
          </a:xfrm>
          <a:prstGeom prst="rect">
            <a:avLst/>
          </a:prstGeom>
          <a:noFill/>
          <a:ln/>
        </p:spPr>
        <p:txBody>
          <a:bodyPr wrap="square" lIns="0" tIns="0" rIns="0" bIns="0" rtlCol="0" anchor="ctr"/>
          <a:lstStyle/>
          <a:p>
            <a:pPr indent="0" marL="0">
              <a:buNone/>
            </a:pPr>
            <a:r>
              <a:rPr lang="en-US" sz="950" b="1" dirty="0">
                <a:solidFill>
                  <a:srgbClr val="1A2F38"/>
                </a:solidFill>
                <a:latin typeface="Courier New" pitchFamily="34" charset="0"/>
                <a:ea typeface="Courier New" pitchFamily="34" charset="-122"/>
                <a:cs typeface="Courier New" pitchFamily="34" charset="-120"/>
              </a:rPr>
              <a:t>sei_file_watcher</a:t>
            </a:r>
            <a:endParaRPr lang="en-US" sz="950" dirty="0"/>
          </a:p>
        </p:txBody>
      </p:sp>
      <p:sp>
        <p:nvSpPr>
          <p:cNvPr id="12" name="Text 10"/>
          <p:cNvSpPr/>
          <p:nvPr/>
        </p:nvSpPr>
        <p:spPr>
          <a:xfrm>
            <a:off x="429768" y="1207008"/>
            <a:ext cx="3895344" cy="256032"/>
          </a:xfrm>
          <a:prstGeom prst="rect">
            <a:avLst/>
          </a:prstGeom>
          <a:noFill/>
          <a:ln/>
        </p:spPr>
        <p:txBody>
          <a:bodyPr wrap="square" lIns="0" tIns="0" rIns="0" bIns="0" rtlCol="0" anchor="ctr"/>
          <a:lstStyle/>
          <a:p>
            <a:pPr indent="0" marL="0">
              <a:buNone/>
            </a:pPr>
            <a:r>
              <a:rPr lang="en-US" sz="950" i="1" dirty="0">
                <a:solidFill>
                  <a:srgbClr val="2A7A8C"/>
                </a:solidFill>
                <a:latin typeface="Calibri" pitchFamily="34" charset="0"/>
                <a:ea typeface="Calibri" pitchFamily="34" charset="-122"/>
                <a:cs typeface="Calibri" pitchFamily="34" charset="-120"/>
              </a:rPr>
              <a:t>Event-driven file sensor — production workhorse</a:t>
            </a:r>
            <a:endParaRPr lang="en-US" sz="950" dirty="0"/>
          </a:p>
        </p:txBody>
      </p:sp>
      <p:sp>
        <p:nvSpPr>
          <p:cNvPr id="13" name="Shape 11"/>
          <p:cNvSpPr/>
          <p:nvPr/>
        </p:nvSpPr>
        <p:spPr>
          <a:xfrm>
            <a:off x="466344" y="1536192"/>
            <a:ext cx="82296" cy="82296"/>
          </a:xfrm>
          <a:prstGeom prst="ellipse">
            <a:avLst/>
          </a:prstGeom>
          <a:solidFill>
            <a:srgbClr val="1F5C6B"/>
          </a:solidFill>
          <a:ln w="12700">
            <a:solidFill>
              <a:srgbClr val="1F5C6B"/>
            </a:solidFill>
            <a:prstDash val="solid"/>
          </a:ln>
        </p:spPr>
      </p:sp>
      <p:sp>
        <p:nvSpPr>
          <p:cNvPr id="14" name="Text 12"/>
          <p:cNvSpPr/>
          <p:nvPr/>
        </p:nvSpPr>
        <p:spPr>
          <a:xfrm>
            <a:off x="612648" y="1490472"/>
            <a:ext cx="3703320" cy="228600"/>
          </a:xfrm>
          <a:prstGeom prst="rect">
            <a:avLst/>
          </a:prstGeom>
          <a:noFill/>
          <a:ln/>
        </p:spPr>
        <p:txBody>
          <a:bodyPr wrap="square" lIns="0" tIns="0" rIns="0" bIns="0" rtlCol="0" anchor="ctr"/>
          <a:lstStyle/>
          <a:p>
            <a:pPr indent="0" marL="0">
              <a:buNone/>
            </a:pPr>
            <a:r>
              <a:rPr lang="en-US" sz="850" dirty="0">
                <a:solidFill>
                  <a:srgbClr val="1A2F38"/>
                </a:solidFill>
                <a:latin typeface="Calibri" pitchFamily="34" charset="0"/>
                <a:ea typeface="Calibri" pitchFamily="34" charset="-122"/>
                <a:cs typeface="Calibri" pitchFamily="34" charset="-120"/>
              </a:rPr>
              <a:t>Polls incoming/ every 30s, classifies by record_type</a:t>
            </a:r>
            <a:endParaRPr lang="en-US" sz="850" dirty="0"/>
          </a:p>
        </p:txBody>
      </p:sp>
      <p:sp>
        <p:nvSpPr>
          <p:cNvPr id="15" name="Shape 13"/>
          <p:cNvSpPr/>
          <p:nvPr/>
        </p:nvSpPr>
        <p:spPr>
          <a:xfrm>
            <a:off x="466344" y="1773936"/>
            <a:ext cx="82296" cy="82296"/>
          </a:xfrm>
          <a:prstGeom prst="ellipse">
            <a:avLst/>
          </a:prstGeom>
          <a:solidFill>
            <a:srgbClr val="1F5C6B"/>
          </a:solidFill>
          <a:ln w="12700">
            <a:solidFill>
              <a:srgbClr val="1F5C6B"/>
            </a:solidFill>
            <a:prstDash val="solid"/>
          </a:ln>
        </p:spPr>
      </p:sp>
      <p:sp>
        <p:nvSpPr>
          <p:cNvPr id="16" name="Text 14"/>
          <p:cNvSpPr/>
          <p:nvPr/>
        </p:nvSpPr>
        <p:spPr>
          <a:xfrm>
            <a:off x="612648" y="1728216"/>
            <a:ext cx="3703320" cy="228600"/>
          </a:xfrm>
          <a:prstGeom prst="rect">
            <a:avLst/>
          </a:prstGeom>
          <a:noFill/>
          <a:ln/>
        </p:spPr>
        <p:txBody>
          <a:bodyPr wrap="square" lIns="0" tIns="0" rIns="0" bIns="0" rtlCol="0" anchor="ctr"/>
          <a:lstStyle/>
          <a:p>
            <a:pPr indent="0" marL="0">
              <a:buNone/>
            </a:pPr>
            <a:r>
              <a:rPr lang="en-US" sz="850" dirty="0">
                <a:solidFill>
                  <a:srgbClr val="1A2F38"/>
                </a:solidFill>
                <a:latin typeface="Calibri" pitchFamily="34" charset="0"/>
                <a:ea typeface="Calibri" pitchFamily="34" charset="-122"/>
                <a:cs typeface="Calibri" pitchFamily="34" charset="-120"/>
              </a:rPr>
              <a:t>Branches to normal, backfill, correction handlers in parallel</a:t>
            </a:r>
            <a:endParaRPr lang="en-US" sz="850" dirty="0"/>
          </a:p>
        </p:txBody>
      </p:sp>
      <p:sp>
        <p:nvSpPr>
          <p:cNvPr id="17" name="Shape 15"/>
          <p:cNvSpPr/>
          <p:nvPr/>
        </p:nvSpPr>
        <p:spPr>
          <a:xfrm>
            <a:off x="466344" y="2011680"/>
            <a:ext cx="82296" cy="82296"/>
          </a:xfrm>
          <a:prstGeom prst="ellipse">
            <a:avLst/>
          </a:prstGeom>
          <a:solidFill>
            <a:srgbClr val="1F5C6B"/>
          </a:solidFill>
          <a:ln w="12700">
            <a:solidFill>
              <a:srgbClr val="1F5C6B"/>
            </a:solidFill>
            <a:prstDash val="solid"/>
          </a:ln>
        </p:spPr>
      </p:sp>
      <p:sp>
        <p:nvSpPr>
          <p:cNvPr id="18" name="Text 16"/>
          <p:cNvSpPr/>
          <p:nvPr/>
        </p:nvSpPr>
        <p:spPr>
          <a:xfrm>
            <a:off x="612648" y="1965960"/>
            <a:ext cx="3703320" cy="228600"/>
          </a:xfrm>
          <a:prstGeom prst="rect">
            <a:avLst/>
          </a:prstGeom>
          <a:noFill/>
          <a:ln/>
        </p:spPr>
        <p:txBody>
          <a:bodyPr wrap="square" lIns="0" tIns="0" rIns="0" bIns="0" rtlCol="0" anchor="ctr"/>
          <a:lstStyle/>
          <a:p>
            <a:pPr indent="0" marL="0">
              <a:buNone/>
            </a:pPr>
            <a:r>
              <a:rPr lang="en-US" sz="850" dirty="0">
                <a:solidFill>
                  <a:srgbClr val="1A2F38"/>
                </a:solidFill>
                <a:latin typeface="Calibri" pitchFamily="34" charset="0"/>
                <a:ea typeface="Calibri" pitchFamily="34" charset="-122"/>
                <a:cs typeface="Calibri" pitchFamily="34" charset="-120"/>
              </a:rPr>
              <a:t>Runs dbt → publishes to PBDW + IMDW</a:t>
            </a:r>
            <a:endParaRPr lang="en-US" sz="850" dirty="0"/>
          </a:p>
        </p:txBody>
      </p:sp>
      <p:sp>
        <p:nvSpPr>
          <p:cNvPr id="19" name="Shape 17"/>
          <p:cNvSpPr/>
          <p:nvPr/>
        </p:nvSpPr>
        <p:spPr>
          <a:xfrm>
            <a:off x="466344" y="2249424"/>
            <a:ext cx="82296" cy="82296"/>
          </a:xfrm>
          <a:prstGeom prst="ellipse">
            <a:avLst/>
          </a:prstGeom>
          <a:solidFill>
            <a:srgbClr val="1F5C6B"/>
          </a:solidFill>
          <a:ln w="12700">
            <a:solidFill>
              <a:srgbClr val="1F5C6B"/>
            </a:solidFill>
            <a:prstDash val="solid"/>
          </a:ln>
        </p:spPr>
      </p:sp>
      <p:sp>
        <p:nvSpPr>
          <p:cNvPr id="20" name="Text 18"/>
          <p:cNvSpPr/>
          <p:nvPr/>
        </p:nvSpPr>
        <p:spPr>
          <a:xfrm>
            <a:off x="612648" y="2203704"/>
            <a:ext cx="3703320" cy="228600"/>
          </a:xfrm>
          <a:prstGeom prst="rect">
            <a:avLst/>
          </a:prstGeom>
          <a:noFill/>
          <a:ln/>
        </p:spPr>
        <p:txBody>
          <a:bodyPr wrap="square" lIns="0" tIns="0" rIns="0" bIns="0" rtlCol="0" anchor="ctr"/>
          <a:lstStyle/>
          <a:p>
            <a:pPr indent="0" marL="0">
              <a:buNone/>
            </a:pPr>
            <a:r>
              <a:rPr lang="en-US" sz="850" dirty="0">
                <a:solidFill>
                  <a:srgbClr val="1A2F38"/>
                </a:solidFill>
                <a:latin typeface="Calibri" pitchFamily="34" charset="0"/>
                <a:ea typeface="Calibri" pitchFamily="34" charset="-122"/>
                <a:cs typeface="Calibri" pitchFamily="34" charset="-120"/>
              </a:rPr>
              <a:t>Scheduled every 2 min (outer loop)</a:t>
            </a:r>
            <a:endParaRPr lang="en-US" sz="850" dirty="0"/>
          </a:p>
        </p:txBody>
      </p:sp>
      <p:sp>
        <p:nvSpPr>
          <p:cNvPr id="21" name="Shape 19"/>
          <p:cNvSpPr/>
          <p:nvPr/>
        </p:nvSpPr>
        <p:spPr>
          <a:xfrm>
            <a:off x="4663440" y="804672"/>
            <a:ext cx="4114800" cy="1719072"/>
          </a:xfrm>
          <a:prstGeom prst="roundRect">
            <a:avLst>
              <a:gd name="adj" fmla="val 4255"/>
            </a:avLst>
          </a:prstGeom>
          <a:solidFill>
            <a:srgbClr val="FFFFFF"/>
          </a:solidFill>
          <a:ln w="12700">
            <a:solidFill>
              <a:srgbClr val="D0ECF2"/>
            </a:solidFill>
            <a:prstDash val="solid"/>
          </a:ln>
          <a:effectLst>
            <a:outerShdw sx="100000" sy="100000" kx="0" ky="0" algn="bl" rotWithShape="0" blurRad="101600" dist="38100" dir="2700000">
              <a:srgbClr val="000000">
                <a:alpha val="10000"/>
              </a:srgbClr>
            </a:outerShdw>
          </a:effectLst>
        </p:spPr>
      </p:sp>
      <p:sp>
        <p:nvSpPr>
          <p:cNvPr id="22" name="Shape 20"/>
          <p:cNvSpPr/>
          <p:nvPr/>
        </p:nvSpPr>
        <p:spPr>
          <a:xfrm>
            <a:off x="4773168" y="914400"/>
            <a:ext cx="822960" cy="219456"/>
          </a:xfrm>
          <a:prstGeom prst="roundRect">
            <a:avLst>
              <a:gd name="adj" fmla="val 20833"/>
            </a:avLst>
          </a:prstGeom>
          <a:solidFill>
            <a:srgbClr val="4A6572"/>
          </a:solidFill>
          <a:ln w="12700">
            <a:solidFill>
              <a:srgbClr val="FFFFFF"/>
            </a:solidFill>
            <a:prstDash val="solid"/>
          </a:ln>
        </p:spPr>
      </p:sp>
      <p:sp>
        <p:nvSpPr>
          <p:cNvPr id="23" name="Text 21"/>
          <p:cNvSpPr/>
          <p:nvPr/>
        </p:nvSpPr>
        <p:spPr>
          <a:xfrm>
            <a:off x="4773168" y="914400"/>
            <a:ext cx="822960"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API DEMO</a:t>
            </a:r>
            <a:endParaRPr lang="en-US" sz="800" dirty="0"/>
          </a:p>
        </p:txBody>
      </p:sp>
      <p:sp>
        <p:nvSpPr>
          <p:cNvPr id="24" name="Text 22"/>
          <p:cNvSpPr/>
          <p:nvPr/>
        </p:nvSpPr>
        <p:spPr>
          <a:xfrm>
            <a:off x="5669280" y="886968"/>
            <a:ext cx="2999232" cy="274320"/>
          </a:xfrm>
          <a:prstGeom prst="rect">
            <a:avLst/>
          </a:prstGeom>
          <a:noFill/>
          <a:ln/>
        </p:spPr>
        <p:txBody>
          <a:bodyPr wrap="square" lIns="0" tIns="0" rIns="0" bIns="0" rtlCol="0" anchor="ctr"/>
          <a:lstStyle/>
          <a:p>
            <a:pPr indent="0" marL="0">
              <a:buNone/>
            </a:pPr>
            <a:r>
              <a:rPr lang="en-US" sz="950" b="1" dirty="0">
                <a:solidFill>
                  <a:srgbClr val="1A2F38"/>
                </a:solidFill>
                <a:latin typeface="Courier New" pitchFamily="34" charset="0"/>
                <a:ea typeface="Courier New" pitchFamily="34" charset="-122"/>
                <a:cs typeface="Courier New" pitchFamily="34" charset="-120"/>
              </a:rPr>
              <a:t>sei_accounting_transform</a:t>
            </a:r>
            <a:endParaRPr lang="en-US" sz="950" dirty="0"/>
          </a:p>
        </p:txBody>
      </p:sp>
      <p:sp>
        <p:nvSpPr>
          <p:cNvPr id="25" name="Text 23"/>
          <p:cNvSpPr/>
          <p:nvPr/>
        </p:nvSpPr>
        <p:spPr>
          <a:xfrm>
            <a:off x="4773168" y="1207008"/>
            <a:ext cx="3895344" cy="256032"/>
          </a:xfrm>
          <a:prstGeom prst="rect">
            <a:avLst/>
          </a:prstGeom>
          <a:noFill/>
          <a:ln/>
        </p:spPr>
        <p:txBody>
          <a:bodyPr wrap="square" lIns="0" tIns="0" rIns="0" bIns="0" rtlCol="0" anchor="ctr"/>
          <a:lstStyle/>
          <a:p>
            <a:pPr indent="0" marL="0">
              <a:buNone/>
            </a:pPr>
            <a:r>
              <a:rPr lang="en-US" sz="950" i="1" dirty="0">
                <a:solidFill>
                  <a:srgbClr val="2A7A8C"/>
                </a:solidFill>
                <a:latin typeface="Calibri" pitchFamily="34" charset="0"/>
                <a:ea typeface="Calibri" pitchFamily="34" charset="-122"/>
                <a:cs typeface="Calibri" pitchFamily="34" charset="-120"/>
              </a:rPr>
              <a:t>API-based extraction with error handling</a:t>
            </a:r>
            <a:endParaRPr lang="en-US" sz="950" dirty="0"/>
          </a:p>
        </p:txBody>
      </p:sp>
      <p:sp>
        <p:nvSpPr>
          <p:cNvPr id="26" name="Shape 24"/>
          <p:cNvSpPr/>
          <p:nvPr/>
        </p:nvSpPr>
        <p:spPr>
          <a:xfrm>
            <a:off x="4809744" y="1536192"/>
            <a:ext cx="82296" cy="82296"/>
          </a:xfrm>
          <a:prstGeom prst="ellipse">
            <a:avLst/>
          </a:prstGeom>
          <a:solidFill>
            <a:srgbClr val="4A6572"/>
          </a:solidFill>
          <a:ln w="12700">
            <a:solidFill>
              <a:srgbClr val="4A6572"/>
            </a:solidFill>
            <a:prstDash val="solid"/>
          </a:ln>
        </p:spPr>
      </p:sp>
      <p:sp>
        <p:nvSpPr>
          <p:cNvPr id="27" name="Text 25"/>
          <p:cNvSpPr/>
          <p:nvPr/>
        </p:nvSpPr>
        <p:spPr>
          <a:xfrm>
            <a:off x="4956048" y="1490472"/>
            <a:ext cx="3703320" cy="228600"/>
          </a:xfrm>
          <a:prstGeom prst="rect">
            <a:avLst/>
          </a:prstGeom>
          <a:noFill/>
          <a:ln/>
        </p:spPr>
        <p:txBody>
          <a:bodyPr wrap="square" lIns="0" tIns="0" rIns="0" bIns="0" rtlCol="0" anchor="ctr"/>
          <a:lstStyle/>
          <a:p>
            <a:pPr indent="0" marL="0">
              <a:buNone/>
            </a:pPr>
            <a:r>
              <a:rPr lang="en-US" sz="850" dirty="0">
                <a:solidFill>
                  <a:srgbClr val="1A2F38"/>
                </a:solidFill>
                <a:latin typeface="Calibri" pitchFamily="34" charset="0"/>
                <a:ea typeface="Calibri" pitchFamily="34" charset="-122"/>
                <a:cs typeface="Calibri" pitchFamily="34" charset="-120"/>
              </a:rPr>
              <a:t>Fetches accounts, transactions, NAV from SEI API</a:t>
            </a:r>
            <a:endParaRPr lang="en-US" sz="850" dirty="0"/>
          </a:p>
        </p:txBody>
      </p:sp>
      <p:sp>
        <p:nvSpPr>
          <p:cNvPr id="28" name="Shape 26"/>
          <p:cNvSpPr/>
          <p:nvPr/>
        </p:nvSpPr>
        <p:spPr>
          <a:xfrm>
            <a:off x="4809744" y="1773936"/>
            <a:ext cx="82296" cy="82296"/>
          </a:xfrm>
          <a:prstGeom prst="ellipse">
            <a:avLst/>
          </a:prstGeom>
          <a:solidFill>
            <a:srgbClr val="4A6572"/>
          </a:solidFill>
          <a:ln w="12700">
            <a:solidFill>
              <a:srgbClr val="4A6572"/>
            </a:solidFill>
            <a:prstDash val="solid"/>
          </a:ln>
        </p:spPr>
      </p:sp>
      <p:sp>
        <p:nvSpPr>
          <p:cNvPr id="29" name="Text 27"/>
          <p:cNvSpPr/>
          <p:nvPr/>
        </p:nvSpPr>
        <p:spPr>
          <a:xfrm>
            <a:off x="4956048" y="1728216"/>
            <a:ext cx="3703320" cy="228600"/>
          </a:xfrm>
          <a:prstGeom prst="rect">
            <a:avLst/>
          </a:prstGeom>
          <a:noFill/>
          <a:ln/>
        </p:spPr>
        <p:txBody>
          <a:bodyPr wrap="square" lIns="0" tIns="0" rIns="0" bIns="0" rtlCol="0" anchor="ctr"/>
          <a:lstStyle/>
          <a:p>
            <a:pPr indent="0" marL="0">
              <a:buNone/>
            </a:pPr>
            <a:r>
              <a:rPr lang="en-US" sz="850" dirty="0">
                <a:solidFill>
                  <a:srgbClr val="1A2F38"/>
                </a:solidFill>
                <a:latin typeface="Calibri" pitchFamily="34" charset="0"/>
                <a:ea typeface="Calibri" pitchFamily="34" charset="-122"/>
                <a:cs typeface="Calibri" pitchFamily="34" charset="-120"/>
              </a:rPr>
              <a:t>Circuit breaker, retry, auto-fix demonstrations</a:t>
            </a:r>
            <a:endParaRPr lang="en-US" sz="850" dirty="0"/>
          </a:p>
        </p:txBody>
      </p:sp>
      <p:sp>
        <p:nvSpPr>
          <p:cNvPr id="30" name="Shape 28"/>
          <p:cNvSpPr/>
          <p:nvPr/>
        </p:nvSpPr>
        <p:spPr>
          <a:xfrm>
            <a:off x="4809744" y="2011680"/>
            <a:ext cx="82296" cy="82296"/>
          </a:xfrm>
          <a:prstGeom prst="ellipse">
            <a:avLst/>
          </a:prstGeom>
          <a:solidFill>
            <a:srgbClr val="4A6572"/>
          </a:solidFill>
          <a:ln w="12700">
            <a:solidFill>
              <a:srgbClr val="4A6572"/>
            </a:solidFill>
            <a:prstDash val="solid"/>
          </a:ln>
        </p:spPr>
      </p:sp>
      <p:sp>
        <p:nvSpPr>
          <p:cNvPr id="31" name="Text 29"/>
          <p:cNvSpPr/>
          <p:nvPr/>
        </p:nvSpPr>
        <p:spPr>
          <a:xfrm>
            <a:off x="4956048" y="1965960"/>
            <a:ext cx="3703320" cy="228600"/>
          </a:xfrm>
          <a:prstGeom prst="rect">
            <a:avLst/>
          </a:prstGeom>
          <a:noFill/>
          <a:ln/>
        </p:spPr>
        <p:txBody>
          <a:bodyPr wrap="square" lIns="0" tIns="0" rIns="0" bIns="0" rtlCol="0" anchor="ctr"/>
          <a:lstStyle/>
          <a:p>
            <a:pPr indent="0" marL="0">
              <a:buNone/>
            </a:pPr>
            <a:r>
              <a:rPr lang="en-US" sz="850" dirty="0">
                <a:solidFill>
                  <a:srgbClr val="1A2F38"/>
                </a:solidFill>
                <a:latin typeface="Calibri" pitchFamily="34" charset="0"/>
                <a:ea typeface="Calibri" pitchFamily="34" charset="-122"/>
                <a:cs typeface="Calibri" pitchFamily="34" charset="-120"/>
              </a:rPr>
              <a:t>Validation gate: CRITICAL halts, ERROR skips account</a:t>
            </a:r>
            <a:endParaRPr lang="en-US" sz="850" dirty="0"/>
          </a:p>
        </p:txBody>
      </p:sp>
      <p:sp>
        <p:nvSpPr>
          <p:cNvPr id="32" name="Shape 30"/>
          <p:cNvSpPr/>
          <p:nvPr/>
        </p:nvSpPr>
        <p:spPr>
          <a:xfrm>
            <a:off x="320040" y="2743200"/>
            <a:ext cx="4114800" cy="1719072"/>
          </a:xfrm>
          <a:prstGeom prst="roundRect">
            <a:avLst>
              <a:gd name="adj" fmla="val 4255"/>
            </a:avLst>
          </a:prstGeom>
          <a:solidFill>
            <a:srgbClr val="FFFFFF"/>
          </a:solidFill>
          <a:ln w="12700">
            <a:solidFill>
              <a:srgbClr val="D0ECF2"/>
            </a:solidFill>
            <a:prstDash val="solid"/>
          </a:ln>
          <a:effectLst>
            <a:outerShdw sx="100000" sy="100000" kx="0" ky="0" algn="bl" rotWithShape="0" blurRad="101600" dist="38100" dir="2700000">
              <a:srgbClr val="000000">
                <a:alpha val="10000"/>
              </a:srgbClr>
            </a:outerShdw>
          </a:effectLst>
        </p:spPr>
      </p:sp>
      <p:sp>
        <p:nvSpPr>
          <p:cNvPr id="33" name="Shape 31"/>
          <p:cNvSpPr/>
          <p:nvPr/>
        </p:nvSpPr>
        <p:spPr>
          <a:xfrm>
            <a:off x="429768" y="2852928"/>
            <a:ext cx="822960" cy="219456"/>
          </a:xfrm>
          <a:prstGeom prst="roundRect">
            <a:avLst>
              <a:gd name="adj" fmla="val 20833"/>
            </a:avLst>
          </a:prstGeom>
          <a:solidFill>
            <a:srgbClr val="2E8B6E"/>
          </a:solidFill>
          <a:ln w="12700">
            <a:solidFill>
              <a:srgbClr val="FFFFFF"/>
            </a:solidFill>
            <a:prstDash val="solid"/>
          </a:ln>
        </p:spPr>
      </p:sp>
      <p:sp>
        <p:nvSpPr>
          <p:cNvPr id="34" name="Text 32"/>
          <p:cNvSpPr/>
          <p:nvPr/>
        </p:nvSpPr>
        <p:spPr>
          <a:xfrm>
            <a:off x="429768" y="2852928"/>
            <a:ext cx="822960"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PUBLISH</a:t>
            </a:r>
            <a:endParaRPr lang="en-US" sz="800" dirty="0"/>
          </a:p>
        </p:txBody>
      </p:sp>
      <p:sp>
        <p:nvSpPr>
          <p:cNvPr id="35" name="Text 33"/>
          <p:cNvSpPr/>
          <p:nvPr/>
        </p:nvSpPr>
        <p:spPr>
          <a:xfrm>
            <a:off x="1325880" y="2825496"/>
            <a:ext cx="2999232" cy="274320"/>
          </a:xfrm>
          <a:prstGeom prst="rect">
            <a:avLst/>
          </a:prstGeom>
          <a:noFill/>
          <a:ln/>
        </p:spPr>
        <p:txBody>
          <a:bodyPr wrap="square" lIns="0" tIns="0" rIns="0" bIns="0" rtlCol="0" anchor="ctr"/>
          <a:lstStyle/>
          <a:p>
            <a:pPr indent="0" marL="0">
              <a:buNone/>
            </a:pPr>
            <a:r>
              <a:rPr lang="en-US" sz="950" b="1" dirty="0">
                <a:solidFill>
                  <a:srgbClr val="1A2F38"/>
                </a:solidFill>
                <a:latin typeface="Courier New" pitchFamily="34" charset="0"/>
                <a:ea typeface="Courier New" pitchFamily="34" charset="-122"/>
                <a:cs typeface="Courier New" pitchFamily="34" charset="-120"/>
              </a:rPr>
              <a:t>sei_dual_publish</a:t>
            </a:r>
            <a:endParaRPr lang="en-US" sz="950" dirty="0"/>
          </a:p>
        </p:txBody>
      </p:sp>
      <p:sp>
        <p:nvSpPr>
          <p:cNvPr id="36" name="Text 34"/>
          <p:cNvSpPr/>
          <p:nvPr/>
        </p:nvSpPr>
        <p:spPr>
          <a:xfrm>
            <a:off x="429768" y="3145536"/>
            <a:ext cx="3895344" cy="256032"/>
          </a:xfrm>
          <a:prstGeom prst="rect">
            <a:avLst/>
          </a:prstGeom>
          <a:noFill/>
          <a:ln/>
        </p:spPr>
        <p:txBody>
          <a:bodyPr wrap="square" lIns="0" tIns="0" rIns="0" bIns="0" rtlCol="0" anchor="ctr"/>
          <a:lstStyle/>
          <a:p>
            <a:pPr indent="0" marL="0">
              <a:buNone/>
            </a:pPr>
            <a:r>
              <a:rPr lang="en-US" sz="950" i="1" dirty="0">
                <a:solidFill>
                  <a:srgbClr val="2A7A8C"/>
                </a:solidFill>
                <a:latin typeface="Calibri" pitchFamily="34" charset="0"/>
                <a:ea typeface="Calibri" pitchFamily="34" charset="-122"/>
                <a:cs typeface="Calibri" pitchFamily="34" charset="-120"/>
              </a:rPr>
              <a:t>PBDW + IMDW fan-out — independent failure</a:t>
            </a:r>
            <a:endParaRPr lang="en-US" sz="950" dirty="0"/>
          </a:p>
        </p:txBody>
      </p:sp>
      <p:sp>
        <p:nvSpPr>
          <p:cNvPr id="37" name="Shape 35"/>
          <p:cNvSpPr/>
          <p:nvPr/>
        </p:nvSpPr>
        <p:spPr>
          <a:xfrm>
            <a:off x="466344" y="3474720"/>
            <a:ext cx="82296" cy="82296"/>
          </a:xfrm>
          <a:prstGeom prst="ellipse">
            <a:avLst/>
          </a:prstGeom>
          <a:solidFill>
            <a:srgbClr val="2E8B6E"/>
          </a:solidFill>
          <a:ln w="12700">
            <a:solidFill>
              <a:srgbClr val="2E8B6E"/>
            </a:solidFill>
            <a:prstDash val="solid"/>
          </a:ln>
        </p:spPr>
      </p:sp>
      <p:sp>
        <p:nvSpPr>
          <p:cNvPr id="38" name="Text 36"/>
          <p:cNvSpPr/>
          <p:nvPr/>
        </p:nvSpPr>
        <p:spPr>
          <a:xfrm>
            <a:off x="612648" y="3429000"/>
            <a:ext cx="3703320" cy="228600"/>
          </a:xfrm>
          <a:prstGeom prst="rect">
            <a:avLst/>
          </a:prstGeom>
          <a:noFill/>
          <a:ln/>
        </p:spPr>
        <p:txBody>
          <a:bodyPr wrap="square" lIns="0" tIns="0" rIns="0" bIns="0" rtlCol="0" anchor="ctr"/>
          <a:lstStyle/>
          <a:p>
            <a:pPr indent="0" marL="0">
              <a:buNone/>
            </a:pPr>
            <a:r>
              <a:rPr lang="en-US" sz="850" dirty="0">
                <a:solidFill>
                  <a:srgbClr val="1A2F38"/>
                </a:solidFill>
                <a:latin typeface="Calibri" pitchFamily="34" charset="0"/>
                <a:ea typeface="Calibri" pitchFamily="34" charset="-122"/>
                <a:cs typeface="Calibri" pitchFamily="34" charset="-120"/>
              </a:rPr>
              <a:t>Tests connection before running dbt</a:t>
            </a:r>
            <a:endParaRPr lang="en-US" sz="850" dirty="0"/>
          </a:p>
        </p:txBody>
      </p:sp>
      <p:sp>
        <p:nvSpPr>
          <p:cNvPr id="39" name="Shape 37"/>
          <p:cNvSpPr/>
          <p:nvPr/>
        </p:nvSpPr>
        <p:spPr>
          <a:xfrm>
            <a:off x="466344" y="3712464"/>
            <a:ext cx="82296" cy="82296"/>
          </a:xfrm>
          <a:prstGeom prst="ellipse">
            <a:avLst/>
          </a:prstGeom>
          <a:solidFill>
            <a:srgbClr val="2E8B6E"/>
          </a:solidFill>
          <a:ln w="12700">
            <a:solidFill>
              <a:srgbClr val="2E8B6E"/>
            </a:solidFill>
            <a:prstDash val="solid"/>
          </a:ln>
        </p:spPr>
      </p:sp>
      <p:sp>
        <p:nvSpPr>
          <p:cNvPr id="40" name="Text 38"/>
          <p:cNvSpPr/>
          <p:nvPr/>
        </p:nvSpPr>
        <p:spPr>
          <a:xfrm>
            <a:off x="612648" y="3666744"/>
            <a:ext cx="3703320" cy="228600"/>
          </a:xfrm>
          <a:prstGeom prst="rect">
            <a:avLst/>
          </a:prstGeom>
          <a:noFill/>
          <a:ln/>
        </p:spPr>
        <p:txBody>
          <a:bodyPr wrap="square" lIns="0" tIns="0" rIns="0" bIns="0" rtlCol="0" anchor="ctr"/>
          <a:lstStyle/>
          <a:p>
            <a:pPr indent="0" marL="0">
              <a:buNone/>
            </a:pPr>
            <a:r>
              <a:rPr lang="en-US" sz="850" dirty="0">
                <a:solidFill>
                  <a:srgbClr val="1A2F38"/>
                </a:solidFill>
                <a:latin typeface="Calibri" pitchFamily="34" charset="0"/>
                <a:ea typeface="Calibri" pitchFamily="34" charset="-122"/>
                <a:cs typeface="Calibri" pitchFamily="34" charset="-120"/>
              </a:rPr>
              <a:t>PBDW and IMDW run in parallel</a:t>
            </a:r>
            <a:endParaRPr lang="en-US" sz="850" dirty="0"/>
          </a:p>
        </p:txBody>
      </p:sp>
      <p:sp>
        <p:nvSpPr>
          <p:cNvPr id="41" name="Shape 39"/>
          <p:cNvSpPr/>
          <p:nvPr/>
        </p:nvSpPr>
        <p:spPr>
          <a:xfrm>
            <a:off x="466344" y="3950208"/>
            <a:ext cx="82296" cy="82296"/>
          </a:xfrm>
          <a:prstGeom prst="ellipse">
            <a:avLst/>
          </a:prstGeom>
          <a:solidFill>
            <a:srgbClr val="2E8B6E"/>
          </a:solidFill>
          <a:ln w="12700">
            <a:solidFill>
              <a:srgbClr val="2E8B6E"/>
            </a:solidFill>
            <a:prstDash val="solid"/>
          </a:ln>
        </p:spPr>
      </p:sp>
      <p:sp>
        <p:nvSpPr>
          <p:cNvPr id="42" name="Text 40"/>
          <p:cNvSpPr/>
          <p:nvPr/>
        </p:nvSpPr>
        <p:spPr>
          <a:xfrm>
            <a:off x="612648" y="3904488"/>
            <a:ext cx="3703320" cy="228600"/>
          </a:xfrm>
          <a:prstGeom prst="rect">
            <a:avLst/>
          </a:prstGeom>
          <a:noFill/>
          <a:ln/>
        </p:spPr>
        <p:txBody>
          <a:bodyPr wrap="square" lIns="0" tIns="0" rIns="0" bIns="0" rtlCol="0" anchor="ctr"/>
          <a:lstStyle/>
          <a:p>
            <a:pPr indent="0" marL="0">
              <a:buNone/>
            </a:pPr>
            <a:r>
              <a:rPr lang="en-US" sz="850" dirty="0">
                <a:solidFill>
                  <a:srgbClr val="1A2F38"/>
                </a:solidFill>
                <a:latin typeface="Calibri" pitchFamily="34" charset="0"/>
                <a:ea typeface="Calibri" pitchFamily="34" charset="-122"/>
                <a:cs typeface="Calibri" pitchFamily="34" charset="-120"/>
              </a:rPr>
              <a:t>ONE_FAILED trigger for individual alerts</a:t>
            </a:r>
            <a:endParaRPr lang="en-US" sz="850" dirty="0"/>
          </a:p>
        </p:txBody>
      </p:sp>
      <p:sp>
        <p:nvSpPr>
          <p:cNvPr id="43" name="Shape 41"/>
          <p:cNvSpPr/>
          <p:nvPr/>
        </p:nvSpPr>
        <p:spPr>
          <a:xfrm>
            <a:off x="466344" y="4187952"/>
            <a:ext cx="82296" cy="82296"/>
          </a:xfrm>
          <a:prstGeom prst="ellipse">
            <a:avLst/>
          </a:prstGeom>
          <a:solidFill>
            <a:srgbClr val="2E8B6E"/>
          </a:solidFill>
          <a:ln w="12700">
            <a:solidFill>
              <a:srgbClr val="2E8B6E"/>
            </a:solidFill>
            <a:prstDash val="solid"/>
          </a:ln>
        </p:spPr>
      </p:sp>
      <p:sp>
        <p:nvSpPr>
          <p:cNvPr id="44" name="Text 42"/>
          <p:cNvSpPr/>
          <p:nvPr/>
        </p:nvSpPr>
        <p:spPr>
          <a:xfrm>
            <a:off x="612648" y="4142232"/>
            <a:ext cx="3703320" cy="228600"/>
          </a:xfrm>
          <a:prstGeom prst="rect">
            <a:avLst/>
          </a:prstGeom>
          <a:noFill/>
          <a:ln/>
        </p:spPr>
        <p:txBody>
          <a:bodyPr wrap="square" lIns="0" tIns="0" rIns="0" bIns="0" rtlCol="0" anchor="ctr"/>
          <a:lstStyle/>
          <a:p>
            <a:pPr indent="0" marL="0">
              <a:buNone/>
            </a:pPr>
            <a:r>
              <a:rPr lang="en-US" sz="850" dirty="0">
                <a:solidFill>
                  <a:srgbClr val="1A2F38"/>
                </a:solidFill>
                <a:latin typeface="Calibri" pitchFamily="34" charset="0"/>
                <a:ea typeface="Calibri" pitchFamily="34" charset="-122"/>
                <a:cs typeface="Calibri" pitchFamily="34" charset="-120"/>
              </a:rPr>
              <a:t>Summary always runs — ALL_DONE</a:t>
            </a:r>
            <a:endParaRPr lang="en-US" sz="850" dirty="0"/>
          </a:p>
        </p:txBody>
      </p:sp>
      <p:sp>
        <p:nvSpPr>
          <p:cNvPr id="45" name="Shape 43"/>
          <p:cNvSpPr/>
          <p:nvPr/>
        </p:nvSpPr>
        <p:spPr>
          <a:xfrm>
            <a:off x="4663440" y="2743200"/>
            <a:ext cx="4114800" cy="1719072"/>
          </a:xfrm>
          <a:prstGeom prst="roundRect">
            <a:avLst>
              <a:gd name="adj" fmla="val 4255"/>
            </a:avLst>
          </a:prstGeom>
          <a:solidFill>
            <a:srgbClr val="FFFFFF"/>
          </a:solidFill>
          <a:ln w="12700">
            <a:solidFill>
              <a:srgbClr val="D0ECF2"/>
            </a:solidFill>
            <a:prstDash val="solid"/>
          </a:ln>
          <a:effectLst>
            <a:outerShdw sx="100000" sy="100000" kx="0" ky="0" algn="bl" rotWithShape="0" blurRad="101600" dist="38100" dir="2700000">
              <a:srgbClr val="000000">
                <a:alpha val="10000"/>
              </a:srgbClr>
            </a:outerShdw>
          </a:effectLst>
        </p:spPr>
      </p:sp>
      <p:sp>
        <p:nvSpPr>
          <p:cNvPr id="46" name="Shape 44"/>
          <p:cNvSpPr/>
          <p:nvPr/>
        </p:nvSpPr>
        <p:spPr>
          <a:xfrm>
            <a:off x="4773168" y="2852928"/>
            <a:ext cx="822960" cy="219456"/>
          </a:xfrm>
          <a:prstGeom prst="roundRect">
            <a:avLst>
              <a:gd name="adj" fmla="val 20833"/>
            </a:avLst>
          </a:prstGeom>
          <a:solidFill>
            <a:srgbClr val="D4872A"/>
          </a:solidFill>
          <a:ln w="12700">
            <a:solidFill>
              <a:srgbClr val="FFFFFF"/>
            </a:solidFill>
            <a:prstDash val="solid"/>
          </a:ln>
        </p:spPr>
      </p:sp>
      <p:sp>
        <p:nvSpPr>
          <p:cNvPr id="47" name="Text 45"/>
          <p:cNvSpPr/>
          <p:nvPr/>
        </p:nvSpPr>
        <p:spPr>
          <a:xfrm>
            <a:off x="4773168" y="2852928"/>
            <a:ext cx="822960"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SCENARIO</a:t>
            </a:r>
            <a:endParaRPr lang="en-US" sz="800" dirty="0"/>
          </a:p>
        </p:txBody>
      </p:sp>
      <p:sp>
        <p:nvSpPr>
          <p:cNvPr id="48" name="Text 46"/>
          <p:cNvSpPr/>
          <p:nvPr/>
        </p:nvSpPr>
        <p:spPr>
          <a:xfrm>
            <a:off x="5669280" y="2825496"/>
            <a:ext cx="2999232" cy="274320"/>
          </a:xfrm>
          <a:prstGeom prst="rect">
            <a:avLst/>
          </a:prstGeom>
          <a:noFill/>
          <a:ln/>
        </p:spPr>
        <p:txBody>
          <a:bodyPr wrap="square" lIns="0" tIns="0" rIns="0" bIns="0" rtlCol="0" anchor="ctr"/>
          <a:lstStyle/>
          <a:p>
            <a:pPr indent="0" marL="0">
              <a:buNone/>
            </a:pPr>
            <a:r>
              <a:rPr lang="en-US" sz="950" b="1" dirty="0">
                <a:solidFill>
                  <a:srgbClr val="1A2F38"/>
                </a:solidFill>
                <a:latin typeface="Courier New" pitchFamily="34" charset="0"/>
                <a:ea typeface="Courier New" pitchFamily="34" charset="-122"/>
                <a:cs typeface="Courier New" pitchFamily="34" charset="-120"/>
              </a:rPr>
              <a:t>sei_file_ingestion</a:t>
            </a:r>
            <a:endParaRPr lang="en-US" sz="950" dirty="0"/>
          </a:p>
          <a:p>
            <a:pPr indent="0" marL="0">
              <a:buNone/>
            </a:pPr>
            <a:r>
              <a:rPr lang="en-US" sz="950" b="1" dirty="0">
                <a:solidFill>
                  <a:srgbClr val="1A2F38"/>
                </a:solidFill>
                <a:latin typeface="Courier New" pitchFamily="34" charset="0"/>
                <a:ea typeface="Courier New" pitchFamily="34" charset="-122"/>
                <a:cs typeface="Courier New" pitchFamily="34" charset="-120"/>
              </a:rPr>
              <a:t>_with_backfill</a:t>
            </a:r>
            <a:endParaRPr lang="en-US" sz="950" dirty="0"/>
          </a:p>
        </p:txBody>
      </p:sp>
      <p:sp>
        <p:nvSpPr>
          <p:cNvPr id="49" name="Text 47"/>
          <p:cNvSpPr/>
          <p:nvPr/>
        </p:nvSpPr>
        <p:spPr>
          <a:xfrm>
            <a:off x="4773168" y="3145536"/>
            <a:ext cx="3895344" cy="256032"/>
          </a:xfrm>
          <a:prstGeom prst="rect">
            <a:avLst/>
          </a:prstGeom>
          <a:noFill/>
          <a:ln/>
        </p:spPr>
        <p:txBody>
          <a:bodyPr wrap="square" lIns="0" tIns="0" rIns="0" bIns="0" rtlCol="0" anchor="ctr"/>
          <a:lstStyle/>
          <a:p>
            <a:pPr indent="0" marL="0">
              <a:buNone/>
            </a:pPr>
            <a:r>
              <a:rPr lang="en-US" sz="950" i="1" dirty="0">
                <a:solidFill>
                  <a:srgbClr val="2A7A8C"/>
                </a:solidFill>
                <a:latin typeface="Calibri" pitchFamily="34" charset="0"/>
                <a:ea typeface="Calibri" pitchFamily="34" charset="-122"/>
                <a:cs typeface="Calibri" pitchFamily="34" charset="-120"/>
              </a:rPr>
              <a:t>Interactive demo of file scenarios</a:t>
            </a:r>
            <a:endParaRPr lang="en-US" sz="950" dirty="0"/>
          </a:p>
        </p:txBody>
      </p:sp>
      <p:sp>
        <p:nvSpPr>
          <p:cNvPr id="50" name="Shape 48"/>
          <p:cNvSpPr/>
          <p:nvPr/>
        </p:nvSpPr>
        <p:spPr>
          <a:xfrm>
            <a:off x="4809744" y="3474720"/>
            <a:ext cx="82296" cy="82296"/>
          </a:xfrm>
          <a:prstGeom prst="ellipse">
            <a:avLst/>
          </a:prstGeom>
          <a:solidFill>
            <a:srgbClr val="D4872A"/>
          </a:solidFill>
          <a:ln w="12700">
            <a:solidFill>
              <a:srgbClr val="D4872A"/>
            </a:solidFill>
            <a:prstDash val="solid"/>
          </a:ln>
        </p:spPr>
      </p:sp>
      <p:sp>
        <p:nvSpPr>
          <p:cNvPr id="51" name="Text 49"/>
          <p:cNvSpPr/>
          <p:nvPr/>
        </p:nvSpPr>
        <p:spPr>
          <a:xfrm>
            <a:off x="4956048" y="3429000"/>
            <a:ext cx="3703320" cy="228600"/>
          </a:xfrm>
          <a:prstGeom prst="rect">
            <a:avLst/>
          </a:prstGeom>
          <a:noFill/>
          <a:ln/>
        </p:spPr>
        <p:txBody>
          <a:bodyPr wrap="square" lIns="0" tIns="0" rIns="0" bIns="0" rtlCol="0" anchor="ctr"/>
          <a:lstStyle/>
          <a:p>
            <a:pPr indent="0" marL="0">
              <a:buNone/>
            </a:pPr>
            <a:r>
              <a:rPr lang="en-US" sz="850" dirty="0">
                <a:solidFill>
                  <a:srgbClr val="1A2F38"/>
                </a:solidFill>
                <a:latin typeface="Calibri" pitchFamily="34" charset="0"/>
                <a:ea typeface="Calibri" pitchFamily="34" charset="-122"/>
                <a:cs typeface="Calibri" pitchFamily="34" charset="-120"/>
              </a:rPr>
              <a:t>simulate_late_file param for SLA demo</a:t>
            </a:r>
            <a:endParaRPr lang="en-US" sz="850" dirty="0"/>
          </a:p>
        </p:txBody>
      </p:sp>
      <p:sp>
        <p:nvSpPr>
          <p:cNvPr id="52" name="Shape 50"/>
          <p:cNvSpPr/>
          <p:nvPr/>
        </p:nvSpPr>
        <p:spPr>
          <a:xfrm>
            <a:off x="4809744" y="3712464"/>
            <a:ext cx="82296" cy="82296"/>
          </a:xfrm>
          <a:prstGeom prst="ellipse">
            <a:avLst/>
          </a:prstGeom>
          <a:solidFill>
            <a:srgbClr val="D4872A"/>
          </a:solidFill>
          <a:ln w="12700">
            <a:solidFill>
              <a:srgbClr val="D4872A"/>
            </a:solidFill>
            <a:prstDash val="solid"/>
          </a:ln>
        </p:spPr>
      </p:sp>
      <p:sp>
        <p:nvSpPr>
          <p:cNvPr id="53" name="Text 51"/>
          <p:cNvSpPr/>
          <p:nvPr/>
        </p:nvSpPr>
        <p:spPr>
          <a:xfrm>
            <a:off x="4956048" y="3666744"/>
            <a:ext cx="3703320" cy="228600"/>
          </a:xfrm>
          <a:prstGeom prst="rect">
            <a:avLst/>
          </a:prstGeom>
          <a:noFill/>
          <a:ln/>
        </p:spPr>
        <p:txBody>
          <a:bodyPr wrap="square" lIns="0" tIns="0" rIns="0" bIns="0" rtlCol="0" anchor="ctr"/>
          <a:lstStyle/>
          <a:p>
            <a:pPr indent="0" marL="0">
              <a:buNone/>
            </a:pPr>
            <a:r>
              <a:rPr lang="en-US" sz="850" dirty="0">
                <a:solidFill>
                  <a:srgbClr val="1A2F38"/>
                </a:solidFill>
                <a:latin typeface="Calibri" pitchFamily="34" charset="0"/>
                <a:ea typeface="Calibri" pitchFamily="34" charset="-122"/>
                <a:cs typeface="Calibri" pitchFamily="34" charset="-120"/>
              </a:rPr>
              <a:t>file_arrives_in_seconds for timing control</a:t>
            </a:r>
            <a:endParaRPr lang="en-US" sz="850" dirty="0"/>
          </a:p>
        </p:txBody>
      </p:sp>
      <p:sp>
        <p:nvSpPr>
          <p:cNvPr id="54" name="Shape 52"/>
          <p:cNvSpPr/>
          <p:nvPr/>
        </p:nvSpPr>
        <p:spPr>
          <a:xfrm>
            <a:off x="4809744" y="3950208"/>
            <a:ext cx="82296" cy="82296"/>
          </a:xfrm>
          <a:prstGeom prst="ellipse">
            <a:avLst/>
          </a:prstGeom>
          <a:solidFill>
            <a:srgbClr val="D4872A"/>
          </a:solidFill>
          <a:ln w="12700">
            <a:solidFill>
              <a:srgbClr val="D4872A"/>
            </a:solidFill>
            <a:prstDash val="solid"/>
          </a:ln>
        </p:spPr>
      </p:sp>
      <p:sp>
        <p:nvSpPr>
          <p:cNvPr id="55" name="Text 53"/>
          <p:cNvSpPr/>
          <p:nvPr/>
        </p:nvSpPr>
        <p:spPr>
          <a:xfrm>
            <a:off x="4956048" y="3904488"/>
            <a:ext cx="3703320" cy="228600"/>
          </a:xfrm>
          <a:prstGeom prst="rect">
            <a:avLst/>
          </a:prstGeom>
          <a:noFill/>
          <a:ln/>
        </p:spPr>
        <p:txBody>
          <a:bodyPr wrap="square" lIns="0" tIns="0" rIns="0" bIns="0" rtlCol="0" anchor="ctr"/>
          <a:lstStyle/>
          <a:p>
            <a:pPr indent="0" marL="0">
              <a:buNone/>
            </a:pPr>
            <a:r>
              <a:rPr lang="en-US" sz="850" dirty="0">
                <a:solidFill>
                  <a:srgbClr val="1A2F38"/>
                </a:solidFill>
                <a:latin typeface="Calibri" pitchFamily="34" charset="0"/>
                <a:ea typeface="Calibri" pitchFamily="34" charset="-122"/>
                <a:cs typeface="Calibri" pitchFamily="34" charset="-120"/>
              </a:rPr>
              <a:t>Covers all three file scenarios</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F5C6B"/>
          </a:solidFill>
          <a:ln w="12700">
            <a:solidFill>
              <a:srgbClr val="1F5C6B"/>
            </a:solidFill>
            <a:prstDash val="solid"/>
          </a:ln>
        </p:spPr>
      </p:sp>
      <p:sp>
        <p:nvSpPr>
          <p:cNvPr id="3" name="Shape 1"/>
          <p:cNvSpPr/>
          <p:nvPr/>
        </p:nvSpPr>
        <p:spPr>
          <a:xfrm>
            <a:off x="201168" y="0"/>
            <a:ext cx="8942832" cy="685800"/>
          </a:xfrm>
          <a:prstGeom prst="rect">
            <a:avLst/>
          </a:prstGeom>
          <a:solidFill>
            <a:srgbClr val="1A2F4A"/>
          </a:solidFill>
          <a:ln w="12700">
            <a:solidFill>
              <a:srgbClr val="1A2F4A"/>
            </a:solidFill>
            <a:prstDash val="solid"/>
          </a:ln>
        </p:spPr>
      </p:sp>
      <p:sp>
        <p:nvSpPr>
          <p:cNvPr id="4" name="Text 2"/>
          <p:cNvSpPr/>
          <p:nvPr/>
        </p:nvSpPr>
        <p:spPr>
          <a:xfrm>
            <a:off x="384048" y="54864"/>
            <a:ext cx="5943600" cy="56692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Error Handling &amp; Resiliency</a:t>
            </a:r>
            <a:endParaRPr lang="en-US" sz="2000" dirty="0"/>
          </a:p>
        </p:txBody>
      </p:sp>
      <p:sp>
        <p:nvSpPr>
          <p:cNvPr id="5" name="Text 3"/>
          <p:cNvSpPr/>
          <p:nvPr/>
        </p:nvSpPr>
        <p:spPr>
          <a:xfrm>
            <a:off x="384048" y="54864"/>
            <a:ext cx="8412480" cy="566928"/>
          </a:xfrm>
          <a:prstGeom prst="rect">
            <a:avLst/>
          </a:prstGeom>
          <a:noFill/>
          <a:ln/>
        </p:spPr>
        <p:txBody>
          <a:bodyPr wrap="square" lIns="0" tIns="0" rIns="0" bIns="0" rtlCol="0" anchor="ctr"/>
          <a:lstStyle/>
          <a:p>
            <a:pPr algn="r" indent="0" marL="0">
              <a:buNone/>
            </a:pPr>
            <a:r>
              <a:rPr lang="en-US" sz="1100" dirty="0">
                <a:solidFill>
                  <a:srgbClr val="F0D98C"/>
                </a:solidFill>
                <a:latin typeface="Calibri" pitchFamily="34" charset="0"/>
                <a:ea typeface="Calibri" pitchFamily="34" charset="-122"/>
                <a:cs typeface="Calibri" pitchFamily="34" charset="-120"/>
              </a:rPr>
              <a:t>Catalog-Driven Decision Tree — Five Scenarios</a:t>
            </a:r>
            <a:endParaRPr lang="en-US" sz="1100" dirty="0"/>
          </a:p>
        </p:txBody>
      </p:sp>
      <p:sp>
        <p:nvSpPr>
          <p:cNvPr id="6" name="Shape 4"/>
          <p:cNvSpPr/>
          <p:nvPr/>
        </p:nvSpPr>
        <p:spPr>
          <a:xfrm>
            <a:off x="201168" y="4919472"/>
            <a:ext cx="8942832" cy="224028"/>
          </a:xfrm>
          <a:prstGeom prst="rect">
            <a:avLst/>
          </a:prstGeom>
          <a:solidFill>
            <a:srgbClr val="D0ECF2"/>
          </a:solidFill>
          <a:ln w="12700">
            <a:solidFill>
              <a:srgbClr val="D0ECF2"/>
            </a:solidFill>
            <a:prstDash val="solid"/>
          </a:ln>
        </p:spPr>
      </p:sp>
      <p:sp>
        <p:nvSpPr>
          <p:cNvPr id="7" name="Text 5"/>
          <p:cNvSpPr/>
          <p:nvPr/>
        </p:nvSpPr>
        <p:spPr>
          <a:xfrm>
            <a:off x="384048" y="4928616"/>
            <a:ext cx="8595360" cy="201168"/>
          </a:xfrm>
          <a:prstGeom prst="rect">
            <a:avLst/>
          </a:prstGeom>
          <a:noFill/>
          <a:ln/>
        </p:spPr>
        <p:txBody>
          <a:bodyPr wrap="square" rtlCol="0" anchor="ctr"/>
          <a:lstStyle/>
          <a:p>
            <a:pPr indent="0" marL="0">
              <a:buNone/>
            </a:pPr>
            <a:r>
              <a:rPr lang="en-US" sz="800" dirty="0">
                <a:solidFill>
                  <a:srgbClr val="1F5C6B"/>
                </a:solidFill>
                <a:latin typeface="Calibri" pitchFamily="34" charset="0"/>
                <a:ea typeface="Calibri" pitchFamily="34" charset="-122"/>
                <a:cs typeface="Calibri" pitchFamily="34" charset="-120"/>
              </a:rPr>
              <a:t>BBH Capital Partners  |  SWP Migration  |  Confidential</a:t>
            </a:r>
            <a:endParaRPr lang="en-US" sz="800" dirty="0"/>
          </a:p>
        </p:txBody>
      </p:sp>
      <p:sp>
        <p:nvSpPr>
          <p:cNvPr id="8" name="Shape 6"/>
          <p:cNvSpPr/>
          <p:nvPr/>
        </p:nvSpPr>
        <p:spPr>
          <a:xfrm>
            <a:off x="3474720" y="914400"/>
            <a:ext cx="2194560" cy="658368"/>
          </a:xfrm>
          <a:prstGeom prst="ellipse">
            <a:avLst/>
          </a:prstGeom>
          <a:solidFill>
            <a:srgbClr val="1A2F4A"/>
          </a:solidFill>
          <a:ln w="25400">
            <a:solidFill>
              <a:srgbClr val="1F5C6B"/>
            </a:solidFill>
            <a:prstDash val="solid"/>
          </a:ln>
        </p:spPr>
      </p:sp>
      <p:sp>
        <p:nvSpPr>
          <p:cNvPr id="9" name="Text 7"/>
          <p:cNvSpPr/>
          <p:nvPr/>
        </p:nvSpPr>
        <p:spPr>
          <a:xfrm>
            <a:off x="3474720" y="914400"/>
            <a:ext cx="2194560" cy="65836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Error Received</a:t>
            </a:r>
            <a:endParaRPr lang="en-US" sz="1100" dirty="0"/>
          </a:p>
        </p:txBody>
      </p:sp>
      <p:sp>
        <p:nvSpPr>
          <p:cNvPr id="10" name="Shape 8"/>
          <p:cNvSpPr/>
          <p:nvPr/>
        </p:nvSpPr>
        <p:spPr>
          <a:xfrm>
            <a:off x="3493008" y="1572768"/>
            <a:ext cx="0" cy="713232"/>
          </a:xfrm>
          <a:prstGeom prst="line">
            <a:avLst/>
          </a:prstGeom>
          <a:noFill/>
          <a:ln w="19050">
            <a:solidFill>
              <a:srgbClr val="D0ECF2"/>
            </a:solidFill>
            <a:prstDash val="solid"/>
          </a:ln>
        </p:spPr>
      </p:sp>
      <p:sp>
        <p:nvSpPr>
          <p:cNvPr id="11" name="Shape 9"/>
          <p:cNvSpPr/>
          <p:nvPr/>
        </p:nvSpPr>
        <p:spPr>
          <a:xfrm>
            <a:off x="164592" y="2286000"/>
            <a:ext cx="1508760" cy="502920"/>
          </a:xfrm>
          <a:prstGeom prst="roundRect">
            <a:avLst>
              <a:gd name="adj" fmla="val 10909"/>
            </a:avLst>
          </a:prstGeom>
          <a:solidFill>
            <a:srgbClr val="2A7A8C"/>
          </a:solidFill>
          <a:ln w="12700">
            <a:solidFill>
              <a:srgbClr val="2A7A8C"/>
            </a:solidFill>
            <a:prstDash val="solid"/>
          </a:ln>
        </p:spPr>
      </p:sp>
      <p:sp>
        <p:nvSpPr>
          <p:cNvPr id="12" name="Text 10"/>
          <p:cNvSpPr/>
          <p:nvPr/>
        </p:nvSpPr>
        <p:spPr>
          <a:xfrm>
            <a:off x="164592" y="2286000"/>
            <a:ext cx="15087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TRANSIENT</a:t>
            </a:r>
            <a:endParaRPr lang="en-US" sz="900" dirty="0"/>
          </a:p>
        </p:txBody>
      </p:sp>
      <p:sp>
        <p:nvSpPr>
          <p:cNvPr id="13" name="Text 11"/>
          <p:cNvSpPr/>
          <p:nvPr/>
        </p:nvSpPr>
        <p:spPr>
          <a:xfrm>
            <a:off x="164592" y="2560320"/>
            <a:ext cx="1508760" cy="219456"/>
          </a:xfrm>
          <a:prstGeom prst="rect">
            <a:avLst/>
          </a:prstGeom>
          <a:noFill/>
          <a:ln/>
        </p:spPr>
        <p:txBody>
          <a:bodyPr wrap="square" lIns="0" tIns="0" rIns="0" bIns="0" rtlCol="0" anchor="ctr"/>
          <a:lstStyle/>
          <a:p>
            <a:pPr algn="ctr" indent="0" marL="0">
              <a:buNone/>
            </a:pPr>
            <a:r>
              <a:rPr lang="en-US" sz="750" dirty="0">
                <a:solidFill>
                  <a:srgbClr val="E0E0E0"/>
                </a:solidFill>
                <a:latin typeface="Calibri" pitchFamily="34" charset="0"/>
                <a:ea typeface="Calibri" pitchFamily="34" charset="-122"/>
                <a:cs typeface="Calibri" pitchFamily="34" charset="-120"/>
              </a:rPr>
              <a:t>HTTP 429 / 5xx</a:t>
            </a:r>
            <a:endParaRPr lang="en-US" sz="750" dirty="0"/>
          </a:p>
        </p:txBody>
      </p:sp>
      <p:sp>
        <p:nvSpPr>
          <p:cNvPr id="14" name="Shape 12"/>
          <p:cNvSpPr/>
          <p:nvPr/>
        </p:nvSpPr>
        <p:spPr>
          <a:xfrm>
            <a:off x="164592" y="2871216"/>
            <a:ext cx="1508760" cy="1097280"/>
          </a:xfrm>
          <a:prstGeom prst="roundRect">
            <a:avLst>
              <a:gd name="adj" fmla="val 6667"/>
            </a:avLst>
          </a:prstGeom>
          <a:solidFill>
            <a:srgbClr val="F0F8FA"/>
          </a:solidFill>
          <a:ln w="12700">
            <a:solidFill>
              <a:srgbClr val="D0ECF2"/>
            </a:solidFill>
            <a:prstDash val="solid"/>
          </a:ln>
        </p:spPr>
      </p:sp>
      <p:sp>
        <p:nvSpPr>
          <p:cNvPr id="15" name="Text 13"/>
          <p:cNvSpPr/>
          <p:nvPr/>
        </p:nvSpPr>
        <p:spPr>
          <a:xfrm>
            <a:off x="237744" y="2926080"/>
            <a:ext cx="1362456" cy="987552"/>
          </a:xfrm>
          <a:prstGeom prst="rect">
            <a:avLst/>
          </a:prstGeom>
          <a:noFill/>
          <a:ln/>
        </p:spPr>
        <p:txBody>
          <a:bodyPr wrap="square" lIns="0" tIns="0" rIns="0" bIns="0" rtlCol="0" anchor="t"/>
          <a:lstStyle/>
          <a:p>
            <a:pPr indent="0" marL="0">
              <a:buNone/>
            </a:pPr>
            <a:r>
              <a:rPr lang="en-US" sz="800" dirty="0">
                <a:solidFill>
                  <a:srgbClr val="1A2F38"/>
                </a:solidFill>
                <a:latin typeface="Calibri" pitchFamily="34" charset="0"/>
                <a:ea typeface="Calibri" pitchFamily="34" charset="-122"/>
                <a:cs typeface="Calibri" pitchFamily="34" charset="-120"/>
              </a:rPr>
              <a:t>Auto-retry</a:t>
            </a:r>
            <a:endParaRPr lang="en-US" sz="800" dirty="0"/>
          </a:p>
          <a:p>
            <a:pPr indent="0" marL="0">
              <a:buNone/>
            </a:pPr>
            <a:r>
              <a:rPr lang="en-US" sz="800" dirty="0">
                <a:solidFill>
                  <a:srgbClr val="1A2F38"/>
                </a:solidFill>
                <a:latin typeface="Calibri" pitchFamily="34" charset="0"/>
                <a:ea typeface="Calibri" pitchFamily="34" charset="-122"/>
                <a:cs typeface="Calibri" pitchFamily="34" charset="-120"/>
              </a:rPr>
              <a:t>Backoff + Jitter</a:t>
            </a:r>
            <a:endParaRPr lang="en-US" sz="800" dirty="0"/>
          </a:p>
          <a:p>
            <a:pPr indent="0" marL="0">
              <a:buNone/>
            </a:pPr>
            <a:r>
              <a:rPr lang="en-US" sz="800" dirty="0">
                <a:solidFill>
                  <a:srgbClr val="1A2F38"/>
                </a:solidFill>
                <a:latin typeface="Calibri" pitchFamily="34" charset="0"/>
                <a:ea typeface="Calibri" pitchFamily="34" charset="-122"/>
                <a:cs typeface="Calibri" pitchFamily="34" charset="-120"/>
              </a:rPr>
              <a:t>4 attempts, 1s→30s</a:t>
            </a:r>
            <a:endParaRPr lang="en-US" sz="800" dirty="0"/>
          </a:p>
          <a:p>
            <a:pPr indent="0" marL="0">
              <a:buNone/>
            </a:pPr>
            <a:r>
              <a:rPr lang="en-US" sz="800" dirty="0">
                <a:solidFill>
                  <a:srgbClr val="1A2F38"/>
                </a:solidFill>
                <a:latin typeface="Calibri" pitchFamily="34" charset="0"/>
                <a:ea typeface="Calibri" pitchFamily="34" charset="-122"/>
                <a:cs typeface="Calibri" pitchFamily="34" charset="-120"/>
              </a:rPr>
              <a:t>Circuit Breaker records</a:t>
            </a:r>
            <a:endParaRPr lang="en-US" sz="800" dirty="0"/>
          </a:p>
        </p:txBody>
      </p:sp>
      <p:sp>
        <p:nvSpPr>
          <p:cNvPr id="16" name="Shape 14"/>
          <p:cNvSpPr/>
          <p:nvPr/>
        </p:nvSpPr>
        <p:spPr>
          <a:xfrm>
            <a:off x="3813048" y="1572768"/>
            <a:ext cx="0" cy="713232"/>
          </a:xfrm>
          <a:prstGeom prst="line">
            <a:avLst/>
          </a:prstGeom>
          <a:noFill/>
          <a:ln w="19050">
            <a:solidFill>
              <a:srgbClr val="D0ECF2"/>
            </a:solidFill>
            <a:prstDash val="solid"/>
          </a:ln>
        </p:spPr>
      </p:sp>
      <p:sp>
        <p:nvSpPr>
          <p:cNvPr id="17" name="Shape 15"/>
          <p:cNvSpPr/>
          <p:nvPr/>
        </p:nvSpPr>
        <p:spPr>
          <a:xfrm>
            <a:off x="1783080" y="2286000"/>
            <a:ext cx="1508760" cy="502920"/>
          </a:xfrm>
          <a:prstGeom prst="roundRect">
            <a:avLst>
              <a:gd name="adj" fmla="val 10909"/>
            </a:avLst>
          </a:prstGeom>
          <a:solidFill>
            <a:srgbClr val="C0392B"/>
          </a:solidFill>
          <a:ln w="12700">
            <a:solidFill>
              <a:srgbClr val="C0392B"/>
            </a:solidFill>
            <a:prstDash val="solid"/>
          </a:ln>
        </p:spPr>
      </p:sp>
      <p:sp>
        <p:nvSpPr>
          <p:cNvPr id="18" name="Text 16"/>
          <p:cNvSpPr/>
          <p:nvPr/>
        </p:nvSpPr>
        <p:spPr>
          <a:xfrm>
            <a:off x="1783080" y="2286000"/>
            <a:ext cx="15087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CRITICAL</a:t>
            </a:r>
            <a:endParaRPr lang="en-US" sz="900" dirty="0"/>
          </a:p>
        </p:txBody>
      </p:sp>
      <p:sp>
        <p:nvSpPr>
          <p:cNvPr id="19" name="Text 17"/>
          <p:cNvSpPr/>
          <p:nvPr/>
        </p:nvSpPr>
        <p:spPr>
          <a:xfrm>
            <a:off x="1783080" y="2560320"/>
            <a:ext cx="1508760" cy="219456"/>
          </a:xfrm>
          <a:prstGeom prst="rect">
            <a:avLst/>
          </a:prstGeom>
          <a:noFill/>
          <a:ln/>
        </p:spPr>
        <p:txBody>
          <a:bodyPr wrap="square" lIns="0" tIns="0" rIns="0" bIns="0" rtlCol="0" anchor="ctr"/>
          <a:lstStyle/>
          <a:p>
            <a:pPr algn="ctr" indent="0" marL="0">
              <a:buNone/>
            </a:pPr>
            <a:r>
              <a:rPr lang="en-US" sz="750" dirty="0">
                <a:solidFill>
                  <a:srgbClr val="E0E0E0"/>
                </a:solidFill>
                <a:latin typeface="Calibri" pitchFamily="34" charset="0"/>
                <a:ea typeface="Calibri" pitchFamily="34" charset="-122"/>
                <a:cs typeface="Calibri" pitchFamily="34" charset="-120"/>
              </a:rPr>
              <a:t>Schema mismatch</a:t>
            </a:r>
            <a:endParaRPr lang="en-US" sz="750" dirty="0"/>
          </a:p>
        </p:txBody>
      </p:sp>
      <p:sp>
        <p:nvSpPr>
          <p:cNvPr id="20" name="Shape 18"/>
          <p:cNvSpPr/>
          <p:nvPr/>
        </p:nvSpPr>
        <p:spPr>
          <a:xfrm>
            <a:off x="1783080" y="2871216"/>
            <a:ext cx="1508760" cy="1097280"/>
          </a:xfrm>
          <a:prstGeom prst="roundRect">
            <a:avLst>
              <a:gd name="adj" fmla="val 6667"/>
            </a:avLst>
          </a:prstGeom>
          <a:solidFill>
            <a:srgbClr val="F0F8FA"/>
          </a:solidFill>
          <a:ln w="12700">
            <a:solidFill>
              <a:srgbClr val="D0ECF2"/>
            </a:solidFill>
            <a:prstDash val="solid"/>
          </a:ln>
        </p:spPr>
      </p:sp>
      <p:sp>
        <p:nvSpPr>
          <p:cNvPr id="21" name="Text 19"/>
          <p:cNvSpPr/>
          <p:nvPr/>
        </p:nvSpPr>
        <p:spPr>
          <a:xfrm>
            <a:off x="1856232" y="2926080"/>
            <a:ext cx="1362456" cy="987552"/>
          </a:xfrm>
          <a:prstGeom prst="rect">
            <a:avLst/>
          </a:prstGeom>
          <a:noFill/>
          <a:ln/>
        </p:spPr>
        <p:txBody>
          <a:bodyPr wrap="square" lIns="0" tIns="0" rIns="0" bIns="0" rtlCol="0" anchor="t"/>
          <a:lstStyle/>
          <a:p>
            <a:pPr indent="0" marL="0">
              <a:buNone/>
            </a:pPr>
            <a:r>
              <a:rPr lang="en-US" sz="800" dirty="0">
                <a:solidFill>
                  <a:srgbClr val="1A2F38"/>
                </a:solidFill>
                <a:latin typeface="Calibri" pitchFamily="34" charset="0"/>
                <a:ea typeface="Calibri" pitchFamily="34" charset="-122"/>
                <a:cs typeface="Calibri" pitchFamily="34" charset="-120"/>
              </a:rPr>
              <a:t>Post Alert</a:t>
            </a:r>
            <a:endParaRPr lang="en-US" sz="800" dirty="0"/>
          </a:p>
          <a:p>
            <a:pPr indent="0" marL="0">
              <a:buNone/>
            </a:pPr>
            <a:r>
              <a:rPr lang="en-US" sz="800" dirty="0">
                <a:solidFill>
                  <a:srgbClr val="1A2F38"/>
                </a:solidFill>
                <a:latin typeface="Calibri" pitchFamily="34" charset="0"/>
                <a:ea typeface="Calibri" pitchFamily="34" charset="-122"/>
                <a:cs typeface="Calibri" pitchFamily="34" charset="-120"/>
              </a:rPr>
              <a:t>Halt entire</a:t>
            </a:r>
            <a:endParaRPr lang="en-US" sz="800" dirty="0"/>
          </a:p>
          <a:p>
            <a:pPr indent="0" marL="0">
              <a:buNone/>
            </a:pPr>
            <a:r>
              <a:rPr lang="en-US" sz="800" dirty="0">
                <a:solidFill>
                  <a:srgbClr val="1A2F38"/>
                </a:solidFill>
                <a:latin typeface="Calibri" pitchFamily="34" charset="0"/>
                <a:ea typeface="Calibri" pitchFamily="34" charset="-122"/>
                <a:cs typeface="Calibri" pitchFamily="34" charset="-120"/>
              </a:rPr>
              <a:t>pipeline immediately</a:t>
            </a:r>
            <a:endParaRPr lang="en-US" sz="800" dirty="0"/>
          </a:p>
          <a:p>
            <a:pPr indent="0" marL="0">
              <a:buNone/>
            </a:pPr>
            <a:r>
              <a:rPr lang="en-US" sz="800" dirty="0">
                <a:solidFill>
                  <a:srgbClr val="1A2F38"/>
                </a:solidFill>
                <a:latin typeface="Calibri" pitchFamily="34" charset="0"/>
                <a:ea typeface="Calibri" pitchFamily="34" charset="-122"/>
                <a:cs typeface="Calibri" pitchFamily="34" charset="-120"/>
              </a:rPr>
              <a:t>AirflowFailException</a:t>
            </a:r>
            <a:endParaRPr lang="en-US" sz="800" dirty="0"/>
          </a:p>
        </p:txBody>
      </p:sp>
      <p:sp>
        <p:nvSpPr>
          <p:cNvPr id="22" name="Shape 20"/>
          <p:cNvSpPr/>
          <p:nvPr/>
        </p:nvSpPr>
        <p:spPr>
          <a:xfrm>
            <a:off x="4572000" y="1572768"/>
            <a:ext cx="0" cy="713232"/>
          </a:xfrm>
          <a:prstGeom prst="line">
            <a:avLst/>
          </a:prstGeom>
          <a:noFill/>
          <a:ln w="19050">
            <a:solidFill>
              <a:srgbClr val="D0ECF2"/>
            </a:solidFill>
            <a:prstDash val="solid"/>
          </a:ln>
        </p:spPr>
      </p:sp>
      <p:sp>
        <p:nvSpPr>
          <p:cNvPr id="23" name="Shape 21"/>
          <p:cNvSpPr/>
          <p:nvPr/>
        </p:nvSpPr>
        <p:spPr>
          <a:xfrm>
            <a:off x="3401568" y="2286000"/>
            <a:ext cx="1508760" cy="502920"/>
          </a:xfrm>
          <a:prstGeom prst="roundRect">
            <a:avLst>
              <a:gd name="adj" fmla="val 10909"/>
            </a:avLst>
          </a:prstGeom>
          <a:solidFill>
            <a:srgbClr val="D4872A"/>
          </a:solidFill>
          <a:ln w="12700">
            <a:solidFill>
              <a:srgbClr val="D4872A"/>
            </a:solidFill>
            <a:prstDash val="solid"/>
          </a:ln>
        </p:spPr>
      </p:sp>
      <p:sp>
        <p:nvSpPr>
          <p:cNvPr id="24" name="Text 22"/>
          <p:cNvSpPr/>
          <p:nvPr/>
        </p:nvSpPr>
        <p:spPr>
          <a:xfrm>
            <a:off x="3401568" y="2286000"/>
            <a:ext cx="15087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WARN (fixable)</a:t>
            </a:r>
            <a:endParaRPr lang="en-US" sz="900" dirty="0"/>
          </a:p>
        </p:txBody>
      </p:sp>
      <p:sp>
        <p:nvSpPr>
          <p:cNvPr id="25" name="Text 23"/>
          <p:cNvSpPr/>
          <p:nvPr/>
        </p:nvSpPr>
        <p:spPr>
          <a:xfrm>
            <a:off x="3401568" y="2560320"/>
            <a:ext cx="1508760" cy="219456"/>
          </a:xfrm>
          <a:prstGeom prst="rect">
            <a:avLst/>
          </a:prstGeom>
          <a:noFill/>
          <a:ln/>
        </p:spPr>
        <p:txBody>
          <a:bodyPr wrap="square" lIns="0" tIns="0" rIns="0" bIns="0" rtlCol="0" anchor="ctr"/>
          <a:lstStyle/>
          <a:p>
            <a:pPr algn="ctr" indent="0" marL="0">
              <a:buNone/>
            </a:pPr>
            <a:r>
              <a:rPr lang="en-US" sz="750" dirty="0">
                <a:solidFill>
                  <a:srgbClr val="E0E0E0"/>
                </a:solidFill>
                <a:latin typeface="Calibri" pitchFamily="34" charset="0"/>
                <a:ea typeface="Calibri" pitchFamily="34" charset="-122"/>
                <a:cs typeface="Calibri" pitchFamily="34" charset="-120"/>
              </a:rPr>
              <a:t>PRICE_STALE</a:t>
            </a:r>
            <a:endParaRPr lang="en-US" sz="750" dirty="0"/>
          </a:p>
        </p:txBody>
      </p:sp>
      <p:sp>
        <p:nvSpPr>
          <p:cNvPr id="26" name="Shape 24"/>
          <p:cNvSpPr/>
          <p:nvPr/>
        </p:nvSpPr>
        <p:spPr>
          <a:xfrm>
            <a:off x="3401568" y="2871216"/>
            <a:ext cx="1508760" cy="1097280"/>
          </a:xfrm>
          <a:prstGeom prst="roundRect">
            <a:avLst>
              <a:gd name="adj" fmla="val 6667"/>
            </a:avLst>
          </a:prstGeom>
          <a:solidFill>
            <a:srgbClr val="F0F8FA"/>
          </a:solidFill>
          <a:ln w="12700">
            <a:solidFill>
              <a:srgbClr val="D0ECF2"/>
            </a:solidFill>
            <a:prstDash val="solid"/>
          </a:ln>
        </p:spPr>
      </p:sp>
      <p:sp>
        <p:nvSpPr>
          <p:cNvPr id="27" name="Text 25"/>
          <p:cNvSpPr/>
          <p:nvPr/>
        </p:nvSpPr>
        <p:spPr>
          <a:xfrm>
            <a:off x="3474720" y="2926080"/>
            <a:ext cx="1362456" cy="987552"/>
          </a:xfrm>
          <a:prstGeom prst="rect">
            <a:avLst/>
          </a:prstGeom>
          <a:noFill/>
          <a:ln/>
        </p:spPr>
        <p:txBody>
          <a:bodyPr wrap="square" lIns="0" tIns="0" rIns="0" bIns="0" rtlCol="0" anchor="t"/>
          <a:lstStyle/>
          <a:p>
            <a:pPr indent="0" marL="0">
              <a:buNone/>
            </a:pPr>
            <a:r>
              <a:rPr lang="en-US" sz="800" dirty="0">
                <a:solidFill>
                  <a:srgbClr val="1A2F38"/>
                </a:solidFill>
                <a:latin typeface="Calibri" pitchFamily="34" charset="0"/>
                <a:ea typeface="Calibri" pitchFamily="34" charset="-122"/>
                <a:cs typeface="Calibri" pitchFamily="34" charset="-120"/>
              </a:rPr>
              <a:t>POST /fix</a:t>
            </a:r>
            <a:endParaRPr lang="en-US" sz="800" dirty="0"/>
          </a:p>
          <a:p>
            <a:pPr indent="0" marL="0">
              <a:buNone/>
            </a:pPr>
            <a:r>
              <a:rPr lang="en-US" sz="800" dirty="0">
                <a:solidFill>
                  <a:srgbClr val="1A2F38"/>
                </a:solidFill>
                <a:latin typeface="Calibri" pitchFamily="34" charset="0"/>
                <a:ea typeface="Calibri" pitchFamily="34" charset="-122"/>
                <a:cs typeface="Calibri" pitchFamily="34" charset="-120"/>
              </a:rPr>
              <a:t>Fix OK → Continue</a:t>
            </a:r>
            <a:endParaRPr lang="en-US" sz="800" dirty="0"/>
          </a:p>
          <a:p>
            <a:pPr indent="0" marL="0">
              <a:buNone/>
            </a:pPr>
            <a:r>
              <a:rPr lang="en-US" sz="800" dirty="0">
                <a:solidFill>
                  <a:srgbClr val="1A2F38"/>
                </a:solidFill>
                <a:latin typeface="Calibri" pitchFamily="34" charset="0"/>
                <a:ea typeface="Calibri" pitchFamily="34" charset="-122"/>
                <a:cs typeface="Calibri" pitchFamily="34" charset="-120"/>
              </a:rPr>
              <a:t>Fix fails → Alert</a:t>
            </a:r>
            <a:endParaRPr lang="en-US" sz="800" dirty="0"/>
          </a:p>
          <a:p>
            <a:pPr indent="0" marL="0">
              <a:buNone/>
            </a:pPr>
            <a:r>
              <a:rPr lang="en-US" sz="800" dirty="0">
                <a:solidFill>
                  <a:srgbClr val="1A2F38"/>
                </a:solidFill>
                <a:latin typeface="Calibri" pitchFamily="34" charset="0"/>
                <a:ea typeface="Calibri" pitchFamily="34" charset="-122"/>
                <a:cs typeface="Calibri" pitchFamily="34" charset="-120"/>
              </a:rPr>
              <a:t>+ Skip records</a:t>
            </a:r>
            <a:endParaRPr lang="en-US" sz="800" dirty="0"/>
          </a:p>
        </p:txBody>
      </p:sp>
      <p:sp>
        <p:nvSpPr>
          <p:cNvPr id="28" name="Shape 26"/>
          <p:cNvSpPr/>
          <p:nvPr/>
        </p:nvSpPr>
        <p:spPr>
          <a:xfrm>
            <a:off x="5330952" y="1572768"/>
            <a:ext cx="0" cy="713232"/>
          </a:xfrm>
          <a:prstGeom prst="line">
            <a:avLst/>
          </a:prstGeom>
          <a:noFill/>
          <a:ln w="19050">
            <a:solidFill>
              <a:srgbClr val="D0ECF2"/>
            </a:solidFill>
            <a:prstDash val="solid"/>
          </a:ln>
        </p:spPr>
      </p:sp>
      <p:sp>
        <p:nvSpPr>
          <p:cNvPr id="29" name="Shape 27"/>
          <p:cNvSpPr/>
          <p:nvPr/>
        </p:nvSpPr>
        <p:spPr>
          <a:xfrm>
            <a:off x="5020056" y="2286000"/>
            <a:ext cx="1508760" cy="502920"/>
          </a:xfrm>
          <a:prstGeom prst="roundRect">
            <a:avLst>
              <a:gd name="adj" fmla="val 10909"/>
            </a:avLst>
          </a:prstGeom>
          <a:solidFill>
            <a:srgbClr val="8AAAB5"/>
          </a:solidFill>
          <a:ln w="12700">
            <a:solidFill>
              <a:srgbClr val="8AAAB5"/>
            </a:solidFill>
            <a:prstDash val="solid"/>
          </a:ln>
        </p:spPr>
      </p:sp>
      <p:sp>
        <p:nvSpPr>
          <p:cNvPr id="30" name="Text 28"/>
          <p:cNvSpPr/>
          <p:nvPr/>
        </p:nvSpPr>
        <p:spPr>
          <a:xfrm>
            <a:off x="5020056" y="2286000"/>
            <a:ext cx="15087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WARN</a:t>
            </a:r>
            <a:endParaRPr lang="en-US" sz="900" dirty="0"/>
          </a:p>
        </p:txBody>
      </p:sp>
      <p:sp>
        <p:nvSpPr>
          <p:cNvPr id="31" name="Text 29"/>
          <p:cNvSpPr/>
          <p:nvPr/>
        </p:nvSpPr>
        <p:spPr>
          <a:xfrm>
            <a:off x="5020056" y="2560320"/>
            <a:ext cx="1508760" cy="219456"/>
          </a:xfrm>
          <a:prstGeom prst="rect">
            <a:avLst/>
          </a:prstGeom>
          <a:noFill/>
          <a:ln/>
        </p:spPr>
        <p:txBody>
          <a:bodyPr wrap="square" lIns="0" tIns="0" rIns="0" bIns="0" rtlCol="0" anchor="ctr"/>
          <a:lstStyle/>
          <a:p>
            <a:pPr algn="ctr" indent="0" marL="0">
              <a:buNone/>
            </a:pPr>
            <a:r>
              <a:rPr lang="en-US" sz="750" dirty="0">
                <a:solidFill>
                  <a:srgbClr val="E0E0E0"/>
                </a:solidFill>
                <a:latin typeface="Calibri" pitchFamily="34" charset="0"/>
                <a:ea typeface="Calibri" pitchFamily="34" charset="-122"/>
                <a:cs typeface="Calibri" pitchFamily="34" charset="-120"/>
              </a:rPr>
              <a:t>Non-fixable</a:t>
            </a:r>
            <a:endParaRPr lang="en-US" sz="750" dirty="0"/>
          </a:p>
        </p:txBody>
      </p:sp>
      <p:sp>
        <p:nvSpPr>
          <p:cNvPr id="32" name="Shape 30"/>
          <p:cNvSpPr/>
          <p:nvPr/>
        </p:nvSpPr>
        <p:spPr>
          <a:xfrm>
            <a:off x="5020056" y="2871216"/>
            <a:ext cx="1508760" cy="1097280"/>
          </a:xfrm>
          <a:prstGeom prst="roundRect">
            <a:avLst>
              <a:gd name="adj" fmla="val 6667"/>
            </a:avLst>
          </a:prstGeom>
          <a:solidFill>
            <a:srgbClr val="F0F8FA"/>
          </a:solidFill>
          <a:ln w="12700">
            <a:solidFill>
              <a:srgbClr val="D0ECF2"/>
            </a:solidFill>
            <a:prstDash val="solid"/>
          </a:ln>
        </p:spPr>
      </p:sp>
      <p:sp>
        <p:nvSpPr>
          <p:cNvPr id="33" name="Text 31"/>
          <p:cNvSpPr/>
          <p:nvPr/>
        </p:nvSpPr>
        <p:spPr>
          <a:xfrm>
            <a:off x="5093208" y="2926080"/>
            <a:ext cx="1362456" cy="987552"/>
          </a:xfrm>
          <a:prstGeom prst="rect">
            <a:avLst/>
          </a:prstGeom>
          <a:noFill/>
          <a:ln/>
        </p:spPr>
        <p:txBody>
          <a:bodyPr wrap="square" lIns="0" tIns="0" rIns="0" bIns="0" rtlCol="0" anchor="t"/>
          <a:lstStyle/>
          <a:p>
            <a:pPr indent="0" marL="0">
              <a:buNone/>
            </a:pPr>
            <a:r>
              <a:rPr lang="en-US" sz="800" dirty="0">
                <a:solidFill>
                  <a:srgbClr val="1A2F38"/>
                </a:solidFill>
                <a:latin typeface="Calibri" pitchFamily="34" charset="0"/>
                <a:ea typeface="Calibri" pitchFamily="34" charset="-122"/>
                <a:cs typeface="Calibri" pitchFamily="34" charset="-120"/>
              </a:rPr>
              <a:t>Skip affected</a:t>
            </a:r>
            <a:endParaRPr lang="en-US" sz="800" dirty="0"/>
          </a:p>
          <a:p>
            <a:pPr indent="0" marL="0">
              <a:buNone/>
            </a:pPr>
            <a:r>
              <a:rPr lang="en-US" sz="800" dirty="0">
                <a:solidFill>
                  <a:srgbClr val="1A2F38"/>
                </a:solidFill>
                <a:latin typeface="Calibri" pitchFamily="34" charset="0"/>
                <a:ea typeface="Calibri" pitchFamily="34" charset="-122"/>
                <a:cs typeface="Calibri" pitchFamily="34" charset="-120"/>
              </a:rPr>
              <a:t>records only</a:t>
            </a:r>
            <a:endParaRPr lang="en-US" sz="800" dirty="0"/>
          </a:p>
          <a:p>
            <a:pPr indent="0" marL="0">
              <a:buNone/>
            </a:pPr>
            <a:r>
              <a:rPr lang="en-US" sz="800" dirty="0">
                <a:solidFill>
                  <a:srgbClr val="1A2F38"/>
                </a:solidFill>
                <a:latin typeface="Calibri" pitchFamily="34" charset="0"/>
                <a:ea typeface="Calibri" pitchFamily="34" charset="-122"/>
                <a:cs typeface="Calibri" pitchFamily="34" charset="-120"/>
              </a:rPr>
              <a:t>Log warning</a:t>
            </a:r>
            <a:endParaRPr lang="en-US" sz="800" dirty="0"/>
          </a:p>
          <a:p>
            <a:pPr indent="0" marL="0">
              <a:buNone/>
            </a:pPr>
            <a:r>
              <a:rPr lang="en-US" sz="800" dirty="0">
                <a:solidFill>
                  <a:srgbClr val="1A2F38"/>
                </a:solidFill>
                <a:latin typeface="Calibri" pitchFamily="34" charset="0"/>
                <a:ea typeface="Calibri" pitchFamily="34" charset="-122"/>
                <a:cs typeface="Calibri" pitchFamily="34" charset="-120"/>
              </a:rPr>
              <a:t>No alert</a:t>
            </a:r>
            <a:endParaRPr lang="en-US" sz="800" dirty="0"/>
          </a:p>
        </p:txBody>
      </p:sp>
      <p:sp>
        <p:nvSpPr>
          <p:cNvPr id="34" name="Shape 32"/>
          <p:cNvSpPr/>
          <p:nvPr/>
        </p:nvSpPr>
        <p:spPr>
          <a:xfrm>
            <a:off x="6053328" y="1572768"/>
            <a:ext cx="0" cy="713232"/>
          </a:xfrm>
          <a:prstGeom prst="line">
            <a:avLst/>
          </a:prstGeom>
          <a:noFill/>
          <a:ln w="19050">
            <a:solidFill>
              <a:srgbClr val="D0ECF2"/>
            </a:solidFill>
            <a:prstDash val="solid"/>
          </a:ln>
        </p:spPr>
      </p:sp>
      <p:sp>
        <p:nvSpPr>
          <p:cNvPr id="35" name="Shape 33"/>
          <p:cNvSpPr/>
          <p:nvPr/>
        </p:nvSpPr>
        <p:spPr>
          <a:xfrm>
            <a:off x="6638544" y="2286000"/>
            <a:ext cx="1508760" cy="502920"/>
          </a:xfrm>
          <a:prstGeom prst="roundRect">
            <a:avLst>
              <a:gd name="adj" fmla="val 10909"/>
            </a:avLst>
          </a:prstGeom>
          <a:solidFill>
            <a:srgbClr val="4A6572"/>
          </a:solidFill>
          <a:ln w="12700">
            <a:solidFill>
              <a:srgbClr val="4A6572"/>
            </a:solidFill>
            <a:prstDash val="solid"/>
          </a:ln>
        </p:spPr>
      </p:sp>
      <p:sp>
        <p:nvSpPr>
          <p:cNvPr id="36" name="Text 34"/>
          <p:cNvSpPr/>
          <p:nvPr/>
        </p:nvSpPr>
        <p:spPr>
          <a:xfrm>
            <a:off x="6638544" y="2286000"/>
            <a:ext cx="15087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ERROR</a:t>
            </a:r>
            <a:endParaRPr lang="en-US" sz="900" dirty="0"/>
          </a:p>
        </p:txBody>
      </p:sp>
      <p:sp>
        <p:nvSpPr>
          <p:cNvPr id="37" name="Text 35"/>
          <p:cNvSpPr/>
          <p:nvPr/>
        </p:nvSpPr>
        <p:spPr>
          <a:xfrm>
            <a:off x="6638544" y="2560320"/>
            <a:ext cx="1508760" cy="219456"/>
          </a:xfrm>
          <a:prstGeom prst="rect">
            <a:avLst/>
          </a:prstGeom>
          <a:noFill/>
          <a:ln/>
        </p:spPr>
        <p:txBody>
          <a:bodyPr wrap="square" lIns="0" tIns="0" rIns="0" bIns="0" rtlCol="0" anchor="ctr"/>
          <a:lstStyle/>
          <a:p>
            <a:pPr algn="ctr" indent="0" marL="0">
              <a:buNone/>
            </a:pPr>
            <a:r>
              <a:rPr lang="en-US" sz="750" dirty="0">
                <a:solidFill>
                  <a:srgbClr val="E0E0E0"/>
                </a:solidFill>
                <a:latin typeface="Calibri" pitchFamily="34" charset="0"/>
                <a:ea typeface="Calibri" pitchFamily="34" charset="-122"/>
                <a:cs typeface="Calibri" pitchFamily="34" charset="-120"/>
              </a:rPr>
              <a:t>ACCOUNT_SUSPENDED</a:t>
            </a:r>
            <a:endParaRPr lang="en-US" sz="750" dirty="0"/>
          </a:p>
        </p:txBody>
      </p:sp>
      <p:sp>
        <p:nvSpPr>
          <p:cNvPr id="38" name="Shape 36"/>
          <p:cNvSpPr/>
          <p:nvPr/>
        </p:nvSpPr>
        <p:spPr>
          <a:xfrm>
            <a:off x="6638544" y="2871216"/>
            <a:ext cx="1508760" cy="1097280"/>
          </a:xfrm>
          <a:prstGeom prst="roundRect">
            <a:avLst>
              <a:gd name="adj" fmla="val 6667"/>
            </a:avLst>
          </a:prstGeom>
          <a:solidFill>
            <a:srgbClr val="F0F8FA"/>
          </a:solidFill>
          <a:ln w="12700">
            <a:solidFill>
              <a:srgbClr val="D0ECF2"/>
            </a:solidFill>
            <a:prstDash val="solid"/>
          </a:ln>
        </p:spPr>
      </p:sp>
      <p:sp>
        <p:nvSpPr>
          <p:cNvPr id="39" name="Text 37"/>
          <p:cNvSpPr/>
          <p:nvPr/>
        </p:nvSpPr>
        <p:spPr>
          <a:xfrm>
            <a:off x="6711696" y="2926080"/>
            <a:ext cx="1362456" cy="987552"/>
          </a:xfrm>
          <a:prstGeom prst="rect">
            <a:avLst/>
          </a:prstGeom>
          <a:noFill/>
          <a:ln/>
        </p:spPr>
        <p:txBody>
          <a:bodyPr wrap="square" lIns="0" tIns="0" rIns="0" bIns="0" rtlCol="0" anchor="t"/>
          <a:lstStyle/>
          <a:p>
            <a:pPr indent="0" marL="0">
              <a:buNone/>
            </a:pPr>
            <a:r>
              <a:rPr lang="en-US" sz="800" dirty="0">
                <a:solidFill>
                  <a:srgbClr val="1A2F38"/>
                </a:solidFill>
                <a:latin typeface="Calibri" pitchFamily="34" charset="0"/>
                <a:ea typeface="Calibri" pitchFamily="34" charset="-122"/>
                <a:cs typeface="Calibri" pitchFamily="34" charset="-120"/>
              </a:rPr>
              <a:t>Post Alert</a:t>
            </a:r>
            <a:endParaRPr lang="en-US" sz="800" dirty="0"/>
          </a:p>
          <a:p>
            <a:pPr indent="0" marL="0">
              <a:buNone/>
            </a:pPr>
            <a:r>
              <a:rPr lang="en-US" sz="800" dirty="0">
                <a:solidFill>
                  <a:srgbClr val="1A2F38"/>
                </a:solidFill>
                <a:latin typeface="Calibri" pitchFamily="34" charset="0"/>
                <a:ea typeface="Calibri" pitchFamily="34" charset="-122"/>
                <a:cs typeface="Calibri" pitchFamily="34" charset="-120"/>
              </a:rPr>
              <a:t>Skip account</a:t>
            </a:r>
            <a:endParaRPr lang="en-US" sz="800" dirty="0"/>
          </a:p>
          <a:p>
            <a:pPr indent="0" marL="0">
              <a:buNone/>
            </a:pPr>
            <a:r>
              <a:rPr lang="en-US" sz="800" dirty="0">
                <a:solidFill>
                  <a:srgbClr val="1A2F38"/>
                </a:solidFill>
                <a:latin typeface="Calibri" pitchFamily="34" charset="0"/>
                <a:ea typeface="Calibri" pitchFamily="34" charset="-122"/>
                <a:cs typeface="Calibri" pitchFamily="34" charset="-120"/>
              </a:rPr>
              <a:t>Others continue</a:t>
            </a:r>
            <a:endParaRPr lang="en-US" sz="800" dirty="0"/>
          </a:p>
          <a:p>
            <a:pPr indent="0" marL="0">
              <a:buNone/>
            </a:pPr>
            <a:r>
              <a:rPr lang="en-US" sz="800" dirty="0">
                <a:solidFill>
                  <a:srgbClr val="1A2F38"/>
                </a:solidFill>
                <a:latin typeface="Calibri" pitchFamily="34" charset="0"/>
                <a:ea typeface="Calibri" pitchFamily="34" charset="-122"/>
                <a:cs typeface="Calibri" pitchFamily="34" charset="-120"/>
              </a:rPr>
              <a:t>normally</a:t>
            </a:r>
            <a:endParaRPr lang="en-US" sz="800" dirty="0"/>
          </a:p>
        </p:txBody>
      </p:sp>
      <p:sp>
        <p:nvSpPr>
          <p:cNvPr id="40" name="Shape 38"/>
          <p:cNvSpPr/>
          <p:nvPr/>
        </p:nvSpPr>
        <p:spPr>
          <a:xfrm>
            <a:off x="320040" y="4498848"/>
            <a:ext cx="8503920" cy="320040"/>
          </a:xfrm>
          <a:prstGeom prst="roundRect">
            <a:avLst>
              <a:gd name="adj" fmla="val 22857"/>
            </a:avLst>
          </a:prstGeom>
          <a:solidFill>
            <a:srgbClr val="EDF6F9"/>
          </a:solidFill>
          <a:ln w="12700">
            <a:solidFill>
              <a:srgbClr val="D0ECF2"/>
            </a:solidFill>
            <a:prstDash val="solid"/>
          </a:ln>
        </p:spPr>
      </p:sp>
      <p:sp>
        <p:nvSpPr>
          <p:cNvPr id="41" name="Text 39"/>
          <p:cNvSpPr/>
          <p:nvPr/>
        </p:nvSpPr>
        <p:spPr>
          <a:xfrm>
            <a:off x="457200" y="4517136"/>
            <a:ext cx="8229600" cy="256032"/>
          </a:xfrm>
          <a:prstGeom prst="rect">
            <a:avLst/>
          </a:prstGeom>
          <a:noFill/>
          <a:ln/>
        </p:spPr>
        <p:txBody>
          <a:bodyPr wrap="square" lIns="0" tIns="0" rIns="0" bIns="0" rtlCol="0" anchor="ctr"/>
          <a:lstStyle/>
          <a:p>
            <a:pPr indent="0" marL="0">
              <a:buNone/>
            </a:pPr>
            <a:r>
              <a:rPr lang="en-US" sz="850" dirty="0">
                <a:solidFill>
                  <a:srgbClr val="1F5C6B"/>
                </a:solidFill>
                <a:latin typeface="Calibri" pitchFamily="34" charset="0"/>
                <a:ea typeface="Calibri" pitchFamily="34" charset="-122"/>
                <a:cs typeface="Calibri" pitchFamily="34" charset="-120"/>
              </a:rPr>
              <a:t>All 15 error codes defined in seed_error_catalog.csv — severity, auto_fixable flag, SLA minutes, escalation team, NYDFS notification flag. Zero error logic hardcoded.</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F5C6B"/>
          </a:solidFill>
          <a:ln w="12700">
            <a:solidFill>
              <a:srgbClr val="1F5C6B"/>
            </a:solidFill>
            <a:prstDash val="solid"/>
          </a:ln>
        </p:spPr>
      </p:sp>
      <p:sp>
        <p:nvSpPr>
          <p:cNvPr id="3" name="Shape 1"/>
          <p:cNvSpPr/>
          <p:nvPr/>
        </p:nvSpPr>
        <p:spPr>
          <a:xfrm>
            <a:off x="201168" y="0"/>
            <a:ext cx="8942832" cy="685800"/>
          </a:xfrm>
          <a:prstGeom prst="rect">
            <a:avLst/>
          </a:prstGeom>
          <a:solidFill>
            <a:srgbClr val="1A2F4A"/>
          </a:solidFill>
          <a:ln w="12700">
            <a:solidFill>
              <a:srgbClr val="1A2F4A"/>
            </a:solidFill>
            <a:prstDash val="solid"/>
          </a:ln>
        </p:spPr>
      </p:sp>
      <p:sp>
        <p:nvSpPr>
          <p:cNvPr id="4" name="Text 2"/>
          <p:cNvSpPr/>
          <p:nvPr/>
        </p:nvSpPr>
        <p:spPr>
          <a:xfrm>
            <a:off x="384048" y="54864"/>
            <a:ext cx="5943600" cy="56692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Error Handling &amp; Resiliency</a:t>
            </a:r>
            <a:endParaRPr lang="en-US" sz="2000" dirty="0"/>
          </a:p>
        </p:txBody>
      </p:sp>
      <p:sp>
        <p:nvSpPr>
          <p:cNvPr id="5" name="Text 3"/>
          <p:cNvSpPr/>
          <p:nvPr/>
        </p:nvSpPr>
        <p:spPr>
          <a:xfrm>
            <a:off x="384048" y="54864"/>
            <a:ext cx="8412480" cy="566928"/>
          </a:xfrm>
          <a:prstGeom prst="rect">
            <a:avLst/>
          </a:prstGeom>
          <a:noFill/>
          <a:ln/>
        </p:spPr>
        <p:txBody>
          <a:bodyPr wrap="square" lIns="0" tIns="0" rIns="0" bIns="0" rtlCol="0" anchor="ctr"/>
          <a:lstStyle/>
          <a:p>
            <a:pPr algn="r" indent="0" marL="0">
              <a:buNone/>
            </a:pPr>
            <a:r>
              <a:rPr lang="en-US" sz="1100" dirty="0">
                <a:solidFill>
                  <a:srgbClr val="F0D98C"/>
                </a:solidFill>
                <a:latin typeface="Calibri" pitchFamily="34" charset="0"/>
                <a:ea typeface="Calibri" pitchFamily="34" charset="-122"/>
                <a:cs typeface="Calibri" pitchFamily="34" charset="-120"/>
              </a:rPr>
              <a:t>Five Scenarios — Circuit Breaker &amp; Account Protection</a:t>
            </a:r>
            <a:endParaRPr lang="en-US" sz="1100" dirty="0"/>
          </a:p>
        </p:txBody>
      </p:sp>
      <p:sp>
        <p:nvSpPr>
          <p:cNvPr id="6" name="Shape 4"/>
          <p:cNvSpPr/>
          <p:nvPr/>
        </p:nvSpPr>
        <p:spPr>
          <a:xfrm>
            <a:off x="201168" y="4919472"/>
            <a:ext cx="8942832" cy="224028"/>
          </a:xfrm>
          <a:prstGeom prst="rect">
            <a:avLst/>
          </a:prstGeom>
          <a:solidFill>
            <a:srgbClr val="D0ECF2"/>
          </a:solidFill>
          <a:ln w="12700">
            <a:solidFill>
              <a:srgbClr val="D0ECF2"/>
            </a:solidFill>
            <a:prstDash val="solid"/>
          </a:ln>
        </p:spPr>
      </p:sp>
      <p:sp>
        <p:nvSpPr>
          <p:cNvPr id="7" name="Text 5"/>
          <p:cNvSpPr/>
          <p:nvPr/>
        </p:nvSpPr>
        <p:spPr>
          <a:xfrm>
            <a:off x="384048" y="4928616"/>
            <a:ext cx="8595360" cy="201168"/>
          </a:xfrm>
          <a:prstGeom prst="rect">
            <a:avLst/>
          </a:prstGeom>
          <a:noFill/>
          <a:ln/>
        </p:spPr>
        <p:txBody>
          <a:bodyPr wrap="square" rtlCol="0" anchor="ctr"/>
          <a:lstStyle/>
          <a:p>
            <a:pPr indent="0" marL="0">
              <a:buNone/>
            </a:pPr>
            <a:r>
              <a:rPr lang="en-US" sz="800" dirty="0">
                <a:solidFill>
                  <a:srgbClr val="1F5C6B"/>
                </a:solidFill>
                <a:latin typeface="Calibri" pitchFamily="34" charset="0"/>
                <a:ea typeface="Calibri" pitchFamily="34" charset="-122"/>
                <a:cs typeface="Calibri" pitchFamily="34" charset="-120"/>
              </a:rPr>
              <a:t>BBH Capital Partners  |  SWP Migration  |  Confidential</a:t>
            </a:r>
            <a:endParaRPr lang="en-US" sz="800" dirty="0"/>
          </a:p>
        </p:txBody>
      </p:sp>
      <p:sp>
        <p:nvSpPr>
          <p:cNvPr id="8" name="Shape 6"/>
          <p:cNvSpPr/>
          <p:nvPr/>
        </p:nvSpPr>
        <p:spPr>
          <a:xfrm>
            <a:off x="320040" y="804672"/>
            <a:ext cx="4114800" cy="2743200"/>
          </a:xfrm>
          <a:prstGeom prst="roundRect">
            <a:avLst>
              <a:gd name="adj" fmla="val 2667"/>
            </a:avLst>
          </a:prstGeom>
          <a:solidFill>
            <a:srgbClr val="FFFFFF"/>
          </a:solidFill>
          <a:ln w="12700">
            <a:solidFill>
              <a:srgbClr val="D0ECF2"/>
            </a:solidFill>
            <a:prstDash val="solid"/>
          </a:ln>
          <a:effectLst>
            <a:outerShdw sx="100000" sy="100000" kx="0" ky="0" algn="bl" rotWithShape="0" blurRad="101600" dist="38100" dir="2700000">
              <a:srgbClr val="000000">
                <a:alpha val="10000"/>
              </a:srgbClr>
            </a:outerShdw>
          </a:effectLst>
        </p:spPr>
      </p:sp>
      <p:sp>
        <p:nvSpPr>
          <p:cNvPr id="9" name="Text 7"/>
          <p:cNvSpPr/>
          <p:nvPr/>
        </p:nvSpPr>
        <p:spPr>
          <a:xfrm>
            <a:off x="457200" y="868680"/>
            <a:ext cx="3840480" cy="274320"/>
          </a:xfrm>
          <a:prstGeom prst="rect">
            <a:avLst/>
          </a:prstGeom>
          <a:noFill/>
          <a:ln/>
        </p:spPr>
        <p:txBody>
          <a:bodyPr wrap="square" lIns="0" tIns="0" rIns="0" bIns="0" rtlCol="0" anchor="ctr"/>
          <a:lstStyle/>
          <a:p>
            <a:pPr indent="0" marL="0">
              <a:buNone/>
            </a:pPr>
            <a:r>
              <a:rPr lang="en-US" sz="1100" b="1" dirty="0">
                <a:solidFill>
                  <a:srgbClr val="1A2F38"/>
                </a:solidFill>
                <a:latin typeface="Calibri" pitchFamily="34" charset="0"/>
                <a:ea typeface="Calibri" pitchFamily="34" charset="-122"/>
                <a:cs typeface="Calibri" pitchFamily="34" charset="-120"/>
              </a:rPr>
              <a:t>Circuit Breaker — Three States</a:t>
            </a:r>
            <a:endParaRPr lang="en-US" sz="1100" dirty="0"/>
          </a:p>
        </p:txBody>
      </p:sp>
      <p:sp>
        <p:nvSpPr>
          <p:cNvPr id="10" name="Shape 8"/>
          <p:cNvSpPr/>
          <p:nvPr/>
        </p:nvSpPr>
        <p:spPr>
          <a:xfrm>
            <a:off x="502920" y="1261872"/>
            <a:ext cx="1417320" cy="804672"/>
          </a:xfrm>
          <a:prstGeom prst="ellipse">
            <a:avLst/>
          </a:prstGeom>
          <a:solidFill>
            <a:srgbClr val="2E8B6E"/>
          </a:solidFill>
          <a:ln w="12700">
            <a:solidFill>
              <a:srgbClr val="2E8B6E"/>
            </a:solidFill>
            <a:prstDash val="solid"/>
          </a:ln>
        </p:spPr>
      </p:sp>
      <p:sp>
        <p:nvSpPr>
          <p:cNvPr id="11" name="Text 9"/>
          <p:cNvSpPr/>
          <p:nvPr/>
        </p:nvSpPr>
        <p:spPr>
          <a:xfrm>
            <a:off x="502920" y="1316736"/>
            <a:ext cx="14173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CLOSED</a:t>
            </a:r>
            <a:endParaRPr lang="en-US" sz="1000" dirty="0"/>
          </a:p>
        </p:txBody>
      </p:sp>
      <p:sp>
        <p:nvSpPr>
          <p:cNvPr id="12" name="Text 10"/>
          <p:cNvSpPr/>
          <p:nvPr/>
        </p:nvSpPr>
        <p:spPr>
          <a:xfrm>
            <a:off x="502920" y="1664208"/>
            <a:ext cx="1417320" cy="347472"/>
          </a:xfrm>
          <a:prstGeom prst="rect">
            <a:avLst/>
          </a:prstGeom>
          <a:noFill/>
          <a:ln/>
        </p:spPr>
        <p:txBody>
          <a:bodyPr wrap="square" lIns="0" tIns="0" rIns="0" bIns="0" rtlCol="0" anchor="ctr"/>
          <a:lstStyle/>
          <a:p>
            <a:pPr algn="ctr" indent="0" marL="0">
              <a:buNone/>
            </a:pPr>
            <a:r>
              <a:rPr lang="en-US" sz="800" dirty="0">
                <a:solidFill>
                  <a:srgbClr val="E0E0E0"/>
                </a:solidFill>
                <a:latin typeface="Calibri" pitchFamily="34" charset="0"/>
                <a:ea typeface="Calibri" pitchFamily="34" charset="-122"/>
                <a:cs typeface="Calibri" pitchFamily="34" charset="-120"/>
              </a:rPr>
              <a:t>Normal</a:t>
            </a:r>
            <a:endParaRPr lang="en-US" sz="800" dirty="0"/>
          </a:p>
          <a:p>
            <a:pPr algn="ctr" indent="0" marL="0">
              <a:buNone/>
            </a:pPr>
            <a:r>
              <a:rPr lang="en-US" sz="800" dirty="0">
                <a:solidFill>
                  <a:srgbClr val="E0E0E0"/>
                </a:solidFill>
                <a:latin typeface="Calibri" pitchFamily="34" charset="0"/>
                <a:ea typeface="Calibri" pitchFamily="34" charset="-122"/>
                <a:cs typeface="Calibri" pitchFamily="34" charset="-120"/>
              </a:rPr>
              <a:t>operation</a:t>
            </a:r>
            <a:endParaRPr lang="en-US" sz="800" dirty="0"/>
          </a:p>
        </p:txBody>
      </p:sp>
      <p:sp>
        <p:nvSpPr>
          <p:cNvPr id="13" name="Shape 11"/>
          <p:cNvSpPr/>
          <p:nvPr/>
        </p:nvSpPr>
        <p:spPr>
          <a:xfrm>
            <a:off x="2148840" y="1261872"/>
            <a:ext cx="1417320" cy="804672"/>
          </a:xfrm>
          <a:prstGeom prst="ellipse">
            <a:avLst/>
          </a:prstGeom>
          <a:solidFill>
            <a:srgbClr val="C0392B"/>
          </a:solidFill>
          <a:ln w="12700">
            <a:solidFill>
              <a:srgbClr val="C0392B"/>
            </a:solidFill>
            <a:prstDash val="solid"/>
          </a:ln>
        </p:spPr>
      </p:sp>
      <p:sp>
        <p:nvSpPr>
          <p:cNvPr id="14" name="Text 12"/>
          <p:cNvSpPr/>
          <p:nvPr/>
        </p:nvSpPr>
        <p:spPr>
          <a:xfrm>
            <a:off x="2148840" y="1316736"/>
            <a:ext cx="14173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OPEN</a:t>
            </a:r>
            <a:endParaRPr lang="en-US" sz="1000" dirty="0"/>
          </a:p>
        </p:txBody>
      </p:sp>
      <p:sp>
        <p:nvSpPr>
          <p:cNvPr id="15" name="Text 13"/>
          <p:cNvSpPr/>
          <p:nvPr/>
        </p:nvSpPr>
        <p:spPr>
          <a:xfrm>
            <a:off x="2148840" y="1664208"/>
            <a:ext cx="1417320" cy="347472"/>
          </a:xfrm>
          <a:prstGeom prst="rect">
            <a:avLst/>
          </a:prstGeom>
          <a:noFill/>
          <a:ln/>
        </p:spPr>
        <p:txBody>
          <a:bodyPr wrap="square" lIns="0" tIns="0" rIns="0" bIns="0" rtlCol="0" anchor="ctr"/>
          <a:lstStyle/>
          <a:p>
            <a:pPr algn="ctr" indent="0" marL="0">
              <a:buNone/>
            </a:pPr>
            <a:r>
              <a:rPr lang="en-US" sz="800" dirty="0">
                <a:solidFill>
                  <a:srgbClr val="E0E0E0"/>
                </a:solidFill>
                <a:latin typeface="Calibri" pitchFamily="34" charset="0"/>
                <a:ea typeface="Calibri" pitchFamily="34" charset="-122"/>
                <a:cs typeface="Calibri" pitchFamily="34" charset="-120"/>
              </a:rPr>
              <a:t>Blocks all</a:t>
            </a:r>
            <a:endParaRPr lang="en-US" sz="800" dirty="0"/>
          </a:p>
          <a:p>
            <a:pPr algn="ctr" indent="0" marL="0">
              <a:buNone/>
            </a:pPr>
            <a:r>
              <a:rPr lang="en-US" sz="800" dirty="0">
                <a:solidFill>
                  <a:srgbClr val="E0E0E0"/>
                </a:solidFill>
                <a:latin typeface="Calibri" pitchFamily="34" charset="0"/>
                <a:ea typeface="Calibri" pitchFamily="34" charset="-122"/>
                <a:cs typeface="Calibri" pitchFamily="34" charset="-120"/>
              </a:rPr>
              <a:t>calls (10s)</a:t>
            </a:r>
            <a:endParaRPr lang="en-US" sz="800" dirty="0"/>
          </a:p>
        </p:txBody>
      </p:sp>
      <p:sp>
        <p:nvSpPr>
          <p:cNvPr id="16" name="Shape 14"/>
          <p:cNvSpPr/>
          <p:nvPr/>
        </p:nvSpPr>
        <p:spPr>
          <a:xfrm>
            <a:off x="1325880" y="2377440"/>
            <a:ext cx="1417320" cy="804672"/>
          </a:xfrm>
          <a:prstGeom prst="ellipse">
            <a:avLst/>
          </a:prstGeom>
          <a:solidFill>
            <a:srgbClr val="D4872A"/>
          </a:solidFill>
          <a:ln w="12700">
            <a:solidFill>
              <a:srgbClr val="D4872A"/>
            </a:solidFill>
            <a:prstDash val="solid"/>
          </a:ln>
        </p:spPr>
      </p:sp>
      <p:sp>
        <p:nvSpPr>
          <p:cNvPr id="17" name="Text 15"/>
          <p:cNvSpPr/>
          <p:nvPr/>
        </p:nvSpPr>
        <p:spPr>
          <a:xfrm>
            <a:off x="1325880" y="2432304"/>
            <a:ext cx="141732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HALF-OPEN</a:t>
            </a:r>
            <a:endParaRPr lang="en-US" sz="1000" dirty="0"/>
          </a:p>
        </p:txBody>
      </p:sp>
      <p:sp>
        <p:nvSpPr>
          <p:cNvPr id="18" name="Text 16"/>
          <p:cNvSpPr/>
          <p:nvPr/>
        </p:nvSpPr>
        <p:spPr>
          <a:xfrm>
            <a:off x="1325880" y="2779776"/>
            <a:ext cx="1417320" cy="347472"/>
          </a:xfrm>
          <a:prstGeom prst="rect">
            <a:avLst/>
          </a:prstGeom>
          <a:noFill/>
          <a:ln/>
        </p:spPr>
        <p:txBody>
          <a:bodyPr wrap="square" lIns="0" tIns="0" rIns="0" bIns="0" rtlCol="0" anchor="ctr"/>
          <a:lstStyle/>
          <a:p>
            <a:pPr algn="ctr" indent="0" marL="0">
              <a:buNone/>
            </a:pPr>
            <a:r>
              <a:rPr lang="en-US" sz="800" dirty="0">
                <a:solidFill>
                  <a:srgbClr val="E0E0E0"/>
                </a:solidFill>
                <a:latin typeface="Calibri" pitchFamily="34" charset="0"/>
                <a:ea typeface="Calibri" pitchFamily="34" charset="-122"/>
                <a:cs typeface="Calibri" pitchFamily="34" charset="-120"/>
              </a:rPr>
              <a:t>One probe</a:t>
            </a:r>
            <a:endParaRPr lang="en-US" sz="800" dirty="0"/>
          </a:p>
          <a:p>
            <a:pPr algn="ctr" indent="0" marL="0">
              <a:buNone/>
            </a:pPr>
            <a:r>
              <a:rPr lang="en-US" sz="800" dirty="0">
                <a:solidFill>
                  <a:srgbClr val="E0E0E0"/>
                </a:solidFill>
                <a:latin typeface="Calibri" pitchFamily="34" charset="0"/>
                <a:ea typeface="Calibri" pitchFamily="34" charset="-122"/>
                <a:cs typeface="Calibri" pitchFamily="34" charset="-120"/>
              </a:rPr>
              <a:t>allowed</a:t>
            </a:r>
            <a:endParaRPr lang="en-US" sz="800" dirty="0"/>
          </a:p>
        </p:txBody>
      </p:sp>
      <p:sp>
        <p:nvSpPr>
          <p:cNvPr id="19" name="Text 17"/>
          <p:cNvSpPr/>
          <p:nvPr/>
        </p:nvSpPr>
        <p:spPr>
          <a:xfrm>
            <a:off x="1444752" y="1536192"/>
            <a:ext cx="777240" cy="201168"/>
          </a:xfrm>
          <a:prstGeom prst="rect">
            <a:avLst/>
          </a:prstGeom>
          <a:noFill/>
          <a:ln/>
        </p:spPr>
        <p:txBody>
          <a:bodyPr wrap="square" lIns="0" tIns="0" rIns="0" bIns="0" rtlCol="0" anchor="ctr"/>
          <a:lstStyle/>
          <a:p>
            <a:pPr algn="ctr" indent="0" marL="0">
              <a:buNone/>
            </a:pPr>
            <a:r>
              <a:rPr lang="en-US" sz="750" dirty="0">
                <a:solidFill>
                  <a:srgbClr val="C0392B"/>
                </a:solidFill>
                <a:latin typeface="Calibri" pitchFamily="34" charset="0"/>
                <a:ea typeface="Calibri" pitchFamily="34" charset="-122"/>
                <a:cs typeface="Calibri" pitchFamily="34" charset="-120"/>
              </a:rPr>
              <a:t>3 failures →</a:t>
            </a:r>
            <a:endParaRPr lang="en-US" sz="750" dirty="0"/>
          </a:p>
        </p:txBody>
      </p:sp>
      <p:sp>
        <p:nvSpPr>
          <p:cNvPr id="20" name="Text 18"/>
          <p:cNvSpPr/>
          <p:nvPr/>
        </p:nvSpPr>
        <p:spPr>
          <a:xfrm>
            <a:off x="658368" y="2029968"/>
            <a:ext cx="1005840" cy="201168"/>
          </a:xfrm>
          <a:prstGeom prst="rect">
            <a:avLst/>
          </a:prstGeom>
          <a:noFill/>
          <a:ln/>
        </p:spPr>
        <p:txBody>
          <a:bodyPr wrap="square" lIns="0" tIns="0" rIns="0" bIns="0" rtlCol="0" anchor="ctr"/>
          <a:lstStyle/>
          <a:p>
            <a:pPr algn="ctr" indent="0" marL="0">
              <a:buNone/>
            </a:pPr>
            <a:r>
              <a:rPr lang="en-US" sz="750" dirty="0">
                <a:solidFill>
                  <a:srgbClr val="2E8B6E"/>
                </a:solidFill>
                <a:latin typeface="Calibri" pitchFamily="34" charset="0"/>
                <a:ea typeface="Calibri" pitchFamily="34" charset="-122"/>
                <a:cs typeface="Calibri" pitchFamily="34" charset="-120"/>
              </a:rPr>
              <a:t>← probe OK</a:t>
            </a:r>
            <a:endParaRPr lang="en-US" sz="750" dirty="0"/>
          </a:p>
        </p:txBody>
      </p:sp>
      <p:sp>
        <p:nvSpPr>
          <p:cNvPr id="21" name="Text 19"/>
          <p:cNvSpPr/>
          <p:nvPr/>
        </p:nvSpPr>
        <p:spPr>
          <a:xfrm>
            <a:off x="2240280" y="2103120"/>
            <a:ext cx="640080" cy="201168"/>
          </a:xfrm>
          <a:prstGeom prst="rect">
            <a:avLst/>
          </a:prstGeom>
          <a:noFill/>
          <a:ln/>
        </p:spPr>
        <p:txBody>
          <a:bodyPr wrap="square" lIns="0" tIns="0" rIns="0" bIns="0" rtlCol="0" anchor="ctr"/>
          <a:lstStyle/>
          <a:p>
            <a:pPr algn="ctr" indent="0" marL="0">
              <a:buNone/>
            </a:pPr>
            <a:r>
              <a:rPr lang="en-US" sz="750" dirty="0">
                <a:solidFill>
                  <a:srgbClr val="D4872A"/>
                </a:solidFill>
                <a:latin typeface="Calibri" pitchFamily="34" charset="0"/>
                <a:ea typeface="Calibri" pitchFamily="34" charset="-122"/>
                <a:cs typeface="Calibri" pitchFamily="34" charset="-120"/>
              </a:rPr>
              <a:t>10s →</a:t>
            </a:r>
            <a:endParaRPr lang="en-US" sz="750" dirty="0"/>
          </a:p>
        </p:txBody>
      </p:sp>
      <p:sp>
        <p:nvSpPr>
          <p:cNvPr id="22" name="Shape 20"/>
          <p:cNvSpPr/>
          <p:nvPr/>
        </p:nvSpPr>
        <p:spPr>
          <a:xfrm>
            <a:off x="320040" y="3611880"/>
            <a:ext cx="4114800" cy="1207008"/>
          </a:xfrm>
          <a:prstGeom prst="roundRect">
            <a:avLst>
              <a:gd name="adj" fmla="val 6061"/>
            </a:avLst>
          </a:prstGeom>
          <a:solidFill>
            <a:srgbClr val="FFF9EC"/>
          </a:solidFill>
          <a:ln w="12700">
            <a:solidFill>
              <a:srgbClr val="C9A84C"/>
            </a:solidFill>
            <a:prstDash val="solid"/>
          </a:ln>
        </p:spPr>
      </p:sp>
      <p:sp>
        <p:nvSpPr>
          <p:cNvPr id="23" name="Shape 21"/>
          <p:cNvSpPr/>
          <p:nvPr/>
        </p:nvSpPr>
        <p:spPr>
          <a:xfrm>
            <a:off x="438912" y="3675888"/>
            <a:ext cx="1005840" cy="219456"/>
          </a:xfrm>
          <a:prstGeom prst="roundRect">
            <a:avLst>
              <a:gd name="adj" fmla="val 20833"/>
            </a:avLst>
          </a:prstGeom>
          <a:solidFill>
            <a:srgbClr val="D4872A"/>
          </a:solidFill>
          <a:ln w="12700">
            <a:solidFill>
              <a:srgbClr val="FFFFFF"/>
            </a:solidFill>
            <a:prstDash val="solid"/>
          </a:ln>
        </p:spPr>
      </p:sp>
      <p:sp>
        <p:nvSpPr>
          <p:cNvPr id="24" name="Text 22"/>
          <p:cNvSpPr/>
          <p:nvPr/>
        </p:nvSpPr>
        <p:spPr>
          <a:xfrm>
            <a:off x="438912" y="3675888"/>
            <a:ext cx="1005840"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SCENARIO 1</a:t>
            </a:r>
            <a:endParaRPr lang="en-US" sz="800" dirty="0"/>
          </a:p>
        </p:txBody>
      </p:sp>
      <p:sp>
        <p:nvSpPr>
          <p:cNvPr id="25" name="Text 23"/>
          <p:cNvSpPr/>
          <p:nvPr/>
        </p:nvSpPr>
        <p:spPr>
          <a:xfrm>
            <a:off x="438912" y="3931920"/>
            <a:ext cx="3749040" cy="256032"/>
          </a:xfrm>
          <a:prstGeom prst="rect">
            <a:avLst/>
          </a:prstGeom>
          <a:noFill/>
          <a:ln/>
        </p:spPr>
        <p:txBody>
          <a:bodyPr wrap="square" lIns="0" tIns="0" rIns="0" bIns="0" rtlCol="0" anchor="ctr"/>
          <a:lstStyle/>
          <a:p>
            <a:pPr indent="0" marL="0">
              <a:buNone/>
            </a:pPr>
            <a:r>
              <a:rPr lang="en-US" sz="1100" b="1" dirty="0">
                <a:solidFill>
                  <a:srgbClr val="1A2F38"/>
                </a:solidFill>
                <a:latin typeface="Calibri" pitchFamily="34" charset="0"/>
                <a:ea typeface="Calibri" pitchFamily="34" charset="-122"/>
                <a:cs typeface="Calibri" pitchFamily="34" charset="-120"/>
              </a:rPr>
              <a:t>Rate Limit — HTTP 429</a:t>
            </a:r>
            <a:endParaRPr lang="en-US" sz="1100" dirty="0"/>
          </a:p>
        </p:txBody>
      </p:sp>
      <p:sp>
        <p:nvSpPr>
          <p:cNvPr id="26" name="Text 24"/>
          <p:cNvSpPr/>
          <p:nvPr/>
        </p:nvSpPr>
        <p:spPr>
          <a:xfrm>
            <a:off x="438912" y="4206240"/>
            <a:ext cx="3749040" cy="502920"/>
          </a:xfrm>
          <a:prstGeom prst="rect">
            <a:avLst/>
          </a:prstGeom>
          <a:noFill/>
          <a:ln/>
        </p:spPr>
        <p:txBody>
          <a:bodyPr wrap="square" lIns="0" tIns="0" rIns="0" bIns="0" rtlCol="0" anchor="ctr"/>
          <a:lstStyle/>
          <a:p>
            <a:pPr indent="0" marL="0">
              <a:buNone/>
            </a:pPr>
            <a:r>
              <a:rPr lang="en-US" sz="900" dirty="0">
                <a:solidFill>
                  <a:srgbClr val="3D5A66"/>
                </a:solidFill>
                <a:latin typeface="Calibri" pitchFamily="34" charset="0"/>
                <a:ea typeface="Calibri" pitchFamily="34" charset="-122"/>
                <a:cs typeface="Calibri" pitchFamily="34" charset="-120"/>
              </a:rPr>
              <a:t>Injected on 3rd call to ACC001. Client reads Retry-After header, applies</a:t>
            </a:r>
            <a:endParaRPr lang="en-US" sz="900" dirty="0"/>
          </a:p>
          <a:p>
            <a:pPr indent="0" marL="0">
              <a:buNone/>
            </a:pPr>
            <a:r>
              <a:rPr lang="en-US" sz="900" dirty="0">
                <a:solidFill>
                  <a:srgbClr val="3D5A66"/>
                </a:solidFill>
                <a:latin typeface="Calibri" pitchFamily="34" charset="0"/>
                <a:ea typeface="Calibri" pitchFamily="34" charset="-122"/>
                <a:cs typeface="Calibri" pitchFamily="34" charset="-120"/>
              </a:rPr>
              <a:t>exponential backoff (1s→30s, max 4 attempts). Retry invisible to DAG.</a:t>
            </a:r>
            <a:endParaRPr lang="en-US" sz="900" dirty="0"/>
          </a:p>
        </p:txBody>
      </p:sp>
      <p:sp>
        <p:nvSpPr>
          <p:cNvPr id="27" name="Shape 25"/>
          <p:cNvSpPr/>
          <p:nvPr/>
        </p:nvSpPr>
        <p:spPr>
          <a:xfrm>
            <a:off x="4663440" y="804672"/>
            <a:ext cx="4114800" cy="1261872"/>
          </a:xfrm>
          <a:prstGeom prst="roundRect">
            <a:avLst>
              <a:gd name="adj" fmla="val 5797"/>
            </a:avLst>
          </a:prstGeom>
          <a:solidFill>
            <a:srgbClr val="FFFFFF"/>
          </a:solidFill>
          <a:ln w="12700">
            <a:solidFill>
              <a:srgbClr val="D0ECF2"/>
            </a:solidFill>
            <a:prstDash val="solid"/>
          </a:ln>
          <a:effectLst>
            <a:outerShdw sx="100000" sy="100000" kx="0" ky="0" algn="bl" rotWithShape="0" blurRad="101600" dist="38100" dir="2700000">
              <a:srgbClr val="000000">
                <a:alpha val="10000"/>
              </a:srgbClr>
            </a:outerShdw>
          </a:effectLst>
        </p:spPr>
      </p:sp>
      <p:sp>
        <p:nvSpPr>
          <p:cNvPr id="28" name="Shape 26"/>
          <p:cNvSpPr/>
          <p:nvPr/>
        </p:nvSpPr>
        <p:spPr>
          <a:xfrm>
            <a:off x="4782312" y="877824"/>
            <a:ext cx="1005840" cy="219456"/>
          </a:xfrm>
          <a:prstGeom prst="roundRect">
            <a:avLst>
              <a:gd name="adj" fmla="val 20833"/>
            </a:avLst>
          </a:prstGeom>
          <a:solidFill>
            <a:srgbClr val="D4872A"/>
          </a:solidFill>
          <a:ln w="12700">
            <a:solidFill>
              <a:srgbClr val="FFFFFF"/>
            </a:solidFill>
            <a:prstDash val="solid"/>
          </a:ln>
        </p:spPr>
      </p:sp>
      <p:sp>
        <p:nvSpPr>
          <p:cNvPr id="29" name="Text 27"/>
          <p:cNvSpPr/>
          <p:nvPr/>
        </p:nvSpPr>
        <p:spPr>
          <a:xfrm>
            <a:off x="4782312" y="877824"/>
            <a:ext cx="1005840"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SCENARIO 2</a:t>
            </a:r>
            <a:endParaRPr lang="en-US" sz="800" dirty="0"/>
          </a:p>
        </p:txBody>
      </p:sp>
      <p:sp>
        <p:nvSpPr>
          <p:cNvPr id="30" name="Text 28"/>
          <p:cNvSpPr/>
          <p:nvPr/>
        </p:nvSpPr>
        <p:spPr>
          <a:xfrm>
            <a:off x="4782312" y="1133856"/>
            <a:ext cx="3840480" cy="274320"/>
          </a:xfrm>
          <a:prstGeom prst="rect">
            <a:avLst/>
          </a:prstGeom>
          <a:noFill/>
          <a:ln/>
        </p:spPr>
        <p:txBody>
          <a:bodyPr wrap="square" lIns="0" tIns="0" rIns="0" bIns="0" rtlCol="0" anchor="ctr"/>
          <a:lstStyle/>
          <a:p>
            <a:pPr indent="0" marL="0">
              <a:buNone/>
            </a:pPr>
            <a:r>
              <a:rPr lang="en-US" sz="1000" b="1" dirty="0">
                <a:solidFill>
                  <a:srgbClr val="1A2F38"/>
                </a:solidFill>
                <a:latin typeface="Calibri" pitchFamily="34" charset="0"/>
                <a:ea typeface="Calibri" pitchFamily="34" charset="-122"/>
                <a:cs typeface="Calibri" pitchFamily="34" charset="-120"/>
              </a:rPr>
              <a:t>Price Stale — WARN, Auto-Fixable</a:t>
            </a:r>
            <a:endParaRPr lang="en-US" sz="1000" dirty="0"/>
          </a:p>
        </p:txBody>
      </p:sp>
      <p:sp>
        <p:nvSpPr>
          <p:cNvPr id="31" name="Text 29"/>
          <p:cNvSpPr/>
          <p:nvPr/>
        </p:nvSpPr>
        <p:spPr>
          <a:xfrm>
            <a:off x="4782312" y="1408176"/>
            <a:ext cx="3840480" cy="594360"/>
          </a:xfrm>
          <a:prstGeom prst="rect">
            <a:avLst/>
          </a:prstGeom>
          <a:noFill/>
          <a:ln/>
        </p:spPr>
        <p:txBody>
          <a:bodyPr wrap="square" lIns="0" tIns="0" rIns="0" bIns="0" rtlCol="0" anchor="ctr"/>
          <a:lstStyle/>
          <a:p>
            <a:pPr indent="0" marL="0">
              <a:buNone/>
            </a:pPr>
            <a:r>
              <a:rPr lang="en-US" sz="850" dirty="0">
                <a:solidFill>
                  <a:srgbClr val="3D5A66"/>
                </a:solidFill>
                <a:latin typeface="Calibri" pitchFamily="34" charset="0"/>
                <a:ea typeface="Calibri" pitchFamily="34" charset="-122"/>
                <a:cs typeface="Calibri" pitchFamily="34" charset="-120"/>
              </a:rPr>
              <a:t>ACC002 TX20003 arrives with PRICE_STALE. Pipeline calls /fix → fix_applied=true,</a:t>
            </a:r>
            <a:endParaRPr lang="en-US" sz="850" dirty="0"/>
          </a:p>
          <a:p>
            <a:pPr indent="0" marL="0">
              <a:buNone/>
            </a:pPr>
            <a:r>
              <a:rPr lang="en-US" sz="850" dirty="0">
                <a:solidFill>
                  <a:srgbClr val="3D5A66"/>
                </a:solidFill>
                <a:latin typeface="Calibri" pitchFamily="34" charset="0"/>
                <a:ea typeface="Calibri" pitchFamily="34" charset="-122"/>
                <a:cs typeface="Calibri" pitchFamily="34" charset="-120"/>
              </a:rPr>
              <a:t>fix_action=REFRESH_PRICE_FEED. No human intervention. Pipeline continues.</a:t>
            </a:r>
            <a:endParaRPr lang="en-US" sz="850" dirty="0"/>
          </a:p>
        </p:txBody>
      </p:sp>
      <p:sp>
        <p:nvSpPr>
          <p:cNvPr id="32" name="Shape 30"/>
          <p:cNvSpPr/>
          <p:nvPr/>
        </p:nvSpPr>
        <p:spPr>
          <a:xfrm>
            <a:off x="4663440" y="2194560"/>
            <a:ext cx="4114800" cy="1261872"/>
          </a:xfrm>
          <a:prstGeom prst="roundRect">
            <a:avLst>
              <a:gd name="adj" fmla="val 5797"/>
            </a:avLst>
          </a:prstGeom>
          <a:solidFill>
            <a:srgbClr val="FFFFFF"/>
          </a:solidFill>
          <a:ln w="12700">
            <a:solidFill>
              <a:srgbClr val="D0ECF2"/>
            </a:solidFill>
            <a:prstDash val="solid"/>
          </a:ln>
          <a:effectLst>
            <a:outerShdw sx="100000" sy="100000" kx="0" ky="0" algn="bl" rotWithShape="0" blurRad="101600" dist="38100" dir="2700000">
              <a:srgbClr val="000000">
                <a:alpha val="10000"/>
              </a:srgbClr>
            </a:outerShdw>
          </a:effectLst>
        </p:spPr>
      </p:sp>
      <p:sp>
        <p:nvSpPr>
          <p:cNvPr id="33" name="Shape 31"/>
          <p:cNvSpPr/>
          <p:nvPr/>
        </p:nvSpPr>
        <p:spPr>
          <a:xfrm>
            <a:off x="4782312" y="2267712"/>
            <a:ext cx="1005840" cy="219456"/>
          </a:xfrm>
          <a:prstGeom prst="roundRect">
            <a:avLst>
              <a:gd name="adj" fmla="val 20833"/>
            </a:avLst>
          </a:prstGeom>
          <a:solidFill>
            <a:srgbClr val="C0392B"/>
          </a:solidFill>
          <a:ln w="12700">
            <a:solidFill>
              <a:srgbClr val="FFFFFF"/>
            </a:solidFill>
            <a:prstDash val="solid"/>
          </a:ln>
        </p:spPr>
      </p:sp>
      <p:sp>
        <p:nvSpPr>
          <p:cNvPr id="34" name="Text 32"/>
          <p:cNvSpPr/>
          <p:nvPr/>
        </p:nvSpPr>
        <p:spPr>
          <a:xfrm>
            <a:off x="4782312" y="2267712"/>
            <a:ext cx="1005840"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SCENARIO 3</a:t>
            </a:r>
            <a:endParaRPr lang="en-US" sz="800" dirty="0"/>
          </a:p>
        </p:txBody>
      </p:sp>
      <p:sp>
        <p:nvSpPr>
          <p:cNvPr id="35" name="Text 33"/>
          <p:cNvSpPr/>
          <p:nvPr/>
        </p:nvSpPr>
        <p:spPr>
          <a:xfrm>
            <a:off x="4782312" y="2523744"/>
            <a:ext cx="3840480" cy="274320"/>
          </a:xfrm>
          <a:prstGeom prst="rect">
            <a:avLst/>
          </a:prstGeom>
          <a:noFill/>
          <a:ln/>
        </p:spPr>
        <p:txBody>
          <a:bodyPr wrap="square" lIns="0" tIns="0" rIns="0" bIns="0" rtlCol="0" anchor="ctr"/>
          <a:lstStyle/>
          <a:p>
            <a:pPr indent="0" marL="0">
              <a:buNone/>
            </a:pPr>
            <a:r>
              <a:rPr lang="en-US" sz="1000" b="1" dirty="0">
                <a:solidFill>
                  <a:srgbClr val="1A2F38"/>
                </a:solidFill>
                <a:latin typeface="Calibri" pitchFamily="34" charset="0"/>
                <a:ea typeface="Calibri" pitchFamily="34" charset="-122"/>
                <a:cs typeface="Calibri" pitchFamily="34" charset="-120"/>
              </a:rPr>
              <a:t>Account Suspended — ERROR, Not Fixable</a:t>
            </a:r>
            <a:endParaRPr lang="en-US" sz="1000" dirty="0"/>
          </a:p>
        </p:txBody>
      </p:sp>
      <p:sp>
        <p:nvSpPr>
          <p:cNvPr id="36" name="Text 34"/>
          <p:cNvSpPr/>
          <p:nvPr/>
        </p:nvSpPr>
        <p:spPr>
          <a:xfrm>
            <a:off x="4782312" y="2798064"/>
            <a:ext cx="3840480" cy="594360"/>
          </a:xfrm>
          <a:prstGeom prst="rect">
            <a:avLst/>
          </a:prstGeom>
          <a:noFill/>
          <a:ln/>
        </p:spPr>
        <p:txBody>
          <a:bodyPr wrap="square" lIns="0" tIns="0" rIns="0" bIns="0" rtlCol="0" anchor="ctr"/>
          <a:lstStyle/>
          <a:p>
            <a:pPr indent="0" marL="0">
              <a:buNone/>
            </a:pPr>
            <a:r>
              <a:rPr lang="en-US" sz="850" dirty="0">
                <a:solidFill>
                  <a:srgbClr val="3D5A66"/>
                </a:solidFill>
                <a:latin typeface="Calibri" pitchFamily="34" charset="0"/>
                <a:ea typeface="Calibri" pitchFamily="34" charset="-122"/>
                <a:cs typeface="Calibri" pitchFamily="34" charset="-120"/>
              </a:rPr>
              <a:t>ACC003 all records BLOCKED. POST /fix → HTTP 409, escalation_required=true.</a:t>
            </a:r>
            <a:endParaRPr lang="en-US" sz="850" dirty="0"/>
          </a:p>
          <a:p>
            <a:pPr indent="0" marL="0">
              <a:buNone/>
            </a:pPr>
            <a:r>
              <a:rPr lang="en-US" sz="850" dirty="0">
                <a:solidFill>
                  <a:srgbClr val="3D5A66"/>
                </a:solidFill>
                <a:latin typeface="Calibri" pitchFamily="34" charset="0"/>
                <a:ea typeface="Calibri" pitchFamily="34" charset="-122"/>
                <a:cs typeface="Calibri" pitchFamily="34" charset="-120"/>
              </a:rPr>
              <a:t>Alert posted. ACC003 skipped. ACC001, ACC002, ACC004, ACC005 unaffected.</a:t>
            </a:r>
            <a:endParaRPr lang="en-US" sz="850" dirty="0"/>
          </a:p>
        </p:txBody>
      </p:sp>
      <p:sp>
        <p:nvSpPr>
          <p:cNvPr id="37" name="Shape 35"/>
          <p:cNvSpPr/>
          <p:nvPr/>
        </p:nvSpPr>
        <p:spPr>
          <a:xfrm>
            <a:off x="4663440" y="3584448"/>
            <a:ext cx="4114800" cy="1261872"/>
          </a:xfrm>
          <a:prstGeom prst="roundRect">
            <a:avLst>
              <a:gd name="adj" fmla="val 5797"/>
            </a:avLst>
          </a:prstGeom>
          <a:solidFill>
            <a:srgbClr val="FFFFFF"/>
          </a:solidFill>
          <a:ln w="12700">
            <a:solidFill>
              <a:srgbClr val="D0ECF2"/>
            </a:solidFill>
            <a:prstDash val="solid"/>
          </a:ln>
          <a:effectLst>
            <a:outerShdw sx="100000" sy="100000" kx="0" ky="0" algn="bl" rotWithShape="0" blurRad="101600" dist="38100" dir="2700000">
              <a:srgbClr val="000000">
                <a:alpha val="10000"/>
              </a:srgbClr>
            </a:outerShdw>
          </a:effectLst>
        </p:spPr>
      </p:sp>
      <p:sp>
        <p:nvSpPr>
          <p:cNvPr id="38" name="Shape 36"/>
          <p:cNvSpPr/>
          <p:nvPr/>
        </p:nvSpPr>
        <p:spPr>
          <a:xfrm>
            <a:off x="4782312" y="3657600"/>
            <a:ext cx="1005840" cy="219456"/>
          </a:xfrm>
          <a:prstGeom prst="roundRect">
            <a:avLst>
              <a:gd name="adj" fmla="val 20833"/>
            </a:avLst>
          </a:prstGeom>
          <a:solidFill>
            <a:srgbClr val="4A6572"/>
          </a:solidFill>
          <a:ln w="12700">
            <a:solidFill>
              <a:srgbClr val="FFFFFF"/>
            </a:solidFill>
            <a:prstDash val="solid"/>
          </a:ln>
        </p:spPr>
      </p:sp>
      <p:sp>
        <p:nvSpPr>
          <p:cNvPr id="39" name="Text 37"/>
          <p:cNvSpPr/>
          <p:nvPr/>
        </p:nvSpPr>
        <p:spPr>
          <a:xfrm>
            <a:off x="4782312" y="3657600"/>
            <a:ext cx="1005840"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SCENARIO 4</a:t>
            </a:r>
            <a:endParaRPr lang="en-US" sz="800" dirty="0"/>
          </a:p>
        </p:txBody>
      </p:sp>
      <p:sp>
        <p:nvSpPr>
          <p:cNvPr id="40" name="Text 38"/>
          <p:cNvSpPr/>
          <p:nvPr/>
        </p:nvSpPr>
        <p:spPr>
          <a:xfrm>
            <a:off x="4782312" y="3913632"/>
            <a:ext cx="3840480" cy="274320"/>
          </a:xfrm>
          <a:prstGeom prst="rect">
            <a:avLst/>
          </a:prstGeom>
          <a:noFill/>
          <a:ln/>
        </p:spPr>
        <p:txBody>
          <a:bodyPr wrap="square" lIns="0" tIns="0" rIns="0" bIns="0" rtlCol="0" anchor="ctr"/>
          <a:lstStyle/>
          <a:p>
            <a:pPr indent="0" marL="0">
              <a:buNone/>
            </a:pPr>
            <a:r>
              <a:rPr lang="en-US" sz="1000" b="1" dirty="0">
                <a:solidFill>
                  <a:srgbClr val="1A2F38"/>
                </a:solidFill>
                <a:latin typeface="Calibri" pitchFamily="34" charset="0"/>
                <a:ea typeface="Calibri" pitchFamily="34" charset="-122"/>
                <a:cs typeface="Calibri" pitchFamily="34" charset="-120"/>
              </a:rPr>
              <a:t>NAV Calculation Failed — HTTP 422</a:t>
            </a:r>
            <a:endParaRPr lang="en-US" sz="1000" dirty="0"/>
          </a:p>
        </p:txBody>
      </p:sp>
      <p:sp>
        <p:nvSpPr>
          <p:cNvPr id="41" name="Text 39"/>
          <p:cNvSpPr/>
          <p:nvPr/>
        </p:nvSpPr>
        <p:spPr>
          <a:xfrm>
            <a:off x="4782312" y="4187952"/>
            <a:ext cx="3840480" cy="594360"/>
          </a:xfrm>
          <a:prstGeom prst="rect">
            <a:avLst/>
          </a:prstGeom>
          <a:noFill/>
          <a:ln/>
        </p:spPr>
        <p:txBody>
          <a:bodyPr wrap="square" lIns="0" tIns="0" rIns="0" bIns="0" rtlCol="0" anchor="ctr"/>
          <a:lstStyle/>
          <a:p>
            <a:pPr indent="0" marL="0">
              <a:buNone/>
            </a:pPr>
            <a:r>
              <a:rPr lang="en-US" sz="850" dirty="0">
                <a:solidFill>
                  <a:srgbClr val="3D5A66"/>
                </a:solidFill>
                <a:latin typeface="Calibri" pitchFamily="34" charset="0"/>
                <a:ea typeface="Calibri" pitchFamily="34" charset="-122"/>
                <a:cs typeface="Calibri" pitchFamily="34" charset="-120"/>
              </a:rPr>
              <a:t>GET /nav for ACC003 → HTTP 422 with full error_detail block. Alert posted.</a:t>
            </a:r>
            <a:endParaRPr lang="en-US" sz="850" dirty="0"/>
          </a:p>
          <a:p>
            <a:pPr indent="0" marL="0">
              <a:buNone/>
            </a:pPr>
            <a:r>
              <a:rPr lang="en-US" sz="850" dirty="0">
                <a:solidFill>
                  <a:srgbClr val="3D5A66"/>
                </a:solidFill>
                <a:latin typeface="Calibri" pitchFamily="34" charset="0"/>
                <a:ea typeface="Calibri" pitchFamily="34" charset="-122"/>
                <a:cs typeface="Calibri" pitchFamily="34" charset="-120"/>
              </a:rPr>
              <a:t>excluded_from_gold=1. All other accounts produce full Gold output.</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F5C6B"/>
          </a:solidFill>
          <a:ln w="12700">
            <a:solidFill>
              <a:srgbClr val="1F5C6B"/>
            </a:solidFill>
            <a:prstDash val="solid"/>
          </a:ln>
        </p:spPr>
      </p:sp>
      <p:sp>
        <p:nvSpPr>
          <p:cNvPr id="3" name="Shape 1"/>
          <p:cNvSpPr/>
          <p:nvPr/>
        </p:nvSpPr>
        <p:spPr>
          <a:xfrm>
            <a:off x="201168" y="0"/>
            <a:ext cx="8942832" cy="685800"/>
          </a:xfrm>
          <a:prstGeom prst="rect">
            <a:avLst/>
          </a:prstGeom>
          <a:solidFill>
            <a:srgbClr val="1A2F4A"/>
          </a:solidFill>
          <a:ln w="12700">
            <a:solidFill>
              <a:srgbClr val="1A2F4A"/>
            </a:solidFill>
            <a:prstDash val="solid"/>
          </a:ln>
        </p:spPr>
      </p:sp>
      <p:sp>
        <p:nvSpPr>
          <p:cNvPr id="4" name="Text 2"/>
          <p:cNvSpPr/>
          <p:nvPr/>
        </p:nvSpPr>
        <p:spPr>
          <a:xfrm>
            <a:off x="384048" y="54864"/>
            <a:ext cx="5943600" cy="56692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File Ingestion Scenarios</a:t>
            </a:r>
            <a:endParaRPr lang="en-US" sz="2000" dirty="0"/>
          </a:p>
        </p:txBody>
      </p:sp>
      <p:sp>
        <p:nvSpPr>
          <p:cNvPr id="5" name="Text 3"/>
          <p:cNvSpPr/>
          <p:nvPr/>
        </p:nvSpPr>
        <p:spPr>
          <a:xfrm>
            <a:off x="384048" y="54864"/>
            <a:ext cx="8412480" cy="566928"/>
          </a:xfrm>
          <a:prstGeom prst="rect">
            <a:avLst/>
          </a:prstGeom>
          <a:noFill/>
          <a:ln/>
        </p:spPr>
        <p:txBody>
          <a:bodyPr wrap="square" lIns="0" tIns="0" rIns="0" bIns="0" rtlCol="0" anchor="ctr"/>
          <a:lstStyle/>
          <a:p>
            <a:pPr algn="r" indent="0" marL="0">
              <a:buNone/>
            </a:pPr>
            <a:r>
              <a:rPr lang="en-US" sz="1100" dirty="0">
                <a:solidFill>
                  <a:srgbClr val="F0D98C"/>
                </a:solidFill>
                <a:latin typeface="Calibri" pitchFamily="34" charset="0"/>
                <a:ea typeface="Calibri" pitchFamily="34" charset="-122"/>
                <a:cs typeface="Calibri" pitchFamily="34" charset="-120"/>
              </a:rPr>
              <a:t>Three Scenarios — Late Arrival, Backfill, SCD2 Corrections</a:t>
            </a:r>
            <a:endParaRPr lang="en-US" sz="1100" dirty="0"/>
          </a:p>
        </p:txBody>
      </p:sp>
      <p:sp>
        <p:nvSpPr>
          <p:cNvPr id="6" name="Shape 4"/>
          <p:cNvSpPr/>
          <p:nvPr/>
        </p:nvSpPr>
        <p:spPr>
          <a:xfrm>
            <a:off x="201168" y="4919472"/>
            <a:ext cx="8942832" cy="224028"/>
          </a:xfrm>
          <a:prstGeom prst="rect">
            <a:avLst/>
          </a:prstGeom>
          <a:solidFill>
            <a:srgbClr val="D0ECF2"/>
          </a:solidFill>
          <a:ln w="12700">
            <a:solidFill>
              <a:srgbClr val="D0ECF2"/>
            </a:solidFill>
            <a:prstDash val="solid"/>
          </a:ln>
        </p:spPr>
      </p:sp>
      <p:sp>
        <p:nvSpPr>
          <p:cNvPr id="7" name="Text 5"/>
          <p:cNvSpPr/>
          <p:nvPr/>
        </p:nvSpPr>
        <p:spPr>
          <a:xfrm>
            <a:off x="384048" y="4928616"/>
            <a:ext cx="8595360" cy="201168"/>
          </a:xfrm>
          <a:prstGeom prst="rect">
            <a:avLst/>
          </a:prstGeom>
          <a:noFill/>
          <a:ln/>
        </p:spPr>
        <p:txBody>
          <a:bodyPr wrap="square" rtlCol="0" anchor="ctr"/>
          <a:lstStyle/>
          <a:p>
            <a:pPr indent="0" marL="0">
              <a:buNone/>
            </a:pPr>
            <a:r>
              <a:rPr lang="en-US" sz="800" dirty="0">
                <a:solidFill>
                  <a:srgbClr val="1F5C6B"/>
                </a:solidFill>
                <a:latin typeface="Calibri" pitchFamily="34" charset="0"/>
                <a:ea typeface="Calibri" pitchFamily="34" charset="-122"/>
                <a:cs typeface="Calibri" pitchFamily="34" charset="-120"/>
              </a:rPr>
              <a:t>BBH Capital Partners  |  SWP Migration  |  Confidential</a:t>
            </a:r>
            <a:endParaRPr lang="en-US" sz="800" dirty="0"/>
          </a:p>
        </p:txBody>
      </p:sp>
      <p:sp>
        <p:nvSpPr>
          <p:cNvPr id="8" name="Shape 6"/>
          <p:cNvSpPr/>
          <p:nvPr/>
        </p:nvSpPr>
        <p:spPr>
          <a:xfrm>
            <a:off x="320040" y="804672"/>
            <a:ext cx="1234440" cy="274320"/>
          </a:xfrm>
          <a:prstGeom prst="roundRect">
            <a:avLst>
              <a:gd name="adj" fmla="val 16667"/>
            </a:avLst>
          </a:prstGeom>
          <a:solidFill>
            <a:srgbClr val="2A7A8C"/>
          </a:solidFill>
          <a:ln w="12700">
            <a:solidFill>
              <a:srgbClr val="FFFFFF"/>
            </a:solidFill>
            <a:prstDash val="solid"/>
          </a:ln>
        </p:spPr>
      </p:sp>
      <p:sp>
        <p:nvSpPr>
          <p:cNvPr id="9" name="Text 7"/>
          <p:cNvSpPr/>
          <p:nvPr/>
        </p:nvSpPr>
        <p:spPr>
          <a:xfrm>
            <a:off x="320040" y="804672"/>
            <a:ext cx="123444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SCENARIO A</a:t>
            </a:r>
            <a:endParaRPr lang="en-US" sz="800" dirty="0"/>
          </a:p>
        </p:txBody>
      </p:sp>
      <p:sp>
        <p:nvSpPr>
          <p:cNvPr id="10" name="Text 8"/>
          <p:cNvSpPr/>
          <p:nvPr/>
        </p:nvSpPr>
        <p:spPr>
          <a:xfrm>
            <a:off x="1627632" y="804672"/>
            <a:ext cx="7132320" cy="274320"/>
          </a:xfrm>
          <a:prstGeom prst="rect">
            <a:avLst/>
          </a:prstGeom>
          <a:noFill/>
          <a:ln/>
        </p:spPr>
        <p:txBody>
          <a:bodyPr wrap="square" lIns="0" tIns="0" rIns="0" bIns="0" rtlCol="0" anchor="ctr"/>
          <a:lstStyle/>
          <a:p>
            <a:pPr indent="0" marL="0">
              <a:buNone/>
            </a:pPr>
            <a:r>
              <a:rPr lang="en-US" sz="1100" b="1" dirty="0">
                <a:solidFill>
                  <a:srgbClr val="1A2F38"/>
                </a:solidFill>
                <a:latin typeface="Calibri" pitchFamily="34" charset="0"/>
                <a:ea typeface="Calibri" pitchFamily="34" charset="-122"/>
                <a:cs typeface="Calibri" pitchFamily="34" charset="-120"/>
              </a:rPr>
              <a:t>Late File Arrival — SLA Monitoring &amp; Self-Recovery</a:t>
            </a:r>
            <a:endParaRPr lang="en-US" sz="1100" dirty="0"/>
          </a:p>
        </p:txBody>
      </p:sp>
      <p:sp>
        <p:nvSpPr>
          <p:cNvPr id="11" name="Shape 9"/>
          <p:cNvSpPr/>
          <p:nvPr/>
        </p:nvSpPr>
        <p:spPr>
          <a:xfrm>
            <a:off x="320040" y="1170432"/>
            <a:ext cx="1463040" cy="685800"/>
          </a:xfrm>
          <a:prstGeom prst="roundRect">
            <a:avLst>
              <a:gd name="adj" fmla="val 9333"/>
            </a:avLst>
          </a:prstGeom>
          <a:solidFill>
            <a:srgbClr val="2A7A8C"/>
          </a:solidFill>
          <a:ln w="12700">
            <a:solidFill>
              <a:srgbClr val="000000"/>
            </a:solidFill>
            <a:prstDash val="solid"/>
          </a:ln>
          <a:effectLst>
            <a:outerShdw sx="100000" sy="100000" kx="0" ky="0" algn="bl" rotWithShape="0" blurRad="101600" dist="38100" dir="2700000">
              <a:srgbClr val="000000">
                <a:alpha val="10000"/>
              </a:srgbClr>
            </a:outerShdw>
          </a:effectLst>
        </p:spPr>
      </p:sp>
      <p:sp>
        <p:nvSpPr>
          <p:cNvPr id="12" name="Text 10"/>
          <p:cNvSpPr/>
          <p:nvPr/>
        </p:nvSpPr>
        <p:spPr>
          <a:xfrm>
            <a:off x="393192" y="1225296"/>
            <a:ext cx="1316736" cy="35661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07:00</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DAG starts</a:t>
            </a:r>
            <a:endParaRPr lang="en-US" sz="1000" dirty="0"/>
          </a:p>
        </p:txBody>
      </p:sp>
      <p:sp>
        <p:nvSpPr>
          <p:cNvPr id="13" name="Shape 11"/>
          <p:cNvSpPr/>
          <p:nvPr/>
        </p:nvSpPr>
        <p:spPr>
          <a:xfrm>
            <a:off x="1801368" y="1508760"/>
            <a:ext cx="219456" cy="0"/>
          </a:xfrm>
          <a:prstGeom prst="line">
            <a:avLst/>
          </a:prstGeom>
          <a:noFill/>
          <a:ln w="25400">
            <a:solidFill>
              <a:srgbClr val="2A7A8C"/>
            </a:solidFill>
            <a:prstDash val="solid"/>
            <a:tailEnd type="triangle"/>
          </a:ln>
        </p:spPr>
      </p:sp>
      <p:sp>
        <p:nvSpPr>
          <p:cNvPr id="14" name="Shape 12"/>
          <p:cNvSpPr/>
          <p:nvPr/>
        </p:nvSpPr>
        <p:spPr>
          <a:xfrm>
            <a:off x="2039112" y="1170432"/>
            <a:ext cx="1463040" cy="685800"/>
          </a:xfrm>
          <a:prstGeom prst="roundRect">
            <a:avLst>
              <a:gd name="adj" fmla="val 9333"/>
            </a:avLst>
          </a:prstGeom>
          <a:solidFill>
            <a:srgbClr val="D4872A"/>
          </a:solidFill>
          <a:ln w="12700">
            <a:solidFill>
              <a:srgbClr val="000000"/>
            </a:solidFill>
            <a:prstDash val="solid"/>
          </a:ln>
          <a:effectLst>
            <a:outerShdw sx="100000" sy="100000" kx="0" ky="0" algn="bl" rotWithShape="0" blurRad="101600" dist="38100" dir="2700000">
              <a:srgbClr val="000000">
                <a:alpha val="10000"/>
              </a:srgbClr>
            </a:outerShdw>
          </a:effectLst>
        </p:spPr>
      </p:sp>
      <p:sp>
        <p:nvSpPr>
          <p:cNvPr id="15" name="Text 13"/>
          <p:cNvSpPr/>
          <p:nvPr/>
        </p:nvSpPr>
        <p:spPr>
          <a:xfrm>
            <a:off x="2112264" y="1225296"/>
            <a:ext cx="1316736" cy="35661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08:00</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SLA missed</a:t>
            </a:r>
            <a:endParaRPr lang="en-US" sz="1000" dirty="0"/>
          </a:p>
        </p:txBody>
      </p:sp>
      <p:sp>
        <p:nvSpPr>
          <p:cNvPr id="16" name="Shape 14"/>
          <p:cNvSpPr/>
          <p:nvPr/>
        </p:nvSpPr>
        <p:spPr>
          <a:xfrm>
            <a:off x="3520440" y="1508760"/>
            <a:ext cx="219456" cy="0"/>
          </a:xfrm>
          <a:prstGeom prst="line">
            <a:avLst/>
          </a:prstGeom>
          <a:noFill/>
          <a:ln w="25400">
            <a:solidFill>
              <a:srgbClr val="2A7A8C"/>
            </a:solidFill>
            <a:prstDash val="solid"/>
            <a:tailEnd type="triangle"/>
          </a:ln>
        </p:spPr>
      </p:sp>
      <p:sp>
        <p:nvSpPr>
          <p:cNvPr id="17" name="Shape 15"/>
          <p:cNvSpPr/>
          <p:nvPr/>
        </p:nvSpPr>
        <p:spPr>
          <a:xfrm>
            <a:off x="3758184" y="1170432"/>
            <a:ext cx="1463040" cy="685800"/>
          </a:xfrm>
          <a:prstGeom prst="roundRect">
            <a:avLst>
              <a:gd name="adj" fmla="val 9333"/>
            </a:avLst>
          </a:prstGeom>
          <a:solidFill>
            <a:srgbClr val="C0392B"/>
          </a:solidFill>
          <a:ln w="12700">
            <a:solidFill>
              <a:srgbClr val="000000"/>
            </a:solidFill>
            <a:prstDash val="solid"/>
          </a:ln>
          <a:effectLst>
            <a:outerShdw sx="100000" sy="100000" kx="0" ky="0" algn="bl" rotWithShape="0" blurRad="101600" dist="38100" dir="2700000">
              <a:srgbClr val="000000">
                <a:alpha val="10000"/>
              </a:srgbClr>
            </a:outerShdw>
          </a:effectLst>
        </p:spPr>
      </p:sp>
      <p:sp>
        <p:nvSpPr>
          <p:cNvPr id="18" name="Text 16"/>
          <p:cNvSpPr/>
          <p:nvPr/>
        </p:nvSpPr>
        <p:spPr>
          <a:xfrm>
            <a:off x="3831336" y="1225296"/>
            <a:ext cx="1316736" cy="35661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Alert</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posted</a:t>
            </a:r>
            <a:endParaRPr lang="en-US" sz="1000" dirty="0"/>
          </a:p>
        </p:txBody>
      </p:sp>
      <p:sp>
        <p:nvSpPr>
          <p:cNvPr id="19" name="Shape 17"/>
          <p:cNvSpPr/>
          <p:nvPr/>
        </p:nvSpPr>
        <p:spPr>
          <a:xfrm>
            <a:off x="5239512" y="1508760"/>
            <a:ext cx="219456" cy="0"/>
          </a:xfrm>
          <a:prstGeom prst="line">
            <a:avLst/>
          </a:prstGeom>
          <a:noFill/>
          <a:ln w="25400">
            <a:solidFill>
              <a:srgbClr val="2A7A8C"/>
            </a:solidFill>
            <a:prstDash val="solid"/>
            <a:tailEnd type="triangle"/>
          </a:ln>
        </p:spPr>
      </p:sp>
      <p:sp>
        <p:nvSpPr>
          <p:cNvPr id="20" name="Shape 18"/>
          <p:cNvSpPr/>
          <p:nvPr/>
        </p:nvSpPr>
        <p:spPr>
          <a:xfrm>
            <a:off x="5477256" y="1170432"/>
            <a:ext cx="1463040" cy="685800"/>
          </a:xfrm>
          <a:prstGeom prst="roundRect">
            <a:avLst>
              <a:gd name="adj" fmla="val 9333"/>
            </a:avLst>
          </a:prstGeom>
          <a:solidFill>
            <a:srgbClr val="4A6572"/>
          </a:solidFill>
          <a:ln w="12700">
            <a:solidFill>
              <a:srgbClr val="000000"/>
            </a:solidFill>
            <a:prstDash val="solid"/>
          </a:ln>
          <a:effectLst>
            <a:outerShdw sx="100000" sy="100000" kx="0" ky="0" algn="bl" rotWithShape="0" blurRad="101600" dist="38100" dir="2700000">
              <a:srgbClr val="000000">
                <a:alpha val="10000"/>
              </a:srgbClr>
            </a:outerShdw>
          </a:effectLst>
        </p:spPr>
      </p:sp>
      <p:sp>
        <p:nvSpPr>
          <p:cNvPr id="21" name="Text 19"/>
          <p:cNvSpPr/>
          <p:nvPr/>
        </p:nvSpPr>
        <p:spPr>
          <a:xfrm>
            <a:off x="5550408" y="1225296"/>
            <a:ext cx="1316736" cy="35661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Polling</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incoming/</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every 30s</a:t>
            </a:r>
            <a:endParaRPr lang="en-US" sz="1000" dirty="0"/>
          </a:p>
        </p:txBody>
      </p:sp>
      <p:sp>
        <p:nvSpPr>
          <p:cNvPr id="22" name="Shape 20"/>
          <p:cNvSpPr/>
          <p:nvPr/>
        </p:nvSpPr>
        <p:spPr>
          <a:xfrm>
            <a:off x="6958584" y="1508760"/>
            <a:ext cx="219456" cy="0"/>
          </a:xfrm>
          <a:prstGeom prst="line">
            <a:avLst/>
          </a:prstGeom>
          <a:noFill/>
          <a:ln w="25400">
            <a:solidFill>
              <a:srgbClr val="2A7A8C"/>
            </a:solidFill>
            <a:prstDash val="solid"/>
            <a:tailEnd type="triangle"/>
          </a:ln>
        </p:spPr>
      </p:sp>
      <p:sp>
        <p:nvSpPr>
          <p:cNvPr id="23" name="Shape 21"/>
          <p:cNvSpPr/>
          <p:nvPr/>
        </p:nvSpPr>
        <p:spPr>
          <a:xfrm>
            <a:off x="7196328" y="1170432"/>
            <a:ext cx="1463040" cy="685800"/>
          </a:xfrm>
          <a:prstGeom prst="roundRect">
            <a:avLst>
              <a:gd name="adj" fmla="val 9333"/>
            </a:avLst>
          </a:prstGeom>
          <a:solidFill>
            <a:srgbClr val="2E8B6E"/>
          </a:solidFill>
          <a:ln w="12700">
            <a:solidFill>
              <a:srgbClr val="000000"/>
            </a:solidFill>
            <a:prstDash val="solid"/>
          </a:ln>
          <a:effectLst>
            <a:outerShdw sx="100000" sy="100000" kx="0" ky="0" algn="bl" rotWithShape="0" blurRad="101600" dist="38100" dir="2700000">
              <a:srgbClr val="000000">
                <a:alpha val="10000"/>
              </a:srgbClr>
            </a:outerShdw>
          </a:effectLst>
        </p:spPr>
      </p:sp>
      <p:sp>
        <p:nvSpPr>
          <p:cNvPr id="24" name="Text 22"/>
          <p:cNvSpPr/>
          <p:nvPr/>
        </p:nvSpPr>
        <p:spPr>
          <a:xfrm>
            <a:off x="7269480" y="1225296"/>
            <a:ext cx="1316736" cy="35661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File lands</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Auto-resume</a:t>
            </a:r>
            <a:endParaRPr lang="en-US" sz="1000" dirty="0"/>
          </a:p>
        </p:txBody>
      </p:sp>
      <p:sp>
        <p:nvSpPr>
          <p:cNvPr id="25" name="Shape 23"/>
          <p:cNvSpPr/>
          <p:nvPr/>
        </p:nvSpPr>
        <p:spPr>
          <a:xfrm>
            <a:off x="320040" y="2011680"/>
            <a:ext cx="8503920" cy="0"/>
          </a:xfrm>
          <a:prstGeom prst="line">
            <a:avLst/>
          </a:prstGeom>
          <a:noFill/>
          <a:ln w="12700">
            <a:solidFill>
              <a:srgbClr val="D0ECF2"/>
            </a:solidFill>
            <a:prstDash val="dash"/>
          </a:ln>
        </p:spPr>
      </p:sp>
      <p:sp>
        <p:nvSpPr>
          <p:cNvPr id="26" name="Shape 24"/>
          <p:cNvSpPr/>
          <p:nvPr/>
        </p:nvSpPr>
        <p:spPr>
          <a:xfrm>
            <a:off x="320040" y="2084832"/>
            <a:ext cx="1234440" cy="274320"/>
          </a:xfrm>
          <a:prstGeom prst="roundRect">
            <a:avLst>
              <a:gd name="adj" fmla="val 16667"/>
            </a:avLst>
          </a:prstGeom>
          <a:solidFill>
            <a:srgbClr val="1F5C6B"/>
          </a:solidFill>
          <a:ln w="12700">
            <a:solidFill>
              <a:srgbClr val="FFFFFF"/>
            </a:solidFill>
            <a:prstDash val="solid"/>
          </a:ln>
        </p:spPr>
      </p:sp>
      <p:sp>
        <p:nvSpPr>
          <p:cNvPr id="27" name="Text 25"/>
          <p:cNvSpPr/>
          <p:nvPr/>
        </p:nvSpPr>
        <p:spPr>
          <a:xfrm>
            <a:off x="320040" y="2084832"/>
            <a:ext cx="123444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SCENARIO B</a:t>
            </a:r>
            <a:endParaRPr lang="en-US" sz="800" dirty="0"/>
          </a:p>
        </p:txBody>
      </p:sp>
      <p:sp>
        <p:nvSpPr>
          <p:cNvPr id="28" name="Text 26"/>
          <p:cNvSpPr/>
          <p:nvPr/>
        </p:nvSpPr>
        <p:spPr>
          <a:xfrm>
            <a:off x="1627632" y="2084832"/>
            <a:ext cx="7132320" cy="274320"/>
          </a:xfrm>
          <a:prstGeom prst="rect">
            <a:avLst/>
          </a:prstGeom>
          <a:noFill/>
          <a:ln/>
        </p:spPr>
        <p:txBody>
          <a:bodyPr wrap="square" lIns="0" tIns="0" rIns="0" bIns="0" rtlCol="0" anchor="ctr"/>
          <a:lstStyle/>
          <a:p>
            <a:pPr indent="0" marL="0">
              <a:buNone/>
            </a:pPr>
            <a:r>
              <a:rPr lang="en-US" sz="1100" b="1" dirty="0">
                <a:solidFill>
                  <a:srgbClr val="1A2F38"/>
                </a:solidFill>
                <a:latin typeface="Calibri" pitchFamily="34" charset="0"/>
                <a:ea typeface="Calibri" pitchFamily="34" charset="-122"/>
                <a:cs typeface="Calibri" pitchFamily="34" charset="-120"/>
              </a:rPr>
              <a:t>Backfill — Historical Partition Updates, Idempotent Loading</a:t>
            </a:r>
            <a:endParaRPr lang="en-US" sz="1100" dirty="0"/>
          </a:p>
        </p:txBody>
      </p:sp>
      <p:sp>
        <p:nvSpPr>
          <p:cNvPr id="29" name="Shape 27"/>
          <p:cNvSpPr/>
          <p:nvPr/>
        </p:nvSpPr>
        <p:spPr>
          <a:xfrm>
            <a:off x="320040" y="2450592"/>
            <a:ext cx="1463040" cy="777240"/>
          </a:xfrm>
          <a:prstGeom prst="roundRect">
            <a:avLst>
              <a:gd name="adj" fmla="val 8235"/>
            </a:avLst>
          </a:prstGeom>
          <a:solidFill>
            <a:srgbClr val="1F5C6B"/>
          </a:solidFill>
          <a:ln w="12700">
            <a:solidFill>
              <a:srgbClr val="000000"/>
            </a:solidFill>
            <a:prstDash val="solid"/>
          </a:ln>
          <a:effectLst>
            <a:outerShdw sx="100000" sy="100000" kx="0" ky="0" algn="bl" rotWithShape="0" blurRad="101600" dist="38100" dir="2700000">
              <a:srgbClr val="000000">
                <a:alpha val="10000"/>
              </a:srgbClr>
            </a:outerShdw>
          </a:effectLst>
        </p:spPr>
      </p:sp>
      <p:sp>
        <p:nvSpPr>
          <p:cNvPr id="30" name="Text 28"/>
          <p:cNvSpPr/>
          <p:nvPr/>
        </p:nvSpPr>
        <p:spPr>
          <a:xfrm>
            <a:off x="393192" y="2505456"/>
            <a:ext cx="1316736" cy="404165"/>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LATE_ADD</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records in feed</a:t>
            </a:r>
            <a:endParaRPr lang="en-US" sz="1000" dirty="0"/>
          </a:p>
        </p:txBody>
      </p:sp>
      <p:sp>
        <p:nvSpPr>
          <p:cNvPr id="31" name="Shape 29"/>
          <p:cNvSpPr/>
          <p:nvPr/>
        </p:nvSpPr>
        <p:spPr>
          <a:xfrm>
            <a:off x="1801368" y="2834640"/>
            <a:ext cx="219456" cy="0"/>
          </a:xfrm>
          <a:prstGeom prst="line">
            <a:avLst/>
          </a:prstGeom>
          <a:noFill/>
          <a:ln w="25400">
            <a:solidFill>
              <a:srgbClr val="2A7A8C"/>
            </a:solidFill>
            <a:prstDash val="solid"/>
            <a:tailEnd type="triangle"/>
          </a:ln>
        </p:spPr>
      </p:sp>
      <p:sp>
        <p:nvSpPr>
          <p:cNvPr id="32" name="Shape 30"/>
          <p:cNvSpPr/>
          <p:nvPr/>
        </p:nvSpPr>
        <p:spPr>
          <a:xfrm>
            <a:off x="2039112" y="2450592"/>
            <a:ext cx="1463040" cy="777240"/>
          </a:xfrm>
          <a:prstGeom prst="roundRect">
            <a:avLst>
              <a:gd name="adj" fmla="val 8235"/>
            </a:avLst>
          </a:prstGeom>
          <a:solidFill>
            <a:srgbClr val="2A7A8C"/>
          </a:solidFill>
          <a:ln w="12700">
            <a:solidFill>
              <a:srgbClr val="000000"/>
            </a:solidFill>
            <a:prstDash val="solid"/>
          </a:ln>
          <a:effectLst>
            <a:outerShdw sx="100000" sy="100000" kx="0" ky="0" algn="bl" rotWithShape="0" blurRad="101600" dist="38100" dir="2700000">
              <a:srgbClr val="000000">
                <a:alpha val="10000"/>
              </a:srgbClr>
            </a:outerShdw>
          </a:effectLst>
        </p:spPr>
      </p:sp>
      <p:sp>
        <p:nvSpPr>
          <p:cNvPr id="33" name="Text 31"/>
          <p:cNvSpPr/>
          <p:nvPr/>
        </p:nvSpPr>
        <p:spPr>
          <a:xfrm>
            <a:off x="2112264" y="2505456"/>
            <a:ext cx="1316736" cy="404165"/>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Read</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original</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tx_date</a:t>
            </a:r>
            <a:endParaRPr lang="en-US" sz="1000" dirty="0"/>
          </a:p>
        </p:txBody>
      </p:sp>
      <p:sp>
        <p:nvSpPr>
          <p:cNvPr id="34" name="Shape 32"/>
          <p:cNvSpPr/>
          <p:nvPr/>
        </p:nvSpPr>
        <p:spPr>
          <a:xfrm>
            <a:off x="3520440" y="2834640"/>
            <a:ext cx="219456" cy="0"/>
          </a:xfrm>
          <a:prstGeom prst="line">
            <a:avLst/>
          </a:prstGeom>
          <a:noFill/>
          <a:ln w="25400">
            <a:solidFill>
              <a:srgbClr val="2A7A8C"/>
            </a:solidFill>
            <a:prstDash val="solid"/>
            <a:tailEnd type="triangle"/>
          </a:ln>
        </p:spPr>
      </p:sp>
      <p:sp>
        <p:nvSpPr>
          <p:cNvPr id="35" name="Shape 33"/>
          <p:cNvSpPr/>
          <p:nvPr/>
        </p:nvSpPr>
        <p:spPr>
          <a:xfrm>
            <a:off x="3758184" y="2450592"/>
            <a:ext cx="1463040" cy="777240"/>
          </a:xfrm>
          <a:prstGeom prst="roundRect">
            <a:avLst>
              <a:gd name="adj" fmla="val 8235"/>
            </a:avLst>
          </a:prstGeom>
          <a:solidFill>
            <a:srgbClr val="4A6572"/>
          </a:solidFill>
          <a:ln w="12700">
            <a:solidFill>
              <a:srgbClr val="000000"/>
            </a:solidFill>
            <a:prstDash val="solid"/>
          </a:ln>
          <a:effectLst>
            <a:outerShdw sx="100000" sy="100000" kx="0" ky="0" algn="bl" rotWithShape="0" blurRad="101600" dist="38100" dir="2700000">
              <a:srgbClr val="000000">
                <a:alpha val="10000"/>
              </a:srgbClr>
            </a:outerShdw>
          </a:effectLst>
        </p:spPr>
      </p:sp>
      <p:sp>
        <p:nvSpPr>
          <p:cNvPr id="36" name="Text 34"/>
          <p:cNvSpPr/>
          <p:nvPr/>
        </p:nvSpPr>
        <p:spPr>
          <a:xfrm>
            <a:off x="3831336" y="2505456"/>
            <a:ext cx="1316736" cy="404165"/>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Idempotency</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check</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SELECT COUNT</a:t>
            </a:r>
            <a:endParaRPr lang="en-US" sz="1000" dirty="0"/>
          </a:p>
        </p:txBody>
      </p:sp>
      <p:sp>
        <p:nvSpPr>
          <p:cNvPr id="37" name="Shape 35"/>
          <p:cNvSpPr/>
          <p:nvPr/>
        </p:nvSpPr>
        <p:spPr>
          <a:xfrm>
            <a:off x="5239512" y="2834640"/>
            <a:ext cx="219456" cy="0"/>
          </a:xfrm>
          <a:prstGeom prst="line">
            <a:avLst/>
          </a:prstGeom>
          <a:noFill/>
          <a:ln w="25400">
            <a:solidFill>
              <a:srgbClr val="2A7A8C"/>
            </a:solidFill>
            <a:prstDash val="solid"/>
            <a:tailEnd type="triangle"/>
          </a:ln>
        </p:spPr>
      </p:sp>
      <p:sp>
        <p:nvSpPr>
          <p:cNvPr id="38" name="Shape 36"/>
          <p:cNvSpPr/>
          <p:nvPr/>
        </p:nvSpPr>
        <p:spPr>
          <a:xfrm>
            <a:off x="5477256" y="2450592"/>
            <a:ext cx="1463040" cy="777240"/>
          </a:xfrm>
          <a:prstGeom prst="roundRect">
            <a:avLst>
              <a:gd name="adj" fmla="val 8235"/>
            </a:avLst>
          </a:prstGeom>
          <a:solidFill>
            <a:srgbClr val="2E8B6E"/>
          </a:solidFill>
          <a:ln w="12700">
            <a:solidFill>
              <a:srgbClr val="000000"/>
            </a:solidFill>
            <a:prstDash val="solid"/>
          </a:ln>
          <a:effectLst>
            <a:outerShdw sx="100000" sy="100000" kx="0" ky="0" algn="bl" rotWithShape="0" blurRad="101600" dist="38100" dir="2700000">
              <a:srgbClr val="000000">
                <a:alpha val="10000"/>
              </a:srgbClr>
            </a:outerShdw>
          </a:effectLst>
        </p:spPr>
      </p:sp>
      <p:sp>
        <p:nvSpPr>
          <p:cNvPr id="39" name="Text 37"/>
          <p:cNvSpPr/>
          <p:nvPr/>
        </p:nvSpPr>
        <p:spPr>
          <a:xfrm>
            <a:off x="5550408" y="2505456"/>
            <a:ext cx="1316736" cy="404165"/>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INSERT into</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historical</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partition</a:t>
            </a:r>
            <a:endParaRPr lang="en-US" sz="1000" dirty="0"/>
          </a:p>
        </p:txBody>
      </p:sp>
      <p:sp>
        <p:nvSpPr>
          <p:cNvPr id="40" name="Shape 38"/>
          <p:cNvSpPr/>
          <p:nvPr/>
        </p:nvSpPr>
        <p:spPr>
          <a:xfrm>
            <a:off x="6958584" y="2834640"/>
            <a:ext cx="219456" cy="0"/>
          </a:xfrm>
          <a:prstGeom prst="line">
            <a:avLst/>
          </a:prstGeom>
          <a:noFill/>
          <a:ln w="25400">
            <a:solidFill>
              <a:srgbClr val="2A7A8C"/>
            </a:solidFill>
            <a:prstDash val="solid"/>
            <a:tailEnd type="triangle"/>
          </a:ln>
        </p:spPr>
      </p:sp>
      <p:sp>
        <p:nvSpPr>
          <p:cNvPr id="41" name="Shape 39"/>
          <p:cNvSpPr/>
          <p:nvPr/>
        </p:nvSpPr>
        <p:spPr>
          <a:xfrm>
            <a:off x="7196328" y="2450592"/>
            <a:ext cx="1463040" cy="777240"/>
          </a:xfrm>
          <a:prstGeom prst="roundRect">
            <a:avLst>
              <a:gd name="adj" fmla="val 8235"/>
            </a:avLst>
          </a:prstGeom>
          <a:solidFill>
            <a:srgbClr val="1F5C6B"/>
          </a:solidFill>
          <a:ln w="12700">
            <a:solidFill>
              <a:srgbClr val="000000"/>
            </a:solidFill>
            <a:prstDash val="solid"/>
          </a:ln>
          <a:effectLst>
            <a:outerShdw sx="100000" sy="100000" kx="0" ky="0" algn="bl" rotWithShape="0" blurRad="101600" dist="38100" dir="2700000">
              <a:srgbClr val="000000">
                <a:alpha val="10000"/>
              </a:srgbClr>
            </a:outerShdw>
          </a:effectLst>
        </p:spPr>
      </p:sp>
      <p:sp>
        <p:nvSpPr>
          <p:cNvPr id="42" name="Text 40"/>
          <p:cNvSpPr/>
          <p:nvPr/>
        </p:nvSpPr>
        <p:spPr>
          <a:xfrm>
            <a:off x="7269480" y="2505456"/>
            <a:ext cx="1316736" cy="404165"/>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dbt targeted</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re-run</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dates only</a:t>
            </a:r>
            <a:endParaRPr lang="en-US" sz="1000" dirty="0"/>
          </a:p>
        </p:txBody>
      </p:sp>
      <p:sp>
        <p:nvSpPr>
          <p:cNvPr id="43" name="Shape 41"/>
          <p:cNvSpPr/>
          <p:nvPr/>
        </p:nvSpPr>
        <p:spPr>
          <a:xfrm>
            <a:off x="320040" y="3310128"/>
            <a:ext cx="8503920" cy="256032"/>
          </a:xfrm>
          <a:prstGeom prst="roundRect">
            <a:avLst>
              <a:gd name="adj" fmla="val 28571"/>
            </a:avLst>
          </a:prstGeom>
          <a:solidFill>
            <a:srgbClr val="EDF6F9"/>
          </a:solidFill>
          <a:ln w="12700">
            <a:solidFill>
              <a:srgbClr val="D0ECF2"/>
            </a:solidFill>
            <a:prstDash val="solid"/>
          </a:ln>
        </p:spPr>
      </p:sp>
      <p:sp>
        <p:nvSpPr>
          <p:cNvPr id="44" name="Text 42"/>
          <p:cNvSpPr/>
          <p:nvPr/>
        </p:nvSpPr>
        <p:spPr>
          <a:xfrm>
            <a:off x="457200" y="3328416"/>
            <a:ext cx="8229600" cy="201168"/>
          </a:xfrm>
          <a:prstGeom prst="rect">
            <a:avLst/>
          </a:prstGeom>
          <a:noFill/>
          <a:ln/>
        </p:spPr>
        <p:txBody>
          <a:bodyPr wrap="square" lIns="0" tIns="0" rIns="0" bIns="0" rtlCol="0" anchor="ctr"/>
          <a:lstStyle/>
          <a:p>
            <a:pPr indent="0" marL="0">
              <a:buNone/>
            </a:pPr>
            <a:r>
              <a:rPr lang="en-US" sz="800" dirty="0">
                <a:solidFill>
                  <a:srgbClr val="1F5C6B"/>
                </a:solidFill>
                <a:latin typeface="Calibri" pitchFamily="34" charset="0"/>
                <a:ea typeface="Calibri" pitchFamily="34" charset="-122"/>
                <a:cs typeface="Calibri" pitchFamily="34" charset="-120"/>
              </a:rPr>
              <a:t>TX10003B: ACC001 fee backfilled to May 3 (13 days late)  •  TX20005B: ACC002 interest to May 7 (9 days late)  •  Safe to re-run — duplicates skipped</a:t>
            </a:r>
            <a:endParaRPr lang="en-US" sz="800" dirty="0"/>
          </a:p>
        </p:txBody>
      </p:sp>
      <p:sp>
        <p:nvSpPr>
          <p:cNvPr id="45" name="Shape 43"/>
          <p:cNvSpPr/>
          <p:nvPr/>
        </p:nvSpPr>
        <p:spPr>
          <a:xfrm>
            <a:off x="320040" y="3657600"/>
            <a:ext cx="8503920" cy="0"/>
          </a:xfrm>
          <a:prstGeom prst="line">
            <a:avLst/>
          </a:prstGeom>
          <a:noFill/>
          <a:ln w="12700">
            <a:solidFill>
              <a:srgbClr val="D0ECF2"/>
            </a:solidFill>
            <a:prstDash val="dash"/>
          </a:ln>
        </p:spPr>
      </p:sp>
      <p:sp>
        <p:nvSpPr>
          <p:cNvPr id="46" name="Shape 44"/>
          <p:cNvSpPr/>
          <p:nvPr/>
        </p:nvSpPr>
        <p:spPr>
          <a:xfrm>
            <a:off x="320040" y="3730752"/>
            <a:ext cx="1234440" cy="274320"/>
          </a:xfrm>
          <a:prstGeom prst="roundRect">
            <a:avLst>
              <a:gd name="adj" fmla="val 16667"/>
            </a:avLst>
          </a:prstGeom>
          <a:solidFill>
            <a:srgbClr val="D4872A"/>
          </a:solidFill>
          <a:ln w="12700">
            <a:solidFill>
              <a:srgbClr val="FFFFFF"/>
            </a:solidFill>
            <a:prstDash val="solid"/>
          </a:ln>
        </p:spPr>
      </p:sp>
      <p:sp>
        <p:nvSpPr>
          <p:cNvPr id="47" name="Text 45"/>
          <p:cNvSpPr/>
          <p:nvPr/>
        </p:nvSpPr>
        <p:spPr>
          <a:xfrm>
            <a:off x="320040" y="3730752"/>
            <a:ext cx="123444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SCENARIO C</a:t>
            </a:r>
            <a:endParaRPr lang="en-US" sz="800" dirty="0"/>
          </a:p>
        </p:txBody>
      </p:sp>
      <p:sp>
        <p:nvSpPr>
          <p:cNvPr id="48" name="Text 46"/>
          <p:cNvSpPr/>
          <p:nvPr/>
        </p:nvSpPr>
        <p:spPr>
          <a:xfrm>
            <a:off x="1627632" y="3730752"/>
            <a:ext cx="7132320" cy="274320"/>
          </a:xfrm>
          <a:prstGeom prst="rect">
            <a:avLst/>
          </a:prstGeom>
          <a:noFill/>
          <a:ln/>
        </p:spPr>
        <p:txBody>
          <a:bodyPr wrap="square" lIns="0" tIns="0" rIns="0" bIns="0" rtlCol="0" anchor="ctr"/>
          <a:lstStyle/>
          <a:p>
            <a:pPr indent="0" marL="0">
              <a:buNone/>
            </a:pPr>
            <a:r>
              <a:rPr lang="en-US" sz="1100" b="1" dirty="0">
                <a:solidFill>
                  <a:srgbClr val="1A2F38"/>
                </a:solidFill>
                <a:latin typeface="Calibri" pitchFamily="34" charset="0"/>
                <a:ea typeface="Calibri" pitchFamily="34" charset="-122"/>
                <a:cs typeface="Calibri" pitchFamily="34" charset="-120"/>
              </a:rPr>
              <a:t>SCD2 Corrections — Materiality Check &amp; Audit Trail</a:t>
            </a:r>
            <a:endParaRPr lang="en-US" sz="1100" dirty="0"/>
          </a:p>
        </p:txBody>
      </p:sp>
      <p:sp>
        <p:nvSpPr>
          <p:cNvPr id="49" name="Shape 47"/>
          <p:cNvSpPr/>
          <p:nvPr/>
        </p:nvSpPr>
        <p:spPr>
          <a:xfrm>
            <a:off x="320040" y="4078224"/>
            <a:ext cx="1463040" cy="804672"/>
          </a:xfrm>
          <a:prstGeom prst="roundRect">
            <a:avLst>
              <a:gd name="adj" fmla="val 7955"/>
            </a:avLst>
          </a:prstGeom>
          <a:solidFill>
            <a:srgbClr val="D4872A"/>
          </a:solidFill>
          <a:ln w="12700">
            <a:solidFill>
              <a:srgbClr val="000000"/>
            </a:solidFill>
            <a:prstDash val="solid"/>
          </a:ln>
          <a:effectLst>
            <a:outerShdw sx="100000" sy="100000" kx="0" ky="0" algn="bl" rotWithShape="0" blurRad="101600" dist="38100" dir="2700000">
              <a:srgbClr val="000000">
                <a:alpha val="10000"/>
              </a:srgbClr>
            </a:outerShdw>
          </a:effectLst>
        </p:spPr>
      </p:sp>
      <p:sp>
        <p:nvSpPr>
          <p:cNvPr id="50" name="Text 48"/>
          <p:cNvSpPr/>
          <p:nvPr/>
        </p:nvSpPr>
        <p:spPr>
          <a:xfrm>
            <a:off x="393192" y="4133088"/>
            <a:ext cx="1316736" cy="418429"/>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AMENDED</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records</a:t>
            </a:r>
            <a:endParaRPr lang="en-US" sz="1000" dirty="0"/>
          </a:p>
        </p:txBody>
      </p:sp>
      <p:sp>
        <p:nvSpPr>
          <p:cNvPr id="51" name="Shape 49"/>
          <p:cNvSpPr/>
          <p:nvPr/>
        </p:nvSpPr>
        <p:spPr>
          <a:xfrm>
            <a:off x="1801368" y="4480560"/>
            <a:ext cx="219456" cy="0"/>
          </a:xfrm>
          <a:prstGeom prst="line">
            <a:avLst/>
          </a:prstGeom>
          <a:noFill/>
          <a:ln w="25400">
            <a:solidFill>
              <a:srgbClr val="2A7A8C"/>
            </a:solidFill>
            <a:prstDash val="solid"/>
            <a:tailEnd type="triangle"/>
          </a:ln>
        </p:spPr>
      </p:sp>
      <p:sp>
        <p:nvSpPr>
          <p:cNvPr id="52" name="Shape 50"/>
          <p:cNvSpPr/>
          <p:nvPr/>
        </p:nvSpPr>
        <p:spPr>
          <a:xfrm>
            <a:off x="2039112" y="4078224"/>
            <a:ext cx="1463040" cy="804672"/>
          </a:xfrm>
          <a:prstGeom prst="roundRect">
            <a:avLst>
              <a:gd name="adj" fmla="val 7955"/>
            </a:avLst>
          </a:prstGeom>
          <a:solidFill>
            <a:srgbClr val="4A6572"/>
          </a:solidFill>
          <a:ln w="12700">
            <a:solidFill>
              <a:srgbClr val="000000"/>
            </a:solidFill>
            <a:prstDash val="solid"/>
          </a:ln>
          <a:effectLst>
            <a:outerShdw sx="100000" sy="100000" kx="0" ky="0" algn="bl" rotWithShape="0" blurRad="101600" dist="38100" dir="2700000">
              <a:srgbClr val="000000">
                <a:alpha val="10000"/>
              </a:srgbClr>
            </a:outerShdw>
          </a:effectLst>
        </p:spPr>
      </p:sp>
      <p:sp>
        <p:nvSpPr>
          <p:cNvPr id="53" name="Text 51"/>
          <p:cNvSpPr/>
          <p:nvPr/>
        </p:nvSpPr>
        <p:spPr>
          <a:xfrm>
            <a:off x="2112264" y="4133088"/>
            <a:ext cx="1316736" cy="418429"/>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Compute</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delta %</a:t>
            </a:r>
            <a:endParaRPr lang="en-US" sz="1000" dirty="0"/>
          </a:p>
        </p:txBody>
      </p:sp>
      <p:sp>
        <p:nvSpPr>
          <p:cNvPr id="54" name="Shape 52"/>
          <p:cNvSpPr/>
          <p:nvPr/>
        </p:nvSpPr>
        <p:spPr>
          <a:xfrm>
            <a:off x="3520440" y="4480560"/>
            <a:ext cx="219456" cy="0"/>
          </a:xfrm>
          <a:prstGeom prst="line">
            <a:avLst/>
          </a:prstGeom>
          <a:noFill/>
          <a:ln w="25400">
            <a:solidFill>
              <a:srgbClr val="2A7A8C"/>
            </a:solidFill>
            <a:prstDash val="solid"/>
            <a:tailEnd type="triangle"/>
          </a:ln>
        </p:spPr>
      </p:sp>
      <p:sp>
        <p:nvSpPr>
          <p:cNvPr id="55" name="Shape 53"/>
          <p:cNvSpPr/>
          <p:nvPr/>
        </p:nvSpPr>
        <p:spPr>
          <a:xfrm>
            <a:off x="3758184" y="4078224"/>
            <a:ext cx="1463040" cy="804672"/>
          </a:xfrm>
          <a:prstGeom prst="roundRect">
            <a:avLst>
              <a:gd name="adj" fmla="val 7955"/>
            </a:avLst>
          </a:prstGeom>
          <a:solidFill>
            <a:srgbClr val="C0392B"/>
          </a:solidFill>
          <a:ln w="12700">
            <a:solidFill>
              <a:srgbClr val="000000"/>
            </a:solidFill>
            <a:prstDash val="solid"/>
          </a:ln>
          <a:effectLst>
            <a:outerShdw sx="100000" sy="100000" kx="0" ky="0" algn="bl" rotWithShape="0" blurRad="101600" dist="38100" dir="2700000">
              <a:srgbClr val="000000">
                <a:alpha val="10000"/>
              </a:srgbClr>
            </a:outerShdw>
          </a:effectLst>
        </p:spPr>
      </p:sp>
      <p:sp>
        <p:nvSpPr>
          <p:cNvPr id="56" name="Text 54"/>
          <p:cNvSpPr/>
          <p:nvPr/>
        </p:nvSpPr>
        <p:spPr>
          <a:xfrm>
            <a:off x="3831336" y="4133088"/>
            <a:ext cx="1316736" cy="418429"/>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&gt;1% MATERIAL</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Ops alert +</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sign-off</a:t>
            </a:r>
            <a:endParaRPr lang="en-US" sz="1000" dirty="0"/>
          </a:p>
        </p:txBody>
      </p:sp>
      <p:sp>
        <p:nvSpPr>
          <p:cNvPr id="57" name="Shape 55"/>
          <p:cNvSpPr/>
          <p:nvPr/>
        </p:nvSpPr>
        <p:spPr>
          <a:xfrm>
            <a:off x="5239512" y="4480560"/>
            <a:ext cx="219456" cy="0"/>
          </a:xfrm>
          <a:prstGeom prst="line">
            <a:avLst/>
          </a:prstGeom>
          <a:noFill/>
          <a:ln w="25400">
            <a:solidFill>
              <a:srgbClr val="2A7A8C"/>
            </a:solidFill>
            <a:prstDash val="solid"/>
            <a:tailEnd type="triangle"/>
          </a:ln>
        </p:spPr>
      </p:sp>
      <p:sp>
        <p:nvSpPr>
          <p:cNvPr id="58" name="Shape 56"/>
          <p:cNvSpPr/>
          <p:nvPr/>
        </p:nvSpPr>
        <p:spPr>
          <a:xfrm>
            <a:off x="5477256" y="4078224"/>
            <a:ext cx="1463040" cy="804672"/>
          </a:xfrm>
          <a:prstGeom prst="roundRect">
            <a:avLst>
              <a:gd name="adj" fmla="val 7955"/>
            </a:avLst>
          </a:prstGeom>
          <a:solidFill>
            <a:srgbClr val="2A7A8C"/>
          </a:solidFill>
          <a:ln w="12700">
            <a:solidFill>
              <a:srgbClr val="000000"/>
            </a:solidFill>
            <a:prstDash val="solid"/>
          </a:ln>
          <a:effectLst>
            <a:outerShdw sx="100000" sy="100000" kx="0" ky="0" algn="bl" rotWithShape="0" blurRad="101600" dist="38100" dir="2700000">
              <a:srgbClr val="000000">
                <a:alpha val="10000"/>
              </a:srgbClr>
            </a:outerShdw>
          </a:effectLst>
        </p:spPr>
      </p:sp>
      <p:sp>
        <p:nvSpPr>
          <p:cNvPr id="59" name="Text 57"/>
          <p:cNvSpPr/>
          <p:nvPr/>
        </p:nvSpPr>
        <p:spPr>
          <a:xfrm>
            <a:off x="5550408" y="4133088"/>
            <a:ext cx="1316736" cy="418429"/>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SCD2: expire</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original row</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is_current=0</a:t>
            </a:r>
            <a:endParaRPr lang="en-US" sz="1000" dirty="0"/>
          </a:p>
        </p:txBody>
      </p:sp>
      <p:sp>
        <p:nvSpPr>
          <p:cNvPr id="60" name="Shape 58"/>
          <p:cNvSpPr/>
          <p:nvPr/>
        </p:nvSpPr>
        <p:spPr>
          <a:xfrm>
            <a:off x="6958584" y="4480560"/>
            <a:ext cx="219456" cy="0"/>
          </a:xfrm>
          <a:prstGeom prst="line">
            <a:avLst/>
          </a:prstGeom>
          <a:noFill/>
          <a:ln w="25400">
            <a:solidFill>
              <a:srgbClr val="2A7A8C"/>
            </a:solidFill>
            <a:prstDash val="solid"/>
            <a:tailEnd type="triangle"/>
          </a:ln>
        </p:spPr>
      </p:sp>
      <p:sp>
        <p:nvSpPr>
          <p:cNvPr id="61" name="Shape 59"/>
          <p:cNvSpPr/>
          <p:nvPr/>
        </p:nvSpPr>
        <p:spPr>
          <a:xfrm>
            <a:off x="7196328" y="4078224"/>
            <a:ext cx="1463040" cy="804672"/>
          </a:xfrm>
          <a:prstGeom prst="roundRect">
            <a:avLst>
              <a:gd name="adj" fmla="val 7955"/>
            </a:avLst>
          </a:prstGeom>
          <a:solidFill>
            <a:srgbClr val="2E8B6E"/>
          </a:solidFill>
          <a:ln w="12700">
            <a:solidFill>
              <a:srgbClr val="000000"/>
            </a:solidFill>
            <a:prstDash val="solid"/>
          </a:ln>
          <a:effectLst>
            <a:outerShdw sx="100000" sy="100000" kx="0" ky="0" algn="bl" rotWithShape="0" blurRad="101600" dist="38100" dir="2700000">
              <a:srgbClr val="000000">
                <a:alpha val="10000"/>
              </a:srgbClr>
            </a:outerShdw>
          </a:effectLst>
        </p:spPr>
      </p:sp>
      <p:sp>
        <p:nvSpPr>
          <p:cNvPr id="62" name="Text 60"/>
          <p:cNvSpPr/>
          <p:nvPr/>
        </p:nvSpPr>
        <p:spPr>
          <a:xfrm>
            <a:off x="7269480" y="4133088"/>
            <a:ext cx="1316736" cy="418429"/>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INSERT</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corrected row</a:t>
            </a:r>
            <a:endParaRPr lang="en-US" sz="1000" dirty="0"/>
          </a:p>
          <a:p>
            <a:pPr algn="ctr" indent="0" marL="0">
              <a:buNone/>
            </a:pPr>
            <a:r>
              <a:rPr lang="en-US" sz="1000" b="1" dirty="0">
                <a:solidFill>
                  <a:srgbClr val="FFFFFF"/>
                </a:solidFill>
                <a:latin typeface="Calibri" pitchFamily="34" charset="0"/>
                <a:ea typeface="Calibri" pitchFamily="34" charset="-122"/>
                <a:cs typeface="Calibri" pitchFamily="34" charset="-120"/>
              </a:rPr>
              <a:t>Audit trail</a:t>
            </a:r>
            <a:endParaRPr lang="en-US" sz="1000" dirty="0"/>
          </a:p>
        </p:txBody>
      </p:sp>
      <p:sp>
        <p:nvSpPr>
          <p:cNvPr id="63" name="Shape 61"/>
          <p:cNvSpPr/>
          <p:nvPr/>
        </p:nvSpPr>
        <p:spPr>
          <a:xfrm>
            <a:off x="320040" y="4956048"/>
            <a:ext cx="8503920" cy="256032"/>
          </a:xfrm>
          <a:prstGeom prst="roundRect">
            <a:avLst>
              <a:gd name="adj" fmla="val 28571"/>
            </a:avLst>
          </a:prstGeom>
          <a:solidFill>
            <a:srgbClr val="FFF8EC"/>
          </a:solidFill>
          <a:ln w="12700">
            <a:solidFill>
              <a:srgbClr val="C9A84C"/>
            </a:solidFill>
            <a:prstDash val="solid"/>
          </a:ln>
        </p:spPr>
      </p:sp>
      <p:sp>
        <p:nvSpPr>
          <p:cNvPr id="64" name="Text 62"/>
          <p:cNvSpPr/>
          <p:nvPr/>
        </p:nvSpPr>
        <p:spPr>
          <a:xfrm>
            <a:off x="457200" y="4974336"/>
            <a:ext cx="8229600" cy="201168"/>
          </a:xfrm>
          <a:prstGeom prst="rect">
            <a:avLst/>
          </a:prstGeom>
          <a:noFill/>
          <a:ln/>
        </p:spPr>
        <p:txBody>
          <a:bodyPr wrap="square" lIns="0" tIns="0" rIns="0" bIns="0" rtlCol="0" anchor="ctr"/>
          <a:lstStyle/>
          <a:p>
            <a:pPr indent="0" marL="0">
              <a:buNone/>
            </a:pPr>
            <a:r>
              <a:rPr lang="en-US" sz="800" dirty="0">
                <a:solidFill>
                  <a:srgbClr val="1A2F38"/>
                </a:solidFill>
                <a:latin typeface="Calibri" pitchFamily="34" charset="0"/>
                <a:ea typeface="Calibri" pitchFamily="34" charset="-122"/>
                <a:cs typeface="Calibri" pitchFamily="34" charset="-120"/>
              </a:rPr>
              <a:t>TX10003: $1,250→$1,875 (50% — MATERIAL, ops sign-off)  •  TX20003: FAILED→SETTLED (0% — auto-processed)  •  Bad rows NEVER deleted</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F5C6B"/>
          </a:solidFill>
          <a:ln w="12700">
            <a:solidFill>
              <a:srgbClr val="1F5C6B"/>
            </a:solidFill>
            <a:prstDash val="solid"/>
          </a:ln>
        </p:spPr>
      </p:sp>
      <p:sp>
        <p:nvSpPr>
          <p:cNvPr id="3" name="Shape 1"/>
          <p:cNvSpPr/>
          <p:nvPr/>
        </p:nvSpPr>
        <p:spPr>
          <a:xfrm>
            <a:off x="201168" y="0"/>
            <a:ext cx="8942832" cy="685800"/>
          </a:xfrm>
          <a:prstGeom prst="rect">
            <a:avLst/>
          </a:prstGeom>
          <a:solidFill>
            <a:srgbClr val="1A2F4A"/>
          </a:solidFill>
          <a:ln w="12700">
            <a:solidFill>
              <a:srgbClr val="1A2F4A"/>
            </a:solidFill>
            <a:prstDash val="solid"/>
          </a:ln>
        </p:spPr>
      </p:sp>
      <p:sp>
        <p:nvSpPr>
          <p:cNvPr id="4" name="Text 2"/>
          <p:cNvSpPr/>
          <p:nvPr/>
        </p:nvSpPr>
        <p:spPr>
          <a:xfrm>
            <a:off x="384048" y="54864"/>
            <a:ext cx="5943600" cy="56692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End-to-End Pipeline Demo</a:t>
            </a:r>
            <a:endParaRPr lang="en-US" sz="2000" dirty="0"/>
          </a:p>
        </p:txBody>
      </p:sp>
      <p:sp>
        <p:nvSpPr>
          <p:cNvPr id="5" name="Text 3"/>
          <p:cNvSpPr/>
          <p:nvPr/>
        </p:nvSpPr>
        <p:spPr>
          <a:xfrm>
            <a:off x="384048" y="54864"/>
            <a:ext cx="8412480" cy="566928"/>
          </a:xfrm>
          <a:prstGeom prst="rect">
            <a:avLst/>
          </a:prstGeom>
          <a:noFill/>
          <a:ln/>
        </p:spPr>
        <p:txBody>
          <a:bodyPr wrap="square" lIns="0" tIns="0" rIns="0" bIns="0" rtlCol="0" anchor="ctr"/>
          <a:lstStyle/>
          <a:p>
            <a:pPr algn="r" indent="0" marL="0">
              <a:buNone/>
            </a:pPr>
            <a:r>
              <a:rPr lang="en-US" sz="1100" dirty="0">
                <a:solidFill>
                  <a:srgbClr val="F0D98C"/>
                </a:solidFill>
                <a:latin typeface="Calibri" pitchFamily="34" charset="0"/>
                <a:ea typeface="Calibri" pitchFamily="34" charset="-122"/>
                <a:cs typeface="Calibri" pitchFamily="34" charset="-120"/>
              </a:rPr>
              <a:t>Dual Publish — PBDW &amp; IMDW</a:t>
            </a:r>
            <a:endParaRPr lang="en-US" sz="1100" dirty="0"/>
          </a:p>
        </p:txBody>
      </p:sp>
      <p:sp>
        <p:nvSpPr>
          <p:cNvPr id="6" name="Shape 4"/>
          <p:cNvSpPr/>
          <p:nvPr/>
        </p:nvSpPr>
        <p:spPr>
          <a:xfrm>
            <a:off x="201168" y="4919472"/>
            <a:ext cx="8942832" cy="224028"/>
          </a:xfrm>
          <a:prstGeom prst="rect">
            <a:avLst/>
          </a:prstGeom>
          <a:solidFill>
            <a:srgbClr val="D0ECF2"/>
          </a:solidFill>
          <a:ln w="12700">
            <a:solidFill>
              <a:srgbClr val="D0ECF2"/>
            </a:solidFill>
            <a:prstDash val="solid"/>
          </a:ln>
        </p:spPr>
      </p:sp>
      <p:sp>
        <p:nvSpPr>
          <p:cNvPr id="7" name="Text 5"/>
          <p:cNvSpPr/>
          <p:nvPr/>
        </p:nvSpPr>
        <p:spPr>
          <a:xfrm>
            <a:off x="384048" y="4928616"/>
            <a:ext cx="8595360" cy="201168"/>
          </a:xfrm>
          <a:prstGeom prst="rect">
            <a:avLst/>
          </a:prstGeom>
          <a:noFill/>
          <a:ln/>
        </p:spPr>
        <p:txBody>
          <a:bodyPr wrap="square" rtlCol="0" anchor="ctr"/>
          <a:lstStyle/>
          <a:p>
            <a:pPr indent="0" marL="0">
              <a:buNone/>
            </a:pPr>
            <a:r>
              <a:rPr lang="en-US" sz="800" dirty="0">
                <a:solidFill>
                  <a:srgbClr val="1F5C6B"/>
                </a:solidFill>
                <a:latin typeface="Calibri" pitchFamily="34" charset="0"/>
                <a:ea typeface="Calibri" pitchFamily="34" charset="-122"/>
                <a:cs typeface="Calibri" pitchFamily="34" charset="-120"/>
              </a:rPr>
              <a:t>BBH Capital Partners  |  SWP Migration  |  Confidential</a:t>
            </a:r>
            <a:endParaRPr lang="en-US" sz="800" dirty="0"/>
          </a:p>
        </p:txBody>
      </p:sp>
      <p:sp>
        <p:nvSpPr>
          <p:cNvPr id="8" name="Shape 6"/>
          <p:cNvSpPr/>
          <p:nvPr/>
        </p:nvSpPr>
        <p:spPr>
          <a:xfrm>
            <a:off x="3566160" y="804672"/>
            <a:ext cx="2011680" cy="658368"/>
          </a:xfrm>
          <a:prstGeom prst="roundRect">
            <a:avLst>
              <a:gd name="adj" fmla="val 11111"/>
            </a:avLst>
          </a:prstGeom>
          <a:solidFill>
            <a:srgbClr val="C9A84C"/>
          </a:solidFill>
          <a:ln w="12700">
            <a:solidFill>
              <a:srgbClr val="C9A84C"/>
            </a:solidFill>
            <a:prstDash val="solid"/>
          </a:ln>
          <a:effectLst>
            <a:outerShdw sx="100000" sy="100000" kx="0" ky="0" algn="bl" rotWithShape="0" blurRad="101600" dist="38100" dir="2700000">
              <a:srgbClr val="000000">
                <a:alpha val="10000"/>
              </a:srgbClr>
            </a:outerShdw>
          </a:effectLst>
        </p:spPr>
      </p:sp>
      <p:sp>
        <p:nvSpPr>
          <p:cNvPr id="9" name="Text 7"/>
          <p:cNvSpPr/>
          <p:nvPr/>
        </p:nvSpPr>
        <p:spPr>
          <a:xfrm>
            <a:off x="3566160" y="804672"/>
            <a:ext cx="2011680" cy="658368"/>
          </a:xfrm>
          <a:prstGeom prst="rect">
            <a:avLst/>
          </a:prstGeom>
          <a:noFill/>
          <a:ln/>
        </p:spPr>
        <p:txBody>
          <a:bodyPr wrap="square" lIns="0" tIns="0" rIns="0" bIns="0" rtlCol="0" anchor="ctr"/>
          <a:lstStyle/>
          <a:p>
            <a:pPr algn="ctr" indent="0" marL="0">
              <a:buNone/>
            </a:pPr>
            <a:r>
              <a:rPr lang="en-US" sz="1100" b="1" dirty="0">
                <a:solidFill>
                  <a:srgbClr val="1A2F4A"/>
                </a:solidFill>
                <a:latin typeface="Calibri" pitchFamily="34" charset="0"/>
                <a:ea typeface="Calibri" pitchFamily="34" charset="-122"/>
                <a:cs typeface="Calibri" pitchFamily="34" charset="-120"/>
              </a:rPr>
              <a:t>Gold Layer</a:t>
            </a:r>
            <a:endParaRPr lang="en-US" sz="1100" dirty="0"/>
          </a:p>
          <a:p>
            <a:pPr algn="ctr" indent="0" marL="0">
              <a:buNone/>
            </a:pPr>
            <a:r>
              <a:rPr lang="en-US" sz="1100" b="1" dirty="0">
                <a:solidFill>
                  <a:srgbClr val="1A2F4A"/>
                </a:solidFill>
                <a:latin typeface="Calibri" pitchFamily="34" charset="0"/>
                <a:ea typeface="Calibri" pitchFamily="34" charset="-122"/>
                <a:cs typeface="Calibri" pitchFamily="34" charset="-120"/>
              </a:rPr>
              <a:t>(runs once)</a:t>
            </a:r>
            <a:endParaRPr lang="en-US" sz="1100" dirty="0"/>
          </a:p>
        </p:txBody>
      </p:sp>
      <p:sp>
        <p:nvSpPr>
          <p:cNvPr id="10" name="Shape 8"/>
          <p:cNvSpPr/>
          <p:nvPr/>
        </p:nvSpPr>
        <p:spPr>
          <a:xfrm>
            <a:off x="3566160" y="1133856"/>
            <a:ext cx="-1874520" cy="548640"/>
          </a:xfrm>
          <a:prstGeom prst="line">
            <a:avLst/>
          </a:prstGeom>
          <a:noFill/>
          <a:ln w="25400">
            <a:solidFill>
              <a:srgbClr val="2A7A8C"/>
            </a:solidFill>
            <a:prstDash val="solid"/>
          </a:ln>
        </p:spPr>
      </p:sp>
      <p:sp>
        <p:nvSpPr>
          <p:cNvPr id="11" name="Shape 9"/>
          <p:cNvSpPr/>
          <p:nvPr/>
        </p:nvSpPr>
        <p:spPr>
          <a:xfrm>
            <a:off x="5577840" y="1133856"/>
            <a:ext cx="1874520" cy="548640"/>
          </a:xfrm>
          <a:prstGeom prst="line">
            <a:avLst/>
          </a:prstGeom>
          <a:noFill/>
          <a:ln w="25400">
            <a:solidFill>
              <a:srgbClr val="2A7A8C"/>
            </a:solidFill>
            <a:prstDash val="solid"/>
          </a:ln>
        </p:spPr>
      </p:sp>
      <p:sp>
        <p:nvSpPr>
          <p:cNvPr id="12" name="Shape 10"/>
          <p:cNvSpPr/>
          <p:nvPr/>
        </p:nvSpPr>
        <p:spPr>
          <a:xfrm>
            <a:off x="320040" y="1719072"/>
            <a:ext cx="3886200" cy="457200"/>
          </a:xfrm>
          <a:prstGeom prst="roundRect">
            <a:avLst>
              <a:gd name="adj" fmla="val 14000"/>
            </a:avLst>
          </a:prstGeom>
          <a:solidFill>
            <a:srgbClr val="2E8B6E"/>
          </a:solidFill>
          <a:ln w="12700">
            <a:solidFill>
              <a:srgbClr val="2E8B6E"/>
            </a:solidFill>
            <a:prstDash val="solid"/>
          </a:ln>
        </p:spPr>
      </p:sp>
      <p:sp>
        <p:nvSpPr>
          <p:cNvPr id="13" name="Text 11"/>
          <p:cNvSpPr/>
          <p:nvPr/>
        </p:nvSpPr>
        <p:spPr>
          <a:xfrm>
            <a:off x="320040" y="1719072"/>
            <a:ext cx="3886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PBDW — Portfolio &amp; Business Data Warehouse</a:t>
            </a:r>
            <a:endParaRPr lang="en-US" sz="1100" dirty="0"/>
          </a:p>
        </p:txBody>
      </p:sp>
      <p:sp>
        <p:nvSpPr>
          <p:cNvPr id="14" name="Shape 12"/>
          <p:cNvSpPr/>
          <p:nvPr/>
        </p:nvSpPr>
        <p:spPr>
          <a:xfrm>
            <a:off x="4937760" y="1719072"/>
            <a:ext cx="3886200" cy="457200"/>
          </a:xfrm>
          <a:prstGeom prst="roundRect">
            <a:avLst>
              <a:gd name="adj" fmla="val 14000"/>
            </a:avLst>
          </a:prstGeom>
          <a:solidFill>
            <a:srgbClr val="2A7A8C"/>
          </a:solidFill>
          <a:ln w="12700">
            <a:solidFill>
              <a:srgbClr val="2A7A8C"/>
            </a:solidFill>
            <a:prstDash val="solid"/>
          </a:ln>
        </p:spPr>
      </p:sp>
      <p:sp>
        <p:nvSpPr>
          <p:cNvPr id="15" name="Text 13"/>
          <p:cNvSpPr/>
          <p:nvPr/>
        </p:nvSpPr>
        <p:spPr>
          <a:xfrm>
            <a:off x="4937760" y="1719072"/>
            <a:ext cx="3886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IMDW — Instrument &amp; Market Data Warehouse</a:t>
            </a:r>
            <a:endParaRPr lang="en-US" sz="1100" dirty="0"/>
          </a:p>
        </p:txBody>
      </p:sp>
      <p:sp>
        <p:nvSpPr>
          <p:cNvPr id="16" name="Shape 14"/>
          <p:cNvSpPr/>
          <p:nvPr/>
        </p:nvSpPr>
        <p:spPr>
          <a:xfrm>
            <a:off x="320040" y="2304288"/>
            <a:ext cx="3886200" cy="804672"/>
          </a:xfrm>
          <a:prstGeom prst="roundRect">
            <a:avLst>
              <a:gd name="adj" fmla="val 9091"/>
            </a:avLst>
          </a:prstGeom>
          <a:solidFill>
            <a:srgbClr val="FFFFFF"/>
          </a:solidFill>
          <a:ln w="12700">
            <a:solidFill>
              <a:srgbClr val="D0ECF2"/>
            </a:solidFill>
            <a:prstDash val="solid"/>
          </a:ln>
          <a:effectLst>
            <a:outerShdw sx="100000" sy="100000" kx="0" ky="0" algn="bl" rotWithShape="0" blurRad="101600" dist="38100" dir="2700000">
              <a:srgbClr val="000000">
                <a:alpha val="10000"/>
              </a:srgbClr>
            </a:outerShdw>
          </a:effectLst>
        </p:spPr>
      </p:sp>
      <p:sp>
        <p:nvSpPr>
          <p:cNvPr id="17" name="Text 15"/>
          <p:cNvSpPr/>
          <p:nvPr/>
        </p:nvSpPr>
        <p:spPr>
          <a:xfrm>
            <a:off x="457200" y="2359152"/>
            <a:ext cx="3611880" cy="228600"/>
          </a:xfrm>
          <a:prstGeom prst="rect">
            <a:avLst/>
          </a:prstGeom>
          <a:noFill/>
          <a:ln/>
        </p:spPr>
        <p:txBody>
          <a:bodyPr wrap="square" lIns="0" tIns="0" rIns="0" bIns="0" rtlCol="0" anchor="ctr"/>
          <a:lstStyle/>
          <a:p>
            <a:pPr indent="0" marL="0">
              <a:buNone/>
            </a:pPr>
            <a:r>
              <a:rPr lang="en-US" sz="900" b="1" dirty="0">
                <a:solidFill>
                  <a:srgbClr val="2E8B6E"/>
                </a:solidFill>
                <a:latin typeface="Courier New" pitchFamily="34" charset="0"/>
                <a:ea typeface="Courier New" pitchFamily="34" charset="-122"/>
                <a:cs typeface="Courier New" pitchFamily="34" charset="-120"/>
              </a:rPr>
              <a:t>pbdw_portfolio_positions</a:t>
            </a:r>
            <a:endParaRPr lang="en-US" sz="900" dirty="0"/>
          </a:p>
        </p:txBody>
      </p:sp>
      <p:sp>
        <p:nvSpPr>
          <p:cNvPr id="18" name="Text 16"/>
          <p:cNvSpPr/>
          <p:nvPr/>
        </p:nvSpPr>
        <p:spPr>
          <a:xfrm>
            <a:off x="457200" y="2578608"/>
            <a:ext cx="3611880" cy="457200"/>
          </a:xfrm>
          <a:prstGeom prst="rect">
            <a:avLst/>
          </a:prstGeom>
          <a:noFill/>
          <a:ln/>
        </p:spPr>
        <p:txBody>
          <a:bodyPr wrap="square" lIns="0" tIns="0" rIns="0" bIns="0" rtlCol="0" anchor="ctr"/>
          <a:lstStyle/>
          <a:p>
            <a:pPr indent="0" marL="0">
              <a:buNone/>
            </a:pPr>
            <a:r>
              <a:rPr lang="en-US" sz="850" dirty="0">
                <a:solidFill>
                  <a:srgbClr val="3D5A66"/>
                </a:solidFill>
                <a:latin typeface="Calibri" pitchFamily="34" charset="0"/>
                <a:ea typeface="Calibri" pitchFamily="34" charset="-122"/>
                <a:cs typeface="Calibri" pitchFamily="34" charset="-120"/>
              </a:rPr>
              <a:t>Wide flat — 1 row per account/security.</a:t>
            </a:r>
            <a:endParaRPr lang="en-US" sz="850" dirty="0"/>
          </a:p>
          <a:p>
            <a:pPr indent="0" marL="0">
              <a:buNone/>
            </a:pPr>
            <a:r>
              <a:rPr lang="en-US" sz="850" dirty="0">
                <a:solidFill>
                  <a:srgbClr val="3D5A66"/>
                </a:solidFill>
                <a:latin typeface="Calibri" pitchFamily="34" charset="0"/>
                <a:ea typeface="Calibri" pitchFamily="34" charset="-122"/>
                <a:cs typeface="Calibri" pitchFamily="34" charset="-120"/>
              </a:rPr>
              <a:t>Net units, market value, cost basis, unrealized P&amp;L,</a:t>
            </a:r>
            <a:endParaRPr lang="en-US" sz="850" dirty="0"/>
          </a:p>
          <a:p>
            <a:pPr indent="0" marL="0">
              <a:buNone/>
            </a:pPr>
            <a:r>
              <a:rPr lang="en-US" sz="850" dirty="0">
                <a:solidFill>
                  <a:srgbClr val="3D5A66"/>
                </a:solidFill>
                <a:latin typeface="Calibri" pitchFamily="34" charset="0"/>
                <a:ea typeface="Calibri" pitchFamily="34" charset="-122"/>
                <a:cs typeface="Calibri" pitchFamily="34" charset="-120"/>
              </a:rPr>
              <a:t>weight as % of NAV. All gold KPIs denormalized.</a:t>
            </a:r>
            <a:endParaRPr lang="en-US" sz="850" dirty="0"/>
          </a:p>
        </p:txBody>
      </p:sp>
      <p:sp>
        <p:nvSpPr>
          <p:cNvPr id="19" name="Shape 17"/>
          <p:cNvSpPr/>
          <p:nvPr/>
        </p:nvSpPr>
        <p:spPr>
          <a:xfrm>
            <a:off x="320040" y="3218688"/>
            <a:ext cx="3886200" cy="804672"/>
          </a:xfrm>
          <a:prstGeom prst="roundRect">
            <a:avLst>
              <a:gd name="adj" fmla="val 9091"/>
            </a:avLst>
          </a:prstGeom>
          <a:solidFill>
            <a:srgbClr val="FFFFFF"/>
          </a:solidFill>
          <a:ln w="12700">
            <a:solidFill>
              <a:srgbClr val="D0ECF2"/>
            </a:solidFill>
            <a:prstDash val="solid"/>
          </a:ln>
          <a:effectLst>
            <a:outerShdw sx="100000" sy="100000" kx="0" ky="0" algn="bl" rotWithShape="0" blurRad="101600" dist="38100" dir="2700000">
              <a:srgbClr val="000000">
                <a:alpha val="10000"/>
              </a:srgbClr>
            </a:outerShdw>
          </a:effectLst>
        </p:spPr>
      </p:sp>
      <p:sp>
        <p:nvSpPr>
          <p:cNvPr id="20" name="Text 18"/>
          <p:cNvSpPr/>
          <p:nvPr/>
        </p:nvSpPr>
        <p:spPr>
          <a:xfrm>
            <a:off x="457200" y="3273552"/>
            <a:ext cx="3611880" cy="228600"/>
          </a:xfrm>
          <a:prstGeom prst="rect">
            <a:avLst/>
          </a:prstGeom>
          <a:noFill/>
          <a:ln/>
        </p:spPr>
        <p:txBody>
          <a:bodyPr wrap="square" lIns="0" tIns="0" rIns="0" bIns="0" rtlCol="0" anchor="ctr"/>
          <a:lstStyle/>
          <a:p>
            <a:pPr indent="0" marL="0">
              <a:buNone/>
            </a:pPr>
            <a:r>
              <a:rPr lang="en-US" sz="900" b="1" dirty="0">
                <a:solidFill>
                  <a:srgbClr val="2E8B6E"/>
                </a:solidFill>
                <a:latin typeface="Courier New" pitchFamily="34" charset="0"/>
                <a:ea typeface="Courier New" pitchFamily="34" charset="-122"/>
                <a:cs typeface="Courier New" pitchFamily="34" charset="-120"/>
              </a:rPr>
              <a:t>pbdw_accounting_journal</a:t>
            </a:r>
            <a:endParaRPr lang="en-US" sz="900" dirty="0"/>
          </a:p>
        </p:txBody>
      </p:sp>
      <p:sp>
        <p:nvSpPr>
          <p:cNvPr id="21" name="Text 19"/>
          <p:cNvSpPr/>
          <p:nvPr/>
        </p:nvSpPr>
        <p:spPr>
          <a:xfrm>
            <a:off x="457200" y="3493008"/>
            <a:ext cx="3611880" cy="457200"/>
          </a:xfrm>
          <a:prstGeom prst="rect">
            <a:avLst/>
          </a:prstGeom>
          <a:noFill/>
          <a:ln/>
        </p:spPr>
        <p:txBody>
          <a:bodyPr wrap="square" lIns="0" tIns="0" rIns="0" bIns="0" rtlCol="0" anchor="ctr"/>
          <a:lstStyle/>
          <a:p>
            <a:pPr indent="0" marL="0">
              <a:buNone/>
            </a:pPr>
            <a:r>
              <a:rPr lang="en-US" sz="850" dirty="0">
                <a:solidFill>
                  <a:srgbClr val="3D5A66"/>
                </a:solidFill>
                <a:latin typeface="Calibri" pitchFamily="34" charset="0"/>
                <a:ea typeface="Calibri" pitchFamily="34" charset="-122"/>
                <a:cs typeface="Calibri" pitchFamily="34" charset="-120"/>
              </a:rPr>
              <a:t>Double-entry — 1 row per journal line.</a:t>
            </a:r>
            <a:endParaRPr lang="en-US" sz="850" dirty="0"/>
          </a:p>
          <a:p>
            <a:pPr indent="0" marL="0">
              <a:buNone/>
            </a:pPr>
            <a:r>
              <a:rPr lang="en-US" sz="850" dirty="0">
                <a:solidFill>
                  <a:srgbClr val="3D5A66"/>
                </a:solidFill>
                <a:latin typeface="Calibri" pitchFamily="34" charset="0"/>
                <a:ea typeface="Calibri" pitchFamily="34" charset="-122"/>
                <a:cs typeface="Calibri" pitchFamily="34" charset="-120"/>
              </a:rPr>
              <a:t>Each tx → debit + credit. tx_balance_check</a:t>
            </a:r>
            <a:endParaRPr lang="en-US" sz="850" dirty="0"/>
          </a:p>
          <a:p>
            <a:pPr indent="0" marL="0">
              <a:buNone/>
            </a:pPr>
            <a:r>
              <a:rPr lang="en-US" sz="850" dirty="0">
                <a:solidFill>
                  <a:srgbClr val="3D5A66"/>
                </a:solidFill>
                <a:latin typeface="Calibri" pitchFamily="34" charset="0"/>
                <a:ea typeface="Calibri" pitchFamily="34" charset="-122"/>
                <a:cs typeface="Calibri" pitchFamily="34" charset="-120"/>
              </a:rPr>
              <a:t>window must always = 0. GL-ready.</a:t>
            </a:r>
            <a:endParaRPr lang="en-US" sz="850" dirty="0"/>
          </a:p>
        </p:txBody>
      </p:sp>
      <p:sp>
        <p:nvSpPr>
          <p:cNvPr id="22" name="Shape 20"/>
          <p:cNvSpPr/>
          <p:nvPr/>
        </p:nvSpPr>
        <p:spPr>
          <a:xfrm>
            <a:off x="320040" y="4133088"/>
            <a:ext cx="3886200" cy="804672"/>
          </a:xfrm>
          <a:prstGeom prst="roundRect">
            <a:avLst>
              <a:gd name="adj" fmla="val 9091"/>
            </a:avLst>
          </a:prstGeom>
          <a:solidFill>
            <a:srgbClr val="FFFFFF"/>
          </a:solidFill>
          <a:ln w="12700">
            <a:solidFill>
              <a:srgbClr val="D0ECF2"/>
            </a:solidFill>
            <a:prstDash val="solid"/>
          </a:ln>
          <a:effectLst>
            <a:outerShdw sx="100000" sy="100000" kx="0" ky="0" algn="bl" rotWithShape="0" blurRad="101600" dist="38100" dir="2700000">
              <a:srgbClr val="000000">
                <a:alpha val="10000"/>
              </a:srgbClr>
            </a:outerShdw>
          </a:effectLst>
        </p:spPr>
      </p:sp>
      <p:sp>
        <p:nvSpPr>
          <p:cNvPr id="23" name="Text 21"/>
          <p:cNvSpPr/>
          <p:nvPr/>
        </p:nvSpPr>
        <p:spPr>
          <a:xfrm>
            <a:off x="457200" y="4187952"/>
            <a:ext cx="3611880" cy="228600"/>
          </a:xfrm>
          <a:prstGeom prst="rect">
            <a:avLst/>
          </a:prstGeom>
          <a:noFill/>
          <a:ln/>
        </p:spPr>
        <p:txBody>
          <a:bodyPr wrap="square" lIns="0" tIns="0" rIns="0" bIns="0" rtlCol="0" anchor="ctr"/>
          <a:lstStyle/>
          <a:p>
            <a:pPr indent="0" marL="0">
              <a:buNone/>
            </a:pPr>
            <a:r>
              <a:rPr lang="en-US" sz="900" b="1" dirty="0">
                <a:solidFill>
                  <a:srgbClr val="2E8B6E"/>
                </a:solidFill>
                <a:latin typeface="Courier New" pitchFamily="34" charset="0"/>
                <a:ea typeface="Courier New" pitchFamily="34" charset="-122"/>
                <a:cs typeface="Courier New" pitchFamily="34" charset="-120"/>
              </a:rPr>
              <a:t>pbdw_account_summary</a:t>
            </a:r>
            <a:endParaRPr lang="en-US" sz="900" dirty="0"/>
          </a:p>
        </p:txBody>
      </p:sp>
      <p:sp>
        <p:nvSpPr>
          <p:cNvPr id="24" name="Text 22"/>
          <p:cNvSpPr/>
          <p:nvPr/>
        </p:nvSpPr>
        <p:spPr>
          <a:xfrm>
            <a:off x="457200" y="4407408"/>
            <a:ext cx="3611880" cy="457200"/>
          </a:xfrm>
          <a:prstGeom prst="rect">
            <a:avLst/>
          </a:prstGeom>
          <a:noFill/>
          <a:ln/>
        </p:spPr>
        <p:txBody>
          <a:bodyPr wrap="square" lIns="0" tIns="0" rIns="0" bIns="0" rtlCol="0" anchor="ctr"/>
          <a:lstStyle/>
          <a:p>
            <a:pPr indent="0" marL="0">
              <a:buNone/>
            </a:pPr>
            <a:r>
              <a:rPr lang="en-US" sz="850" dirty="0">
                <a:solidFill>
                  <a:srgbClr val="3D5A66"/>
                </a:solidFill>
                <a:latin typeface="Calibri" pitchFamily="34" charset="0"/>
                <a:ea typeface="Calibri" pitchFamily="34" charset="-122"/>
                <a:cs typeface="Calibri" pitchFamily="34" charset="-120"/>
              </a:rPr>
              <a:t>Executive snapshot — 1 row per account.</a:t>
            </a:r>
            <a:endParaRPr lang="en-US" sz="850" dirty="0"/>
          </a:p>
          <a:p>
            <a:pPr indent="0" marL="0">
              <a:buNone/>
            </a:pPr>
            <a:r>
              <a:rPr lang="en-US" sz="850" dirty="0">
                <a:solidFill>
                  <a:srgbClr val="3D5A66"/>
                </a:solidFill>
                <a:latin typeface="Calibri" pitchFamily="34" charset="0"/>
                <a:ea typeface="Calibri" pitchFamily="34" charset="-122"/>
                <a:cs typeface="Calibri" pitchFamily="34" charset="-120"/>
              </a:rPr>
              <a:t>NAV, YTD return, income, fees, trading days.</a:t>
            </a:r>
            <a:endParaRPr lang="en-US" sz="850" dirty="0"/>
          </a:p>
          <a:p>
            <a:pPr indent="0" marL="0">
              <a:buNone/>
            </a:pPr>
            <a:r>
              <a:rPr lang="en-US" sz="850" dirty="0">
                <a:solidFill>
                  <a:srgbClr val="3D5A66"/>
                </a:solidFill>
                <a:latin typeface="Calibri" pitchFamily="34" charset="0"/>
                <a:ea typeface="Calibri" pitchFamily="34" charset="-122"/>
                <a:cs typeface="Calibri" pitchFamily="34" charset="-120"/>
              </a:rPr>
              <a:t>Client statements &amp; dashboards.</a:t>
            </a:r>
            <a:endParaRPr lang="en-US" sz="850" dirty="0"/>
          </a:p>
        </p:txBody>
      </p:sp>
      <p:sp>
        <p:nvSpPr>
          <p:cNvPr id="25" name="Shape 23"/>
          <p:cNvSpPr/>
          <p:nvPr/>
        </p:nvSpPr>
        <p:spPr>
          <a:xfrm>
            <a:off x="4937760" y="2304288"/>
            <a:ext cx="3886200" cy="804672"/>
          </a:xfrm>
          <a:prstGeom prst="roundRect">
            <a:avLst>
              <a:gd name="adj" fmla="val 9091"/>
            </a:avLst>
          </a:prstGeom>
          <a:solidFill>
            <a:srgbClr val="FFFFFF"/>
          </a:solidFill>
          <a:ln w="12700">
            <a:solidFill>
              <a:srgbClr val="D0ECF2"/>
            </a:solidFill>
            <a:prstDash val="solid"/>
          </a:ln>
          <a:effectLst>
            <a:outerShdw sx="100000" sy="100000" kx="0" ky="0" algn="bl" rotWithShape="0" blurRad="101600" dist="38100" dir="2700000">
              <a:srgbClr val="000000">
                <a:alpha val="10000"/>
              </a:srgbClr>
            </a:outerShdw>
          </a:effectLst>
        </p:spPr>
      </p:sp>
      <p:sp>
        <p:nvSpPr>
          <p:cNvPr id="26" name="Text 24"/>
          <p:cNvSpPr/>
          <p:nvPr/>
        </p:nvSpPr>
        <p:spPr>
          <a:xfrm>
            <a:off x="5074920" y="2359152"/>
            <a:ext cx="3611880" cy="228600"/>
          </a:xfrm>
          <a:prstGeom prst="rect">
            <a:avLst/>
          </a:prstGeom>
          <a:noFill/>
          <a:ln/>
        </p:spPr>
        <p:txBody>
          <a:bodyPr wrap="square" lIns="0" tIns="0" rIns="0" bIns="0" rtlCol="0" anchor="ctr"/>
          <a:lstStyle/>
          <a:p>
            <a:pPr indent="0" marL="0">
              <a:buNone/>
            </a:pPr>
            <a:r>
              <a:rPr lang="en-US" sz="900" b="1" dirty="0">
                <a:solidFill>
                  <a:srgbClr val="2A7A8C"/>
                </a:solidFill>
                <a:latin typeface="Courier New" pitchFamily="34" charset="0"/>
                <a:ea typeface="Courier New" pitchFamily="34" charset="-122"/>
                <a:cs typeface="Courier New" pitchFamily="34" charset="-120"/>
              </a:rPr>
              <a:t>imdw_instrument_holdings</a:t>
            </a:r>
            <a:endParaRPr lang="en-US" sz="900" dirty="0"/>
          </a:p>
        </p:txBody>
      </p:sp>
      <p:sp>
        <p:nvSpPr>
          <p:cNvPr id="27" name="Text 25"/>
          <p:cNvSpPr/>
          <p:nvPr/>
        </p:nvSpPr>
        <p:spPr>
          <a:xfrm>
            <a:off x="5074920" y="2578608"/>
            <a:ext cx="3611880" cy="457200"/>
          </a:xfrm>
          <a:prstGeom prst="rect">
            <a:avLst/>
          </a:prstGeom>
          <a:noFill/>
          <a:ln/>
        </p:spPr>
        <p:txBody>
          <a:bodyPr wrap="square" lIns="0" tIns="0" rIns="0" bIns="0" rtlCol="0" anchor="ctr"/>
          <a:lstStyle/>
          <a:p>
            <a:pPr indent="0" marL="0">
              <a:buNone/>
            </a:pPr>
            <a:r>
              <a:rPr lang="en-US" sz="850" dirty="0">
                <a:solidFill>
                  <a:srgbClr val="3D5A66"/>
                </a:solidFill>
                <a:latin typeface="Calibri" pitchFamily="34" charset="0"/>
                <a:ea typeface="Calibri" pitchFamily="34" charset="-122"/>
                <a:cs typeface="Calibri" pitchFamily="34" charset="-120"/>
              </a:rPr>
              <a:t>Instrument-centric — 1 row per ticker firm-wide.</a:t>
            </a:r>
            <a:endParaRPr lang="en-US" sz="850" dirty="0"/>
          </a:p>
          <a:p>
            <a:pPr indent="0" marL="0">
              <a:buNone/>
            </a:pPr>
            <a:r>
              <a:rPr lang="en-US" sz="850" dirty="0">
                <a:solidFill>
                  <a:srgbClr val="3D5A66"/>
                </a:solidFill>
                <a:latin typeface="Calibri" pitchFamily="34" charset="0"/>
                <a:ea typeface="Calibri" pitchFamily="34" charset="-122"/>
                <a:cs typeface="Calibri" pitchFamily="34" charset="-120"/>
              </a:rPr>
              <a:t>Cross-account aggregation. Full CUSIP/ISIN/SEDOL</a:t>
            </a:r>
            <a:endParaRPr lang="en-US" sz="850" dirty="0"/>
          </a:p>
          <a:p>
            <a:pPr indent="0" marL="0">
              <a:buNone/>
            </a:pPr>
            <a:r>
              <a:rPr lang="en-US" sz="850" dirty="0">
                <a:solidFill>
                  <a:srgbClr val="3D5A66"/>
                </a:solidFill>
                <a:latin typeface="Calibri" pitchFamily="34" charset="0"/>
                <a:ea typeface="Calibri" pitchFamily="34" charset="-122"/>
                <a:cs typeface="Calibri" pitchFamily="34" charset="-120"/>
              </a:rPr>
              <a:t>security master enrichment.</a:t>
            </a:r>
            <a:endParaRPr lang="en-US" sz="850" dirty="0"/>
          </a:p>
        </p:txBody>
      </p:sp>
      <p:sp>
        <p:nvSpPr>
          <p:cNvPr id="28" name="Shape 26"/>
          <p:cNvSpPr/>
          <p:nvPr/>
        </p:nvSpPr>
        <p:spPr>
          <a:xfrm>
            <a:off x="4937760" y="3218688"/>
            <a:ext cx="3886200" cy="804672"/>
          </a:xfrm>
          <a:prstGeom prst="roundRect">
            <a:avLst>
              <a:gd name="adj" fmla="val 9091"/>
            </a:avLst>
          </a:prstGeom>
          <a:solidFill>
            <a:srgbClr val="FFFFFF"/>
          </a:solidFill>
          <a:ln w="12700">
            <a:solidFill>
              <a:srgbClr val="D0ECF2"/>
            </a:solidFill>
            <a:prstDash val="solid"/>
          </a:ln>
          <a:effectLst>
            <a:outerShdw sx="100000" sy="100000" kx="0" ky="0" algn="bl" rotWithShape="0" blurRad="101600" dist="38100" dir="2700000">
              <a:srgbClr val="000000">
                <a:alpha val="10000"/>
              </a:srgbClr>
            </a:outerShdw>
          </a:effectLst>
        </p:spPr>
      </p:sp>
      <p:sp>
        <p:nvSpPr>
          <p:cNvPr id="29" name="Text 27"/>
          <p:cNvSpPr/>
          <p:nvPr/>
        </p:nvSpPr>
        <p:spPr>
          <a:xfrm>
            <a:off x="5074920" y="3273552"/>
            <a:ext cx="3611880" cy="228600"/>
          </a:xfrm>
          <a:prstGeom prst="rect">
            <a:avLst/>
          </a:prstGeom>
          <a:noFill/>
          <a:ln/>
        </p:spPr>
        <p:txBody>
          <a:bodyPr wrap="square" lIns="0" tIns="0" rIns="0" bIns="0" rtlCol="0" anchor="ctr"/>
          <a:lstStyle/>
          <a:p>
            <a:pPr indent="0" marL="0">
              <a:buNone/>
            </a:pPr>
            <a:r>
              <a:rPr lang="en-US" sz="900" b="1" dirty="0">
                <a:solidFill>
                  <a:srgbClr val="2A7A8C"/>
                </a:solidFill>
                <a:latin typeface="Courier New" pitchFamily="34" charset="0"/>
                <a:ea typeface="Courier New" pitchFamily="34" charset="-122"/>
                <a:cs typeface="Courier New" pitchFamily="34" charset="-120"/>
              </a:rPr>
              <a:t>imdw_transaction_detail</a:t>
            </a:r>
            <a:endParaRPr lang="en-US" sz="900" dirty="0"/>
          </a:p>
        </p:txBody>
      </p:sp>
      <p:sp>
        <p:nvSpPr>
          <p:cNvPr id="30" name="Text 28"/>
          <p:cNvSpPr/>
          <p:nvPr/>
        </p:nvSpPr>
        <p:spPr>
          <a:xfrm>
            <a:off x="5074920" y="3493008"/>
            <a:ext cx="3611880" cy="457200"/>
          </a:xfrm>
          <a:prstGeom prst="rect">
            <a:avLst/>
          </a:prstGeom>
          <a:noFill/>
          <a:ln/>
        </p:spPr>
        <p:txBody>
          <a:bodyPr wrap="square" lIns="0" tIns="0" rIns="0" bIns="0" rtlCol="0" anchor="ctr"/>
          <a:lstStyle/>
          <a:p>
            <a:pPr indent="0" marL="0">
              <a:buNone/>
            </a:pPr>
            <a:r>
              <a:rPr lang="en-US" sz="850" dirty="0">
                <a:solidFill>
                  <a:srgbClr val="3D5A66"/>
                </a:solidFill>
                <a:latin typeface="Calibri" pitchFamily="34" charset="0"/>
                <a:ea typeface="Calibri" pitchFamily="34" charset="-122"/>
                <a:cs typeface="Calibri" pitchFamily="34" charset="-120"/>
              </a:rPr>
              <a:t>Full grain — 1 row per settled transaction.</a:t>
            </a:r>
            <a:endParaRPr lang="en-US" sz="850" dirty="0"/>
          </a:p>
          <a:p>
            <a:pPr indent="0" marL="0">
              <a:buNone/>
            </a:pPr>
            <a:r>
              <a:rPr lang="en-US" sz="850" dirty="0">
                <a:solidFill>
                  <a:srgbClr val="3D5A66"/>
                </a:solidFill>
                <a:latin typeface="Calibri" pitchFamily="34" charset="0"/>
                <a:ea typeface="Calibri" pitchFamily="34" charset="-122"/>
                <a:cs typeface="Calibri" pitchFamily="34" charset="-120"/>
              </a:rPr>
              <a:t>position_effect field. IBOR reconciliation input.</a:t>
            </a:r>
            <a:endParaRPr lang="en-US" sz="850" dirty="0"/>
          </a:p>
          <a:p>
            <a:pPr indent="0" marL="0">
              <a:buNone/>
            </a:pPr>
            <a:r>
              <a:rPr lang="en-US" sz="850" dirty="0">
                <a:solidFill>
                  <a:srgbClr val="3D5A66"/>
                </a:solidFill>
                <a:latin typeface="Calibri" pitchFamily="34" charset="0"/>
                <a:ea typeface="Calibri" pitchFamily="34" charset="-122"/>
                <a:cs typeface="Calibri" pitchFamily="34" charset="-120"/>
              </a:rPr>
              <a:t>Incremental by tx_date.</a:t>
            </a:r>
            <a:endParaRPr lang="en-US" sz="850" dirty="0"/>
          </a:p>
        </p:txBody>
      </p:sp>
      <p:sp>
        <p:nvSpPr>
          <p:cNvPr id="31" name="Shape 29"/>
          <p:cNvSpPr/>
          <p:nvPr/>
        </p:nvSpPr>
        <p:spPr>
          <a:xfrm>
            <a:off x="4937760" y="4133088"/>
            <a:ext cx="3886200" cy="804672"/>
          </a:xfrm>
          <a:prstGeom prst="roundRect">
            <a:avLst>
              <a:gd name="adj" fmla="val 9091"/>
            </a:avLst>
          </a:prstGeom>
          <a:solidFill>
            <a:srgbClr val="FFFFFF"/>
          </a:solidFill>
          <a:ln w="12700">
            <a:solidFill>
              <a:srgbClr val="D0ECF2"/>
            </a:solidFill>
            <a:prstDash val="solid"/>
          </a:ln>
          <a:effectLst>
            <a:outerShdw sx="100000" sy="100000" kx="0" ky="0" algn="bl" rotWithShape="0" blurRad="101600" dist="38100" dir="2700000">
              <a:srgbClr val="000000">
                <a:alpha val="10000"/>
              </a:srgbClr>
            </a:outerShdw>
          </a:effectLst>
        </p:spPr>
      </p:sp>
      <p:sp>
        <p:nvSpPr>
          <p:cNvPr id="32" name="Text 30"/>
          <p:cNvSpPr/>
          <p:nvPr/>
        </p:nvSpPr>
        <p:spPr>
          <a:xfrm>
            <a:off x="5074920" y="4187952"/>
            <a:ext cx="3611880" cy="228600"/>
          </a:xfrm>
          <a:prstGeom prst="rect">
            <a:avLst/>
          </a:prstGeom>
          <a:noFill/>
          <a:ln/>
        </p:spPr>
        <p:txBody>
          <a:bodyPr wrap="square" lIns="0" tIns="0" rIns="0" bIns="0" rtlCol="0" anchor="ctr"/>
          <a:lstStyle/>
          <a:p>
            <a:pPr indent="0" marL="0">
              <a:buNone/>
            </a:pPr>
            <a:r>
              <a:rPr lang="en-US" sz="900" b="1" dirty="0">
                <a:solidFill>
                  <a:srgbClr val="2A7A8C"/>
                </a:solidFill>
                <a:latin typeface="Courier New" pitchFamily="34" charset="0"/>
                <a:ea typeface="Courier New" pitchFamily="34" charset="-122"/>
                <a:cs typeface="Courier New" pitchFamily="34" charset="-120"/>
              </a:rPr>
              <a:t>imdw_nav_timeseries</a:t>
            </a:r>
            <a:endParaRPr lang="en-US" sz="900" dirty="0"/>
          </a:p>
        </p:txBody>
      </p:sp>
      <p:sp>
        <p:nvSpPr>
          <p:cNvPr id="33" name="Text 31"/>
          <p:cNvSpPr/>
          <p:nvPr/>
        </p:nvSpPr>
        <p:spPr>
          <a:xfrm>
            <a:off x="5074920" y="4407408"/>
            <a:ext cx="3611880" cy="457200"/>
          </a:xfrm>
          <a:prstGeom prst="rect">
            <a:avLst/>
          </a:prstGeom>
          <a:noFill/>
          <a:ln/>
        </p:spPr>
        <p:txBody>
          <a:bodyPr wrap="square" lIns="0" tIns="0" rIns="0" bIns="0" rtlCol="0" anchor="ctr"/>
          <a:lstStyle/>
          <a:p>
            <a:pPr indent="0" marL="0">
              <a:buNone/>
            </a:pPr>
            <a:r>
              <a:rPr lang="en-US" sz="850" dirty="0">
                <a:solidFill>
                  <a:srgbClr val="3D5A66"/>
                </a:solidFill>
                <a:latin typeface="Calibri" pitchFamily="34" charset="0"/>
                <a:ea typeface="Calibri" pitchFamily="34" charset="-122"/>
                <a:cs typeface="Calibri" pitchFamily="34" charset="-120"/>
              </a:rPr>
              <a:t>Time-series — 1 row per account per NAV date.</a:t>
            </a:r>
            <a:endParaRPr lang="en-US" sz="850" dirty="0"/>
          </a:p>
          <a:p>
            <a:pPr indent="0" marL="0">
              <a:buNone/>
            </a:pPr>
            <a:r>
              <a:rPr lang="en-US" sz="850" dirty="0">
                <a:solidFill>
                  <a:srgbClr val="3D5A66"/>
                </a:solidFill>
                <a:latin typeface="Calibri" pitchFamily="34" charset="0"/>
                <a:ea typeface="Calibri" pitchFamily="34" charset="-122"/>
                <a:cs typeface="Calibri" pitchFamily="34" charset="-120"/>
              </a:rPr>
              <a:t>LAG() for day-over-day return. Active return</a:t>
            </a:r>
            <a:endParaRPr lang="en-US" sz="850" dirty="0"/>
          </a:p>
          <a:p>
            <a:pPr indent="0" marL="0">
              <a:buNone/>
            </a:pPr>
            <a:r>
              <a:rPr lang="en-US" sz="850" dirty="0">
                <a:solidFill>
                  <a:srgbClr val="3D5A66"/>
                </a:solidFill>
                <a:latin typeface="Calibri" pitchFamily="34" charset="0"/>
                <a:ea typeface="Calibri" pitchFamily="34" charset="-122"/>
                <a:cs typeface="Calibri" pitchFamily="34" charset="-120"/>
              </a:rPr>
              <a:t>vs benchmark. Incremental by nav_date.</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F5C6B"/>
          </a:solidFill>
          <a:ln w="12700">
            <a:solidFill>
              <a:srgbClr val="1F5C6B"/>
            </a:solidFill>
            <a:prstDash val="solid"/>
          </a:ln>
        </p:spPr>
      </p:sp>
      <p:sp>
        <p:nvSpPr>
          <p:cNvPr id="3" name="Shape 1"/>
          <p:cNvSpPr/>
          <p:nvPr/>
        </p:nvSpPr>
        <p:spPr>
          <a:xfrm>
            <a:off x="201168" y="0"/>
            <a:ext cx="8942832" cy="685800"/>
          </a:xfrm>
          <a:prstGeom prst="rect">
            <a:avLst/>
          </a:prstGeom>
          <a:solidFill>
            <a:srgbClr val="1A2F4A"/>
          </a:solidFill>
          <a:ln w="12700">
            <a:solidFill>
              <a:srgbClr val="1A2F4A"/>
            </a:solidFill>
            <a:prstDash val="solid"/>
          </a:ln>
        </p:spPr>
      </p:sp>
      <p:sp>
        <p:nvSpPr>
          <p:cNvPr id="4" name="Text 2"/>
          <p:cNvSpPr/>
          <p:nvPr/>
        </p:nvSpPr>
        <p:spPr>
          <a:xfrm>
            <a:off x="384048" y="54864"/>
            <a:ext cx="5943600" cy="56692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CP Developer Platform</a:t>
            </a:r>
            <a:endParaRPr lang="en-US" sz="2000" dirty="0"/>
          </a:p>
        </p:txBody>
      </p:sp>
      <p:sp>
        <p:nvSpPr>
          <p:cNvPr id="5" name="Text 3"/>
          <p:cNvSpPr/>
          <p:nvPr/>
        </p:nvSpPr>
        <p:spPr>
          <a:xfrm>
            <a:off x="384048" y="54864"/>
            <a:ext cx="8412480" cy="566928"/>
          </a:xfrm>
          <a:prstGeom prst="rect">
            <a:avLst/>
          </a:prstGeom>
          <a:noFill/>
          <a:ln/>
        </p:spPr>
        <p:txBody>
          <a:bodyPr wrap="square" lIns="0" tIns="0" rIns="0" bIns="0" rtlCol="0" anchor="ctr"/>
          <a:lstStyle/>
          <a:p>
            <a:pPr algn="r" indent="0" marL="0">
              <a:buNone/>
            </a:pPr>
            <a:r>
              <a:rPr lang="en-US" sz="1100" dirty="0">
                <a:solidFill>
                  <a:srgbClr val="F0D98C"/>
                </a:solidFill>
                <a:latin typeface="Calibri" pitchFamily="34" charset="0"/>
                <a:ea typeface="Calibri" pitchFamily="34" charset="-122"/>
                <a:cs typeface="Calibri" pitchFamily="34" charset="-120"/>
              </a:rPr>
              <a:t>Production-Parity Infrastructure &amp; One-Command Setup</a:t>
            </a:r>
            <a:endParaRPr lang="en-US" sz="1100" dirty="0"/>
          </a:p>
        </p:txBody>
      </p:sp>
      <p:sp>
        <p:nvSpPr>
          <p:cNvPr id="6" name="Shape 4"/>
          <p:cNvSpPr/>
          <p:nvPr/>
        </p:nvSpPr>
        <p:spPr>
          <a:xfrm>
            <a:off x="201168" y="4919472"/>
            <a:ext cx="8942832" cy="224028"/>
          </a:xfrm>
          <a:prstGeom prst="rect">
            <a:avLst/>
          </a:prstGeom>
          <a:solidFill>
            <a:srgbClr val="D0ECF2"/>
          </a:solidFill>
          <a:ln w="12700">
            <a:solidFill>
              <a:srgbClr val="D0ECF2"/>
            </a:solidFill>
            <a:prstDash val="solid"/>
          </a:ln>
        </p:spPr>
      </p:sp>
      <p:sp>
        <p:nvSpPr>
          <p:cNvPr id="7" name="Text 5"/>
          <p:cNvSpPr/>
          <p:nvPr/>
        </p:nvSpPr>
        <p:spPr>
          <a:xfrm>
            <a:off x="384048" y="4928616"/>
            <a:ext cx="8595360" cy="201168"/>
          </a:xfrm>
          <a:prstGeom prst="rect">
            <a:avLst/>
          </a:prstGeom>
          <a:noFill/>
          <a:ln/>
        </p:spPr>
        <p:txBody>
          <a:bodyPr wrap="square" rtlCol="0" anchor="ctr"/>
          <a:lstStyle/>
          <a:p>
            <a:pPr indent="0" marL="0">
              <a:buNone/>
            </a:pPr>
            <a:r>
              <a:rPr lang="en-US" sz="800" dirty="0">
                <a:solidFill>
                  <a:srgbClr val="1F5C6B"/>
                </a:solidFill>
                <a:latin typeface="Calibri" pitchFamily="34" charset="0"/>
                <a:ea typeface="Calibri" pitchFamily="34" charset="-122"/>
                <a:cs typeface="Calibri" pitchFamily="34" charset="-120"/>
              </a:rPr>
              <a:t>BBH Capital Partners  |  SWP Migration  |  Confidential</a:t>
            </a:r>
            <a:endParaRPr lang="en-US" sz="800" dirty="0"/>
          </a:p>
        </p:txBody>
      </p:sp>
      <p:sp>
        <p:nvSpPr>
          <p:cNvPr id="8" name="Shape 6"/>
          <p:cNvSpPr/>
          <p:nvPr/>
        </p:nvSpPr>
        <p:spPr>
          <a:xfrm>
            <a:off x="320040" y="804672"/>
            <a:ext cx="2926080" cy="1828800"/>
          </a:xfrm>
          <a:prstGeom prst="roundRect">
            <a:avLst>
              <a:gd name="adj" fmla="val 4000"/>
            </a:avLst>
          </a:prstGeom>
          <a:solidFill>
            <a:srgbClr val="FEF2F2"/>
          </a:solidFill>
          <a:ln w="12700">
            <a:solidFill>
              <a:srgbClr val="FECACA"/>
            </a:solidFill>
            <a:prstDash val="solid"/>
          </a:ln>
        </p:spPr>
      </p:sp>
      <p:sp>
        <p:nvSpPr>
          <p:cNvPr id="9" name="Text 7"/>
          <p:cNvSpPr/>
          <p:nvPr/>
        </p:nvSpPr>
        <p:spPr>
          <a:xfrm>
            <a:off x="457200" y="877824"/>
            <a:ext cx="2651760" cy="256032"/>
          </a:xfrm>
          <a:prstGeom prst="rect">
            <a:avLst/>
          </a:prstGeom>
          <a:noFill/>
          <a:ln/>
        </p:spPr>
        <p:txBody>
          <a:bodyPr wrap="square" lIns="0" tIns="0" rIns="0" bIns="0" rtlCol="0" anchor="ctr"/>
          <a:lstStyle/>
          <a:p>
            <a:pPr indent="0" marL="0">
              <a:buNone/>
            </a:pPr>
            <a:r>
              <a:rPr lang="en-US" sz="900" b="1" spc="150" kern="0" dirty="0">
                <a:solidFill>
                  <a:srgbClr val="C0392B"/>
                </a:solidFill>
                <a:latin typeface="Calibri" pitchFamily="34" charset="0"/>
                <a:ea typeface="Calibri" pitchFamily="34" charset="-122"/>
                <a:cs typeface="Calibri" pitchFamily="34" charset="-120"/>
              </a:rPr>
              <a:t>THE PROBLEM</a:t>
            </a:r>
            <a:endParaRPr lang="en-US" sz="900" dirty="0"/>
          </a:p>
        </p:txBody>
      </p:sp>
      <p:sp>
        <p:nvSpPr>
          <p:cNvPr id="10" name="Text 8"/>
          <p:cNvSpPr/>
          <p:nvPr/>
        </p:nvSpPr>
        <p:spPr>
          <a:xfrm>
            <a:off x="457200" y="1188720"/>
            <a:ext cx="2651760" cy="310896"/>
          </a:xfrm>
          <a:prstGeom prst="rect">
            <a:avLst/>
          </a:prstGeom>
          <a:noFill/>
          <a:ln/>
        </p:spPr>
        <p:txBody>
          <a:bodyPr wrap="square" lIns="0" tIns="0" rIns="0" bIns="0" rtlCol="0" anchor="ctr"/>
          <a:lstStyle/>
          <a:p>
            <a:pPr indent="0" marL="0">
              <a:buNone/>
            </a:pPr>
            <a:r>
              <a:rPr lang="en-US" sz="900" dirty="0">
                <a:solidFill>
                  <a:srgbClr val="C0392B"/>
                </a:solidFill>
                <a:latin typeface="Calibri" pitchFamily="34" charset="0"/>
                <a:ea typeface="Calibri" pitchFamily="34" charset="-122"/>
                <a:cs typeface="Calibri" pitchFamily="34" charset="-120"/>
              </a:rPr>
              <a:t>✗  Works on Windows, fails in Linux production</a:t>
            </a:r>
            <a:endParaRPr lang="en-US" sz="900" dirty="0"/>
          </a:p>
        </p:txBody>
      </p:sp>
      <p:sp>
        <p:nvSpPr>
          <p:cNvPr id="11" name="Text 9"/>
          <p:cNvSpPr/>
          <p:nvPr/>
        </p:nvSpPr>
        <p:spPr>
          <a:xfrm>
            <a:off x="457200" y="1536192"/>
            <a:ext cx="2651760" cy="310896"/>
          </a:xfrm>
          <a:prstGeom prst="rect">
            <a:avLst/>
          </a:prstGeom>
          <a:noFill/>
          <a:ln/>
        </p:spPr>
        <p:txBody>
          <a:bodyPr wrap="square" lIns="0" tIns="0" rIns="0" bIns="0" rtlCol="0" anchor="ctr"/>
          <a:lstStyle/>
          <a:p>
            <a:pPr indent="0" marL="0">
              <a:buNone/>
            </a:pPr>
            <a:r>
              <a:rPr lang="en-US" sz="900" dirty="0">
                <a:solidFill>
                  <a:srgbClr val="C0392B"/>
                </a:solidFill>
                <a:latin typeface="Calibri" pitchFamily="34" charset="0"/>
                <a:ea typeface="Calibri" pitchFamily="34" charset="-122"/>
                <a:cs typeface="Calibri" pitchFamily="34" charset="-120"/>
              </a:rPr>
              <a:t>✗  Different Python / library versions per developer</a:t>
            </a:r>
            <a:endParaRPr lang="en-US" sz="900" dirty="0"/>
          </a:p>
        </p:txBody>
      </p:sp>
      <p:sp>
        <p:nvSpPr>
          <p:cNvPr id="12" name="Text 10"/>
          <p:cNvSpPr/>
          <p:nvPr/>
        </p:nvSpPr>
        <p:spPr>
          <a:xfrm>
            <a:off x="457200" y="1883664"/>
            <a:ext cx="2651760" cy="310896"/>
          </a:xfrm>
          <a:prstGeom prst="rect">
            <a:avLst/>
          </a:prstGeom>
          <a:noFill/>
          <a:ln/>
        </p:spPr>
        <p:txBody>
          <a:bodyPr wrap="square" lIns="0" tIns="0" rIns="0" bIns="0" rtlCol="0" anchor="ctr"/>
          <a:lstStyle/>
          <a:p>
            <a:pPr indent="0" marL="0">
              <a:buNone/>
            </a:pPr>
            <a:r>
              <a:rPr lang="en-US" sz="900" dirty="0">
                <a:solidFill>
                  <a:srgbClr val="C0392B"/>
                </a:solidFill>
                <a:latin typeface="Calibri" pitchFamily="34" charset="0"/>
                <a:ea typeface="Calibri" pitchFamily="34" charset="-122"/>
                <a:cs typeface="Calibri" pitchFamily="34" charset="-120"/>
              </a:rPr>
              <a:t>✗  Environment drift between dev and prod</a:t>
            </a:r>
            <a:endParaRPr lang="en-US" sz="900" dirty="0"/>
          </a:p>
        </p:txBody>
      </p:sp>
      <p:sp>
        <p:nvSpPr>
          <p:cNvPr id="13" name="Text 11"/>
          <p:cNvSpPr/>
          <p:nvPr/>
        </p:nvSpPr>
        <p:spPr>
          <a:xfrm>
            <a:off x="457200" y="2231136"/>
            <a:ext cx="2651760" cy="310896"/>
          </a:xfrm>
          <a:prstGeom prst="rect">
            <a:avLst/>
          </a:prstGeom>
          <a:noFill/>
          <a:ln/>
        </p:spPr>
        <p:txBody>
          <a:bodyPr wrap="square" lIns="0" tIns="0" rIns="0" bIns="0" rtlCol="0" anchor="ctr"/>
          <a:lstStyle/>
          <a:p>
            <a:pPr indent="0" marL="0">
              <a:buNone/>
            </a:pPr>
            <a:r>
              <a:rPr lang="en-US" sz="900" dirty="0">
                <a:solidFill>
                  <a:srgbClr val="C0392B"/>
                </a:solidFill>
                <a:latin typeface="Calibri" pitchFamily="34" charset="0"/>
                <a:ea typeface="Calibri" pitchFamily="34" charset="-122"/>
                <a:cs typeface="Calibri" pitchFamily="34" charset="-120"/>
              </a:rPr>
              <a:t>✗  "Just works on my machine" delays</a:t>
            </a:r>
            <a:endParaRPr lang="en-US" sz="900" dirty="0"/>
          </a:p>
        </p:txBody>
      </p:sp>
      <p:sp>
        <p:nvSpPr>
          <p:cNvPr id="14" name="Shape 12"/>
          <p:cNvSpPr/>
          <p:nvPr/>
        </p:nvSpPr>
        <p:spPr>
          <a:xfrm>
            <a:off x="3273552" y="1719072"/>
            <a:ext cx="566928" cy="0"/>
          </a:xfrm>
          <a:prstGeom prst="line">
            <a:avLst/>
          </a:prstGeom>
          <a:noFill/>
          <a:ln w="31750">
            <a:solidFill>
              <a:srgbClr val="1F5C6B"/>
            </a:solidFill>
            <a:prstDash val="solid"/>
            <a:tailEnd type="triangle"/>
          </a:ln>
        </p:spPr>
      </p:sp>
      <p:sp>
        <p:nvSpPr>
          <p:cNvPr id="15" name="Shape 13"/>
          <p:cNvSpPr/>
          <p:nvPr/>
        </p:nvSpPr>
        <p:spPr>
          <a:xfrm>
            <a:off x="3858768" y="804672"/>
            <a:ext cx="4965192" cy="1828800"/>
          </a:xfrm>
          <a:prstGeom prst="roundRect">
            <a:avLst>
              <a:gd name="adj" fmla="val 4000"/>
            </a:avLst>
          </a:prstGeom>
          <a:solidFill>
            <a:srgbClr val="F0F8FA"/>
          </a:solidFill>
          <a:ln w="12700">
            <a:solidFill>
              <a:srgbClr val="D0ECF2"/>
            </a:solidFill>
            <a:prstDash val="solid"/>
          </a:ln>
          <a:effectLst>
            <a:outerShdw sx="100000" sy="100000" kx="0" ky="0" algn="bl" rotWithShape="0" blurRad="101600" dist="38100" dir="2700000">
              <a:srgbClr val="000000">
                <a:alpha val="10000"/>
              </a:srgbClr>
            </a:outerShdw>
          </a:effectLst>
        </p:spPr>
      </p:sp>
      <p:sp>
        <p:nvSpPr>
          <p:cNvPr id="16" name="Text 14"/>
          <p:cNvSpPr/>
          <p:nvPr/>
        </p:nvSpPr>
        <p:spPr>
          <a:xfrm>
            <a:off x="3995928" y="877824"/>
            <a:ext cx="4663440" cy="256032"/>
          </a:xfrm>
          <a:prstGeom prst="rect">
            <a:avLst/>
          </a:prstGeom>
          <a:noFill/>
          <a:ln/>
        </p:spPr>
        <p:txBody>
          <a:bodyPr wrap="square" lIns="0" tIns="0" rIns="0" bIns="0" rtlCol="0" anchor="ctr"/>
          <a:lstStyle/>
          <a:p>
            <a:pPr indent="0" marL="0">
              <a:buNone/>
            </a:pPr>
            <a:r>
              <a:rPr lang="en-US" sz="900" b="1" spc="150" kern="0" dirty="0">
                <a:solidFill>
                  <a:srgbClr val="1F5C6B"/>
                </a:solidFill>
                <a:latin typeface="Calibri" pitchFamily="34" charset="0"/>
                <a:ea typeface="Calibri" pitchFamily="34" charset="-122"/>
                <a:cs typeface="Calibri" pitchFamily="34" charset="-120"/>
              </a:rPr>
              <a:t>THE SOLUTION — Pre-Built Developer Image</a:t>
            </a:r>
            <a:endParaRPr lang="en-US" sz="900" dirty="0"/>
          </a:p>
        </p:txBody>
      </p:sp>
      <p:sp>
        <p:nvSpPr>
          <p:cNvPr id="17" name="Text 15"/>
          <p:cNvSpPr/>
          <p:nvPr/>
        </p:nvSpPr>
        <p:spPr>
          <a:xfrm>
            <a:off x="3995928" y="1188720"/>
            <a:ext cx="4663440" cy="256032"/>
          </a:xfrm>
          <a:prstGeom prst="rect">
            <a:avLst/>
          </a:prstGeom>
          <a:noFill/>
          <a:ln/>
        </p:spPr>
        <p:txBody>
          <a:bodyPr wrap="square" lIns="0" tIns="0" rIns="0" bIns="0" rtlCol="0" anchor="ctr"/>
          <a:lstStyle/>
          <a:p>
            <a:pPr indent="0" marL="0">
              <a:buNone/>
            </a:pPr>
            <a:r>
              <a:rPr lang="en-US" sz="900" dirty="0">
                <a:solidFill>
                  <a:srgbClr val="2E8B6E"/>
                </a:solidFill>
                <a:latin typeface="Calibri" pitchFamily="34" charset="0"/>
                <a:ea typeface="Calibri" pitchFamily="34" charset="-122"/>
                <a:cs typeface="Calibri" pitchFamily="34" charset="-120"/>
              </a:rPr>
              <a:t>✓  OpenShift-hosted VSCode Server (ODH) — browser-based</a:t>
            </a:r>
            <a:endParaRPr lang="en-US" sz="900" dirty="0"/>
          </a:p>
        </p:txBody>
      </p:sp>
      <p:sp>
        <p:nvSpPr>
          <p:cNvPr id="18" name="Text 16"/>
          <p:cNvSpPr/>
          <p:nvPr/>
        </p:nvSpPr>
        <p:spPr>
          <a:xfrm>
            <a:off x="3995928" y="1463040"/>
            <a:ext cx="4663440" cy="256032"/>
          </a:xfrm>
          <a:prstGeom prst="rect">
            <a:avLst/>
          </a:prstGeom>
          <a:noFill/>
          <a:ln/>
        </p:spPr>
        <p:txBody>
          <a:bodyPr wrap="square" lIns="0" tIns="0" rIns="0" bIns="0" rtlCol="0" anchor="ctr"/>
          <a:lstStyle/>
          <a:p>
            <a:pPr indent="0" marL="0">
              <a:buNone/>
            </a:pPr>
            <a:r>
              <a:rPr lang="en-US" sz="900" dirty="0">
                <a:solidFill>
                  <a:srgbClr val="2E8B6E"/>
                </a:solidFill>
                <a:latin typeface="Calibri" pitchFamily="34" charset="0"/>
                <a:ea typeface="Calibri" pitchFamily="34" charset="-122"/>
                <a:cs typeface="Calibri" pitchFamily="34" charset="-120"/>
              </a:rPr>
              <a:t>✓  Exact match of production Airflow-dbt image on OpenShift</a:t>
            </a:r>
            <a:endParaRPr lang="en-US" sz="900" dirty="0"/>
          </a:p>
        </p:txBody>
      </p:sp>
      <p:sp>
        <p:nvSpPr>
          <p:cNvPr id="19" name="Text 17"/>
          <p:cNvSpPr/>
          <p:nvPr/>
        </p:nvSpPr>
        <p:spPr>
          <a:xfrm>
            <a:off x="3995928" y="1737360"/>
            <a:ext cx="4663440" cy="256032"/>
          </a:xfrm>
          <a:prstGeom prst="rect">
            <a:avLst/>
          </a:prstGeom>
          <a:noFill/>
          <a:ln/>
        </p:spPr>
        <p:txBody>
          <a:bodyPr wrap="square" lIns="0" tIns="0" rIns="0" bIns="0" rtlCol="0" anchor="ctr"/>
          <a:lstStyle/>
          <a:p>
            <a:pPr indent="0" marL="0">
              <a:buNone/>
            </a:pPr>
            <a:r>
              <a:rPr lang="en-US" sz="900" dirty="0">
                <a:solidFill>
                  <a:srgbClr val="2E8B6E"/>
                </a:solidFill>
                <a:latin typeface="Calibri" pitchFamily="34" charset="0"/>
                <a:ea typeface="Calibri" pitchFamily="34" charset="-122"/>
                <a:cs typeface="Calibri" pitchFamily="34" charset="-120"/>
              </a:rPr>
              <a:t>✓  Same OS · Python · Airflow 3.2.1 · dbt-core 1.8.4</a:t>
            </a:r>
            <a:endParaRPr lang="en-US" sz="900" dirty="0"/>
          </a:p>
        </p:txBody>
      </p:sp>
      <p:sp>
        <p:nvSpPr>
          <p:cNvPr id="20" name="Text 18"/>
          <p:cNvSpPr/>
          <p:nvPr/>
        </p:nvSpPr>
        <p:spPr>
          <a:xfrm>
            <a:off x="3995928" y="2011680"/>
            <a:ext cx="4663440" cy="256032"/>
          </a:xfrm>
          <a:prstGeom prst="rect">
            <a:avLst/>
          </a:prstGeom>
          <a:noFill/>
          <a:ln/>
        </p:spPr>
        <p:txBody>
          <a:bodyPr wrap="square" lIns="0" tIns="0" rIns="0" bIns="0" rtlCol="0" anchor="ctr"/>
          <a:lstStyle/>
          <a:p>
            <a:pPr indent="0" marL="0">
              <a:buNone/>
            </a:pPr>
            <a:r>
              <a:rPr lang="en-US" sz="900" dirty="0">
                <a:solidFill>
                  <a:srgbClr val="2E8B6E"/>
                </a:solidFill>
                <a:latin typeface="Calibri" pitchFamily="34" charset="0"/>
                <a:ea typeface="Calibri" pitchFamily="34" charset="-122"/>
                <a:cs typeface="Calibri" pitchFamily="34" charset="-120"/>
              </a:rPr>
              <a:t>✓  Every developer writes code in production environment</a:t>
            </a:r>
            <a:endParaRPr lang="en-US" sz="900" dirty="0"/>
          </a:p>
        </p:txBody>
      </p:sp>
      <p:sp>
        <p:nvSpPr>
          <p:cNvPr id="21" name="Text 19"/>
          <p:cNvSpPr/>
          <p:nvPr/>
        </p:nvSpPr>
        <p:spPr>
          <a:xfrm>
            <a:off x="3995928" y="2286000"/>
            <a:ext cx="4663440" cy="256032"/>
          </a:xfrm>
          <a:prstGeom prst="rect">
            <a:avLst/>
          </a:prstGeom>
          <a:noFill/>
          <a:ln/>
        </p:spPr>
        <p:txBody>
          <a:bodyPr wrap="square" lIns="0" tIns="0" rIns="0" bIns="0" rtlCol="0" anchor="ctr"/>
          <a:lstStyle/>
          <a:p>
            <a:pPr indent="0" marL="0">
              <a:buNone/>
            </a:pPr>
            <a:r>
              <a:rPr lang="en-US" sz="900" dirty="0">
                <a:solidFill>
                  <a:srgbClr val="2E8B6E"/>
                </a:solidFill>
                <a:latin typeface="Calibri" pitchFamily="34" charset="0"/>
                <a:ea typeface="Calibri" pitchFamily="34" charset="-122"/>
                <a:cs typeface="Calibri" pitchFamily="34" charset="-120"/>
              </a:rPr>
              <a:t>✓  2 CPU / 4 GB workbench — ~0.75 vCPU actual usage</a:t>
            </a:r>
            <a:endParaRPr lang="en-US" sz="900" dirty="0"/>
          </a:p>
        </p:txBody>
      </p:sp>
      <p:sp>
        <p:nvSpPr>
          <p:cNvPr id="22" name="Shape 20"/>
          <p:cNvSpPr/>
          <p:nvPr/>
        </p:nvSpPr>
        <p:spPr>
          <a:xfrm>
            <a:off x="320040" y="2743200"/>
            <a:ext cx="8503920" cy="1115568"/>
          </a:xfrm>
          <a:prstGeom prst="roundRect">
            <a:avLst>
              <a:gd name="adj" fmla="val 6557"/>
            </a:avLst>
          </a:prstGeom>
          <a:solidFill>
            <a:srgbClr val="1A2F4A"/>
          </a:solidFill>
          <a:ln w="12700">
            <a:solidFill>
              <a:srgbClr val="1A2F4A"/>
            </a:solidFill>
            <a:prstDash val="solid"/>
          </a:ln>
          <a:effectLst>
            <a:outerShdw sx="100000" sy="100000" kx="0" ky="0" algn="bl" rotWithShape="0" blurRad="101600" dist="38100" dir="2700000">
              <a:srgbClr val="000000">
                <a:alpha val="10000"/>
              </a:srgbClr>
            </a:outerShdw>
          </a:effectLst>
        </p:spPr>
      </p:sp>
      <p:sp>
        <p:nvSpPr>
          <p:cNvPr id="23" name="Text 21"/>
          <p:cNvSpPr/>
          <p:nvPr/>
        </p:nvSpPr>
        <p:spPr>
          <a:xfrm>
            <a:off x="457200" y="2816352"/>
            <a:ext cx="8229600" cy="292608"/>
          </a:xfrm>
          <a:prstGeom prst="rect">
            <a:avLst/>
          </a:prstGeom>
          <a:noFill/>
          <a:ln/>
        </p:spPr>
        <p:txBody>
          <a:bodyPr wrap="square" lIns="0" tIns="0" rIns="0" bIns="0" rtlCol="0" anchor="ctr"/>
          <a:lstStyle/>
          <a:p>
            <a:pPr indent="0" marL="0">
              <a:buNone/>
            </a:pPr>
            <a:r>
              <a:rPr lang="en-US" sz="1100" b="1" dirty="0">
                <a:solidFill>
                  <a:srgbClr val="C9A84C"/>
                </a:solidFill>
                <a:latin typeface="Calibri" pitchFamily="34" charset="0"/>
                <a:ea typeface="Calibri" pitchFamily="34" charset="-122"/>
                <a:cs typeface="Calibri" pitchFamily="34" charset="-120"/>
              </a:rPr>
              <a:t>One-Command Setup — Zero to Running Pipeline</a:t>
            </a:r>
            <a:endParaRPr lang="en-US" sz="1100" dirty="0"/>
          </a:p>
        </p:txBody>
      </p:sp>
      <p:sp>
        <p:nvSpPr>
          <p:cNvPr id="24" name="Text 22"/>
          <p:cNvSpPr/>
          <p:nvPr/>
        </p:nvSpPr>
        <p:spPr>
          <a:xfrm>
            <a:off x="457200" y="3127248"/>
            <a:ext cx="5029200" cy="292608"/>
          </a:xfrm>
          <a:prstGeom prst="rect">
            <a:avLst/>
          </a:prstGeom>
          <a:noFill/>
          <a:ln/>
        </p:spPr>
        <p:txBody>
          <a:bodyPr wrap="square" lIns="0" tIns="0" rIns="0" bIns="0" rtlCol="0" anchor="ctr"/>
          <a:lstStyle/>
          <a:p>
            <a:pPr indent="0" marL="0">
              <a:buNone/>
            </a:pPr>
            <a:r>
              <a:rPr lang="en-US" sz="1300" b="1" dirty="0">
                <a:solidFill>
                  <a:srgbClr val="FFFFFF"/>
                </a:solidFill>
                <a:latin typeface="Courier New" pitchFamily="34" charset="0"/>
                <a:ea typeface="Courier New" pitchFamily="34" charset="-122"/>
                <a:cs typeface="Courier New" pitchFamily="34" charset="-120"/>
              </a:rPr>
              <a:t>bash run_demo.sh --with-airflow</a:t>
            </a:r>
            <a:endParaRPr lang="en-US" sz="1300" dirty="0"/>
          </a:p>
        </p:txBody>
      </p:sp>
      <p:sp>
        <p:nvSpPr>
          <p:cNvPr id="25" name="Text 23"/>
          <p:cNvSpPr/>
          <p:nvPr/>
        </p:nvSpPr>
        <p:spPr>
          <a:xfrm>
            <a:off x="5577840" y="3127248"/>
            <a:ext cx="3017520" cy="292608"/>
          </a:xfrm>
          <a:prstGeom prst="rect">
            <a:avLst/>
          </a:prstGeom>
          <a:noFill/>
          <a:ln/>
        </p:spPr>
        <p:txBody>
          <a:bodyPr wrap="square" lIns="0" tIns="0" rIns="0" bIns="0" rtlCol="0" anchor="ctr"/>
          <a:lstStyle/>
          <a:p>
            <a:pPr algn="r" indent="0" marL="0">
              <a:buNone/>
            </a:pPr>
            <a:r>
              <a:rPr lang="en-US" sz="1300" b="1" dirty="0">
                <a:solidFill>
                  <a:srgbClr val="C9A84C"/>
                </a:solidFill>
                <a:latin typeface="Calibri" pitchFamily="34" charset="0"/>
                <a:ea typeface="Calibri" pitchFamily="34" charset="-122"/>
                <a:cs typeface="Calibri" pitchFamily="34" charset="-120"/>
              </a:rPr>
              <a:t>&lt; 2 minutes</a:t>
            </a:r>
            <a:endParaRPr lang="en-US" sz="1300" dirty="0"/>
          </a:p>
        </p:txBody>
      </p:sp>
      <p:sp>
        <p:nvSpPr>
          <p:cNvPr id="26" name="Shape 24"/>
          <p:cNvSpPr/>
          <p:nvPr/>
        </p:nvSpPr>
        <p:spPr>
          <a:xfrm>
            <a:off x="457200" y="3493008"/>
            <a:ext cx="201168" cy="201168"/>
          </a:xfrm>
          <a:prstGeom prst="ellipse">
            <a:avLst/>
          </a:prstGeom>
          <a:solidFill>
            <a:srgbClr val="4BA8BE"/>
          </a:solidFill>
          <a:ln w="12700">
            <a:solidFill>
              <a:srgbClr val="4BA8BE"/>
            </a:solidFill>
            <a:prstDash val="solid"/>
          </a:ln>
        </p:spPr>
      </p:sp>
      <p:sp>
        <p:nvSpPr>
          <p:cNvPr id="27" name="Text 25"/>
          <p:cNvSpPr/>
          <p:nvPr/>
        </p:nvSpPr>
        <p:spPr>
          <a:xfrm>
            <a:off x="694944" y="3474720"/>
            <a:ext cx="1188720" cy="237744"/>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Install deps</a:t>
            </a:r>
            <a:endParaRPr lang="en-US" sz="800" dirty="0"/>
          </a:p>
        </p:txBody>
      </p:sp>
      <p:sp>
        <p:nvSpPr>
          <p:cNvPr id="28" name="Shape 26"/>
          <p:cNvSpPr/>
          <p:nvPr/>
        </p:nvSpPr>
        <p:spPr>
          <a:xfrm>
            <a:off x="1847088" y="3493008"/>
            <a:ext cx="201168" cy="201168"/>
          </a:xfrm>
          <a:prstGeom prst="ellipse">
            <a:avLst/>
          </a:prstGeom>
          <a:solidFill>
            <a:srgbClr val="4BA8BE"/>
          </a:solidFill>
          <a:ln w="12700">
            <a:solidFill>
              <a:srgbClr val="4BA8BE"/>
            </a:solidFill>
            <a:prstDash val="solid"/>
          </a:ln>
        </p:spPr>
      </p:sp>
      <p:sp>
        <p:nvSpPr>
          <p:cNvPr id="29" name="Text 27"/>
          <p:cNvSpPr/>
          <p:nvPr/>
        </p:nvSpPr>
        <p:spPr>
          <a:xfrm>
            <a:off x="2084832" y="3474720"/>
            <a:ext cx="1188720" cy="237744"/>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Seed data</a:t>
            </a:r>
            <a:endParaRPr lang="en-US" sz="800" dirty="0"/>
          </a:p>
        </p:txBody>
      </p:sp>
      <p:sp>
        <p:nvSpPr>
          <p:cNvPr id="30" name="Shape 28"/>
          <p:cNvSpPr/>
          <p:nvPr/>
        </p:nvSpPr>
        <p:spPr>
          <a:xfrm>
            <a:off x="3236976" y="3493008"/>
            <a:ext cx="201168" cy="201168"/>
          </a:xfrm>
          <a:prstGeom prst="ellipse">
            <a:avLst/>
          </a:prstGeom>
          <a:solidFill>
            <a:srgbClr val="4BA8BE"/>
          </a:solidFill>
          <a:ln w="12700">
            <a:solidFill>
              <a:srgbClr val="4BA8BE"/>
            </a:solidFill>
            <a:prstDash val="solid"/>
          </a:ln>
        </p:spPr>
      </p:sp>
      <p:sp>
        <p:nvSpPr>
          <p:cNvPr id="31" name="Text 29"/>
          <p:cNvSpPr/>
          <p:nvPr/>
        </p:nvSpPr>
        <p:spPr>
          <a:xfrm>
            <a:off x="3474720" y="3474720"/>
            <a:ext cx="1188720" cy="237744"/>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Run medallion</a:t>
            </a:r>
            <a:endParaRPr lang="en-US" sz="800" dirty="0"/>
          </a:p>
        </p:txBody>
      </p:sp>
      <p:sp>
        <p:nvSpPr>
          <p:cNvPr id="32" name="Shape 30"/>
          <p:cNvSpPr/>
          <p:nvPr/>
        </p:nvSpPr>
        <p:spPr>
          <a:xfrm>
            <a:off x="4626864" y="3493008"/>
            <a:ext cx="201168" cy="201168"/>
          </a:xfrm>
          <a:prstGeom prst="ellipse">
            <a:avLst/>
          </a:prstGeom>
          <a:solidFill>
            <a:srgbClr val="4BA8BE"/>
          </a:solidFill>
          <a:ln w="12700">
            <a:solidFill>
              <a:srgbClr val="4BA8BE"/>
            </a:solidFill>
            <a:prstDash val="solid"/>
          </a:ln>
        </p:spPr>
      </p:sp>
      <p:sp>
        <p:nvSpPr>
          <p:cNvPr id="33" name="Text 31"/>
          <p:cNvSpPr/>
          <p:nvPr/>
        </p:nvSpPr>
        <p:spPr>
          <a:xfrm>
            <a:off x="4864608" y="3474720"/>
            <a:ext cx="1188720" cy="237744"/>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Start mock API</a:t>
            </a:r>
            <a:endParaRPr lang="en-US" sz="800" dirty="0"/>
          </a:p>
        </p:txBody>
      </p:sp>
      <p:sp>
        <p:nvSpPr>
          <p:cNvPr id="34" name="Shape 32"/>
          <p:cNvSpPr/>
          <p:nvPr/>
        </p:nvSpPr>
        <p:spPr>
          <a:xfrm>
            <a:off x="6016752" y="3493008"/>
            <a:ext cx="201168" cy="201168"/>
          </a:xfrm>
          <a:prstGeom prst="ellipse">
            <a:avLst/>
          </a:prstGeom>
          <a:solidFill>
            <a:srgbClr val="4BA8BE"/>
          </a:solidFill>
          <a:ln w="12700">
            <a:solidFill>
              <a:srgbClr val="4BA8BE"/>
            </a:solidFill>
            <a:prstDash val="solid"/>
          </a:ln>
        </p:spPr>
      </p:sp>
      <p:sp>
        <p:nvSpPr>
          <p:cNvPr id="35" name="Text 33"/>
          <p:cNvSpPr/>
          <p:nvPr/>
        </p:nvSpPr>
        <p:spPr>
          <a:xfrm>
            <a:off x="6254496" y="3474720"/>
            <a:ext cx="1188720" cy="237744"/>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Generate feeds</a:t>
            </a:r>
            <a:endParaRPr lang="en-US" sz="800" dirty="0"/>
          </a:p>
        </p:txBody>
      </p:sp>
      <p:sp>
        <p:nvSpPr>
          <p:cNvPr id="36" name="Shape 34"/>
          <p:cNvSpPr/>
          <p:nvPr/>
        </p:nvSpPr>
        <p:spPr>
          <a:xfrm>
            <a:off x="7406640" y="3493008"/>
            <a:ext cx="201168" cy="201168"/>
          </a:xfrm>
          <a:prstGeom prst="ellipse">
            <a:avLst/>
          </a:prstGeom>
          <a:solidFill>
            <a:srgbClr val="4BA8BE"/>
          </a:solidFill>
          <a:ln w="12700">
            <a:solidFill>
              <a:srgbClr val="4BA8BE"/>
            </a:solidFill>
            <a:prstDash val="solid"/>
          </a:ln>
        </p:spPr>
      </p:sp>
      <p:sp>
        <p:nvSpPr>
          <p:cNvPr id="37" name="Text 35"/>
          <p:cNvSpPr/>
          <p:nvPr/>
        </p:nvSpPr>
        <p:spPr>
          <a:xfrm>
            <a:off x="7644384" y="3474720"/>
            <a:ext cx="1188720" cy="237744"/>
          </a:xfrm>
          <a:prstGeom prst="rect">
            <a:avLst/>
          </a:prstGeom>
          <a:noFill/>
          <a:ln/>
        </p:spPr>
        <p:txBody>
          <a:bodyPr wrap="square" lIns="0" tIns="0" rIns="0" bIns="0" rtlCol="0" anchor="ctr"/>
          <a:lstStyle/>
          <a:p>
            <a:pPr indent="0" marL="0">
              <a:buNone/>
            </a:pPr>
            <a:r>
              <a:rPr lang="en-US" sz="800" dirty="0">
                <a:solidFill>
                  <a:srgbClr val="FFFFFF"/>
                </a:solidFill>
                <a:latin typeface="Calibri" pitchFamily="34" charset="0"/>
                <a:ea typeface="Calibri" pitchFamily="34" charset="-122"/>
                <a:cs typeface="Calibri" pitchFamily="34" charset="-120"/>
              </a:rPr>
              <a:t>Deploy 4 DAGs</a:t>
            </a:r>
            <a:endParaRPr lang="en-US" sz="800" dirty="0"/>
          </a:p>
        </p:txBody>
      </p:sp>
      <p:sp>
        <p:nvSpPr>
          <p:cNvPr id="38" name="Shape 36"/>
          <p:cNvSpPr/>
          <p:nvPr/>
        </p:nvSpPr>
        <p:spPr>
          <a:xfrm>
            <a:off x="320040" y="3986784"/>
            <a:ext cx="8503920" cy="804672"/>
          </a:xfrm>
          <a:prstGeom prst="roundRect">
            <a:avLst>
              <a:gd name="adj" fmla="val 9091"/>
            </a:avLst>
          </a:prstGeom>
          <a:solidFill>
            <a:srgbClr val="F0F8FA"/>
          </a:solidFill>
          <a:ln w="12700">
            <a:solidFill>
              <a:srgbClr val="D0ECF2"/>
            </a:solidFill>
            <a:prstDash val="solid"/>
          </a:ln>
        </p:spPr>
      </p:sp>
      <p:sp>
        <p:nvSpPr>
          <p:cNvPr id="39" name="Text 37"/>
          <p:cNvSpPr/>
          <p:nvPr/>
        </p:nvSpPr>
        <p:spPr>
          <a:xfrm>
            <a:off x="457200" y="4041648"/>
            <a:ext cx="8229600" cy="256032"/>
          </a:xfrm>
          <a:prstGeom prst="rect">
            <a:avLst/>
          </a:prstGeom>
          <a:noFill/>
          <a:ln/>
        </p:spPr>
        <p:txBody>
          <a:bodyPr wrap="square" lIns="0" tIns="0" rIns="0" bIns="0" rtlCol="0" anchor="ctr"/>
          <a:lstStyle/>
          <a:p>
            <a:pPr indent="0" marL="0">
              <a:buNone/>
            </a:pPr>
            <a:r>
              <a:rPr lang="en-US" sz="1000" b="1" dirty="0">
                <a:solidFill>
                  <a:srgbClr val="1A2F38"/>
                </a:solidFill>
                <a:latin typeface="Calibri" pitchFamily="34" charset="0"/>
                <a:ea typeface="Calibri" pitchFamily="34" charset="-122"/>
                <a:cs typeface="Calibri" pitchFamily="34" charset="-120"/>
              </a:rPr>
              <a:t>Oracle-to-Snowflake Migration Path Built In — Same dbt project, different --target:</a:t>
            </a:r>
            <a:endParaRPr lang="en-US" sz="1000" dirty="0"/>
          </a:p>
        </p:txBody>
      </p:sp>
      <p:sp>
        <p:nvSpPr>
          <p:cNvPr id="40" name="Shape 38"/>
          <p:cNvSpPr/>
          <p:nvPr/>
        </p:nvSpPr>
        <p:spPr>
          <a:xfrm>
            <a:off x="457200" y="4352544"/>
            <a:ext cx="1591056" cy="256032"/>
          </a:xfrm>
          <a:prstGeom prst="roundRect">
            <a:avLst>
              <a:gd name="adj" fmla="val 17857"/>
            </a:avLst>
          </a:prstGeom>
          <a:solidFill>
            <a:srgbClr val="4A6572"/>
          </a:solidFill>
          <a:ln w="12700">
            <a:solidFill>
              <a:srgbClr val="FFFFFF"/>
            </a:solidFill>
            <a:prstDash val="solid"/>
          </a:ln>
        </p:spPr>
      </p:sp>
      <p:sp>
        <p:nvSpPr>
          <p:cNvPr id="41" name="Text 39"/>
          <p:cNvSpPr/>
          <p:nvPr/>
        </p:nvSpPr>
        <p:spPr>
          <a:xfrm>
            <a:off x="457200" y="4352544"/>
            <a:ext cx="1591056"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--target dev</a:t>
            </a:r>
            <a:endParaRPr lang="en-US" sz="800" dirty="0"/>
          </a:p>
        </p:txBody>
      </p:sp>
      <p:sp>
        <p:nvSpPr>
          <p:cNvPr id="42" name="Text 40"/>
          <p:cNvSpPr/>
          <p:nvPr/>
        </p:nvSpPr>
        <p:spPr>
          <a:xfrm>
            <a:off x="457200" y="4626864"/>
            <a:ext cx="1591056" cy="128016"/>
          </a:xfrm>
          <a:prstGeom prst="rect">
            <a:avLst/>
          </a:prstGeom>
          <a:noFill/>
          <a:ln/>
        </p:spPr>
        <p:txBody>
          <a:bodyPr wrap="square" lIns="0" tIns="0" rIns="0" bIns="0" rtlCol="0" anchor="ctr"/>
          <a:lstStyle/>
          <a:p>
            <a:pPr algn="ctr" indent="0" marL="0">
              <a:buNone/>
            </a:pPr>
            <a:r>
              <a:rPr lang="en-US" sz="700" dirty="0">
                <a:solidFill>
                  <a:srgbClr val="7A9AA8"/>
                </a:solidFill>
                <a:latin typeface="Calibri" pitchFamily="34" charset="0"/>
                <a:ea typeface="Calibri" pitchFamily="34" charset="-122"/>
                <a:cs typeface="Calibri" pitchFamily="34" charset="-120"/>
              </a:rPr>
              <a:t>DuckDB local  (zero credentials)</a:t>
            </a:r>
            <a:endParaRPr lang="en-US" sz="700" dirty="0"/>
          </a:p>
        </p:txBody>
      </p:sp>
      <p:sp>
        <p:nvSpPr>
          <p:cNvPr id="43" name="Shape 41"/>
          <p:cNvSpPr/>
          <p:nvPr/>
        </p:nvSpPr>
        <p:spPr>
          <a:xfrm>
            <a:off x="2139696" y="4352544"/>
            <a:ext cx="1591056" cy="256032"/>
          </a:xfrm>
          <a:prstGeom prst="roundRect">
            <a:avLst>
              <a:gd name="adj" fmla="val 17857"/>
            </a:avLst>
          </a:prstGeom>
          <a:solidFill>
            <a:srgbClr val="2A7A8C"/>
          </a:solidFill>
          <a:ln w="12700">
            <a:solidFill>
              <a:srgbClr val="FFFFFF"/>
            </a:solidFill>
            <a:prstDash val="solid"/>
          </a:ln>
        </p:spPr>
      </p:sp>
      <p:sp>
        <p:nvSpPr>
          <p:cNvPr id="44" name="Text 42"/>
          <p:cNvSpPr/>
          <p:nvPr/>
        </p:nvSpPr>
        <p:spPr>
          <a:xfrm>
            <a:off x="2139696" y="4352544"/>
            <a:ext cx="1591056"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--target oracle</a:t>
            </a:r>
            <a:endParaRPr lang="en-US" sz="800" dirty="0"/>
          </a:p>
        </p:txBody>
      </p:sp>
      <p:sp>
        <p:nvSpPr>
          <p:cNvPr id="45" name="Text 43"/>
          <p:cNvSpPr/>
          <p:nvPr/>
        </p:nvSpPr>
        <p:spPr>
          <a:xfrm>
            <a:off x="2139696" y="4626864"/>
            <a:ext cx="1591056" cy="128016"/>
          </a:xfrm>
          <a:prstGeom prst="rect">
            <a:avLst/>
          </a:prstGeom>
          <a:noFill/>
          <a:ln/>
        </p:spPr>
        <p:txBody>
          <a:bodyPr wrap="square" lIns="0" tIns="0" rIns="0" bIns="0" rtlCol="0" anchor="ctr"/>
          <a:lstStyle/>
          <a:p>
            <a:pPr algn="ctr" indent="0" marL="0">
              <a:buNone/>
            </a:pPr>
            <a:r>
              <a:rPr lang="en-US" sz="700" dirty="0">
                <a:solidFill>
                  <a:srgbClr val="7A9AA8"/>
                </a:solidFill>
                <a:latin typeface="Calibri" pitchFamily="34" charset="0"/>
                <a:ea typeface="Calibri" pitchFamily="34" charset="-122"/>
                <a:cs typeface="Calibri" pitchFamily="34" charset="-120"/>
              </a:rPr>
              <a:t>BBH Oracle shared layer</a:t>
            </a:r>
            <a:endParaRPr lang="en-US" sz="700" dirty="0"/>
          </a:p>
        </p:txBody>
      </p:sp>
      <p:sp>
        <p:nvSpPr>
          <p:cNvPr id="46" name="Shape 44"/>
          <p:cNvSpPr/>
          <p:nvPr/>
        </p:nvSpPr>
        <p:spPr>
          <a:xfrm>
            <a:off x="3822192" y="4352544"/>
            <a:ext cx="1591056" cy="256032"/>
          </a:xfrm>
          <a:prstGeom prst="roundRect">
            <a:avLst>
              <a:gd name="adj" fmla="val 17857"/>
            </a:avLst>
          </a:prstGeom>
          <a:solidFill>
            <a:srgbClr val="2E8B6E"/>
          </a:solidFill>
          <a:ln w="12700">
            <a:solidFill>
              <a:srgbClr val="FFFFFF"/>
            </a:solidFill>
            <a:prstDash val="solid"/>
          </a:ln>
        </p:spPr>
      </p:sp>
      <p:sp>
        <p:nvSpPr>
          <p:cNvPr id="47" name="Text 45"/>
          <p:cNvSpPr/>
          <p:nvPr/>
        </p:nvSpPr>
        <p:spPr>
          <a:xfrm>
            <a:off x="3822192" y="4352544"/>
            <a:ext cx="1591056"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--target pbdw</a:t>
            </a:r>
            <a:endParaRPr lang="en-US" sz="800" dirty="0"/>
          </a:p>
        </p:txBody>
      </p:sp>
      <p:sp>
        <p:nvSpPr>
          <p:cNvPr id="48" name="Text 46"/>
          <p:cNvSpPr/>
          <p:nvPr/>
        </p:nvSpPr>
        <p:spPr>
          <a:xfrm>
            <a:off x="3822192" y="4626864"/>
            <a:ext cx="1591056" cy="128016"/>
          </a:xfrm>
          <a:prstGeom prst="rect">
            <a:avLst/>
          </a:prstGeom>
          <a:noFill/>
          <a:ln/>
        </p:spPr>
        <p:txBody>
          <a:bodyPr wrap="square" lIns="0" tIns="0" rIns="0" bIns="0" rtlCol="0" anchor="ctr"/>
          <a:lstStyle/>
          <a:p>
            <a:pPr algn="ctr" indent="0" marL="0">
              <a:buNone/>
            </a:pPr>
            <a:r>
              <a:rPr lang="en-US" sz="700" dirty="0">
                <a:solidFill>
                  <a:srgbClr val="7A9AA8"/>
                </a:solidFill>
                <a:latin typeface="Calibri" pitchFamily="34" charset="0"/>
                <a:ea typeface="Calibri" pitchFamily="34" charset="-122"/>
                <a:cs typeface="Calibri" pitchFamily="34" charset="-120"/>
              </a:rPr>
              <a:t>PBDW publish models</a:t>
            </a:r>
            <a:endParaRPr lang="en-US" sz="700" dirty="0"/>
          </a:p>
        </p:txBody>
      </p:sp>
      <p:sp>
        <p:nvSpPr>
          <p:cNvPr id="49" name="Shape 47"/>
          <p:cNvSpPr/>
          <p:nvPr/>
        </p:nvSpPr>
        <p:spPr>
          <a:xfrm>
            <a:off x="5504688" y="4352544"/>
            <a:ext cx="1591056" cy="256032"/>
          </a:xfrm>
          <a:prstGeom prst="roundRect">
            <a:avLst>
              <a:gd name="adj" fmla="val 17857"/>
            </a:avLst>
          </a:prstGeom>
          <a:solidFill>
            <a:srgbClr val="1F5C6B"/>
          </a:solidFill>
          <a:ln w="12700">
            <a:solidFill>
              <a:srgbClr val="FFFFFF"/>
            </a:solidFill>
            <a:prstDash val="solid"/>
          </a:ln>
        </p:spPr>
      </p:sp>
      <p:sp>
        <p:nvSpPr>
          <p:cNvPr id="50" name="Text 48"/>
          <p:cNvSpPr/>
          <p:nvPr/>
        </p:nvSpPr>
        <p:spPr>
          <a:xfrm>
            <a:off x="5504688" y="4352544"/>
            <a:ext cx="1591056"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--target imdw</a:t>
            </a:r>
            <a:endParaRPr lang="en-US" sz="800" dirty="0"/>
          </a:p>
        </p:txBody>
      </p:sp>
      <p:sp>
        <p:nvSpPr>
          <p:cNvPr id="51" name="Text 49"/>
          <p:cNvSpPr/>
          <p:nvPr/>
        </p:nvSpPr>
        <p:spPr>
          <a:xfrm>
            <a:off x="5504688" y="4626864"/>
            <a:ext cx="1591056" cy="128016"/>
          </a:xfrm>
          <a:prstGeom prst="rect">
            <a:avLst/>
          </a:prstGeom>
          <a:noFill/>
          <a:ln/>
        </p:spPr>
        <p:txBody>
          <a:bodyPr wrap="square" lIns="0" tIns="0" rIns="0" bIns="0" rtlCol="0" anchor="ctr"/>
          <a:lstStyle/>
          <a:p>
            <a:pPr algn="ctr" indent="0" marL="0">
              <a:buNone/>
            </a:pPr>
            <a:r>
              <a:rPr lang="en-US" sz="700" dirty="0">
                <a:solidFill>
                  <a:srgbClr val="7A9AA8"/>
                </a:solidFill>
                <a:latin typeface="Calibri" pitchFamily="34" charset="0"/>
                <a:ea typeface="Calibri" pitchFamily="34" charset="-122"/>
                <a:cs typeface="Calibri" pitchFamily="34" charset="-120"/>
              </a:rPr>
              <a:t>IMDW publish models</a:t>
            </a:r>
            <a:endParaRPr lang="en-US" sz="700" dirty="0"/>
          </a:p>
        </p:txBody>
      </p:sp>
      <p:sp>
        <p:nvSpPr>
          <p:cNvPr id="52" name="Shape 50"/>
          <p:cNvSpPr/>
          <p:nvPr/>
        </p:nvSpPr>
        <p:spPr>
          <a:xfrm>
            <a:off x="7187184" y="4352544"/>
            <a:ext cx="1591056" cy="256032"/>
          </a:xfrm>
          <a:prstGeom prst="roundRect">
            <a:avLst>
              <a:gd name="adj" fmla="val 17857"/>
            </a:avLst>
          </a:prstGeom>
          <a:solidFill>
            <a:srgbClr val="1A2F4A"/>
          </a:solidFill>
          <a:ln w="12700">
            <a:solidFill>
              <a:srgbClr val="FFFFFF"/>
            </a:solidFill>
            <a:prstDash val="solid"/>
          </a:ln>
        </p:spPr>
      </p:sp>
      <p:sp>
        <p:nvSpPr>
          <p:cNvPr id="53" name="Text 51"/>
          <p:cNvSpPr/>
          <p:nvPr/>
        </p:nvSpPr>
        <p:spPr>
          <a:xfrm>
            <a:off x="7187184" y="4352544"/>
            <a:ext cx="1591056"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--target snowflake</a:t>
            </a:r>
            <a:endParaRPr lang="en-US" sz="800" dirty="0"/>
          </a:p>
        </p:txBody>
      </p:sp>
      <p:sp>
        <p:nvSpPr>
          <p:cNvPr id="54" name="Text 52"/>
          <p:cNvSpPr/>
          <p:nvPr/>
        </p:nvSpPr>
        <p:spPr>
          <a:xfrm>
            <a:off x="7187184" y="4626864"/>
            <a:ext cx="1591056" cy="128016"/>
          </a:xfrm>
          <a:prstGeom prst="rect">
            <a:avLst/>
          </a:prstGeom>
          <a:noFill/>
          <a:ln/>
        </p:spPr>
        <p:txBody>
          <a:bodyPr wrap="square" lIns="0" tIns="0" rIns="0" bIns="0" rtlCol="0" anchor="ctr"/>
          <a:lstStyle/>
          <a:p>
            <a:pPr algn="ctr" indent="0" marL="0">
              <a:buNone/>
            </a:pPr>
            <a:r>
              <a:rPr lang="en-US" sz="700" dirty="0">
                <a:solidFill>
                  <a:srgbClr val="7A9AA8"/>
                </a:solidFill>
                <a:latin typeface="Calibri" pitchFamily="34" charset="0"/>
                <a:ea typeface="Calibri" pitchFamily="34" charset="-122"/>
                <a:cs typeface="Calibri" pitchFamily="34" charset="-120"/>
              </a:rPr>
              <a:t>SEI Snowflake custom views</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F5C6B"/>
          </a:solidFill>
          <a:ln w="12700">
            <a:solidFill>
              <a:srgbClr val="1F5C6B"/>
            </a:solidFill>
            <a:prstDash val="solid"/>
          </a:ln>
        </p:spPr>
      </p:sp>
      <p:sp>
        <p:nvSpPr>
          <p:cNvPr id="3" name="Shape 1"/>
          <p:cNvSpPr/>
          <p:nvPr/>
        </p:nvSpPr>
        <p:spPr>
          <a:xfrm>
            <a:off x="201168" y="0"/>
            <a:ext cx="8942832" cy="685800"/>
          </a:xfrm>
          <a:prstGeom prst="rect">
            <a:avLst/>
          </a:prstGeom>
          <a:solidFill>
            <a:srgbClr val="1A2F4A"/>
          </a:solidFill>
          <a:ln w="12700">
            <a:solidFill>
              <a:srgbClr val="1A2F4A"/>
            </a:solidFill>
            <a:prstDash val="solid"/>
          </a:ln>
        </p:spPr>
      </p:sp>
      <p:sp>
        <p:nvSpPr>
          <p:cNvPr id="4" name="Text 2"/>
          <p:cNvSpPr/>
          <p:nvPr/>
        </p:nvSpPr>
        <p:spPr>
          <a:xfrm>
            <a:off x="384048" y="54864"/>
            <a:ext cx="5943600" cy="56692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CP Developer Platform</a:t>
            </a:r>
            <a:endParaRPr lang="en-US" sz="2000" dirty="0"/>
          </a:p>
        </p:txBody>
      </p:sp>
      <p:sp>
        <p:nvSpPr>
          <p:cNvPr id="5" name="Text 3"/>
          <p:cNvSpPr/>
          <p:nvPr/>
        </p:nvSpPr>
        <p:spPr>
          <a:xfrm>
            <a:off x="384048" y="54864"/>
            <a:ext cx="8412480" cy="566928"/>
          </a:xfrm>
          <a:prstGeom prst="rect">
            <a:avLst/>
          </a:prstGeom>
          <a:noFill/>
          <a:ln/>
        </p:spPr>
        <p:txBody>
          <a:bodyPr wrap="square" lIns="0" tIns="0" rIns="0" bIns="0" rtlCol="0" anchor="ctr"/>
          <a:lstStyle/>
          <a:p>
            <a:pPr algn="r" indent="0" marL="0">
              <a:buNone/>
            </a:pPr>
            <a:r>
              <a:rPr lang="en-US" sz="1100" dirty="0">
                <a:solidFill>
                  <a:srgbClr val="F0D98C"/>
                </a:solidFill>
                <a:latin typeface="Calibri" pitchFamily="34" charset="0"/>
                <a:ea typeface="Calibri" pitchFamily="34" charset="-122"/>
                <a:cs typeface="Calibri" pitchFamily="34" charset="-120"/>
              </a:rPr>
              <a:t>CI/CD Pipeline — Automated Guard Rails (Next Phase)</a:t>
            </a:r>
            <a:endParaRPr lang="en-US" sz="1100" dirty="0"/>
          </a:p>
        </p:txBody>
      </p:sp>
      <p:sp>
        <p:nvSpPr>
          <p:cNvPr id="6" name="Shape 4"/>
          <p:cNvSpPr/>
          <p:nvPr/>
        </p:nvSpPr>
        <p:spPr>
          <a:xfrm>
            <a:off x="201168" y="4919472"/>
            <a:ext cx="8942832" cy="224028"/>
          </a:xfrm>
          <a:prstGeom prst="rect">
            <a:avLst/>
          </a:prstGeom>
          <a:solidFill>
            <a:srgbClr val="D0ECF2"/>
          </a:solidFill>
          <a:ln w="12700">
            <a:solidFill>
              <a:srgbClr val="D0ECF2"/>
            </a:solidFill>
            <a:prstDash val="solid"/>
          </a:ln>
        </p:spPr>
      </p:sp>
      <p:sp>
        <p:nvSpPr>
          <p:cNvPr id="7" name="Text 5"/>
          <p:cNvSpPr/>
          <p:nvPr/>
        </p:nvSpPr>
        <p:spPr>
          <a:xfrm>
            <a:off x="384048" y="4928616"/>
            <a:ext cx="8595360" cy="201168"/>
          </a:xfrm>
          <a:prstGeom prst="rect">
            <a:avLst/>
          </a:prstGeom>
          <a:noFill/>
          <a:ln/>
        </p:spPr>
        <p:txBody>
          <a:bodyPr wrap="square" rtlCol="0" anchor="ctr"/>
          <a:lstStyle/>
          <a:p>
            <a:pPr indent="0" marL="0">
              <a:buNone/>
            </a:pPr>
            <a:r>
              <a:rPr lang="en-US" sz="800" dirty="0">
                <a:solidFill>
                  <a:srgbClr val="1F5C6B"/>
                </a:solidFill>
                <a:latin typeface="Calibri" pitchFamily="34" charset="0"/>
                <a:ea typeface="Calibri" pitchFamily="34" charset="-122"/>
                <a:cs typeface="Calibri" pitchFamily="34" charset="-120"/>
              </a:rPr>
              <a:t>BBH Capital Partners  |  SWP Migration  |  Confidential</a:t>
            </a:r>
            <a:endParaRPr lang="en-US" sz="800" dirty="0"/>
          </a:p>
        </p:txBody>
      </p:sp>
      <p:sp>
        <p:nvSpPr>
          <p:cNvPr id="8" name="Text 6"/>
          <p:cNvSpPr/>
          <p:nvPr/>
        </p:nvSpPr>
        <p:spPr>
          <a:xfrm>
            <a:off x="320040" y="804672"/>
            <a:ext cx="8503920" cy="292608"/>
          </a:xfrm>
          <a:prstGeom prst="rect">
            <a:avLst/>
          </a:prstGeom>
          <a:noFill/>
          <a:ln/>
        </p:spPr>
        <p:txBody>
          <a:bodyPr wrap="square" lIns="0" tIns="0" rIns="0" bIns="0" rtlCol="0" anchor="ctr"/>
          <a:lstStyle/>
          <a:p>
            <a:pPr algn="ctr" indent="0" marL="0">
              <a:buNone/>
            </a:pPr>
            <a:r>
              <a:rPr lang="en-US" sz="1300" b="1" i="1" dirty="0">
                <a:solidFill>
                  <a:srgbClr val="1F5C6B"/>
                </a:solidFill>
                <a:latin typeface="Calibri" pitchFamily="34" charset="0"/>
                <a:ea typeface="Calibri" pitchFamily="34" charset="-122"/>
                <a:cs typeface="Calibri" pitchFamily="34" charset="-120"/>
              </a:rPr>
              <a:t>No code reaches production without passing all gates</a:t>
            </a:r>
            <a:endParaRPr lang="en-US" sz="1300" dirty="0"/>
          </a:p>
        </p:txBody>
      </p:sp>
      <p:sp>
        <p:nvSpPr>
          <p:cNvPr id="9" name="Shape 7"/>
          <p:cNvSpPr/>
          <p:nvPr/>
        </p:nvSpPr>
        <p:spPr>
          <a:xfrm>
            <a:off x="320040" y="1188720"/>
            <a:ext cx="4114800" cy="1417320"/>
          </a:xfrm>
          <a:prstGeom prst="roundRect">
            <a:avLst>
              <a:gd name="adj" fmla="val 5161"/>
            </a:avLst>
          </a:prstGeom>
          <a:solidFill>
            <a:srgbClr val="FFFFFF"/>
          </a:solidFill>
          <a:ln w="12700">
            <a:solidFill>
              <a:srgbClr val="D0ECF2"/>
            </a:solidFill>
            <a:prstDash val="solid"/>
          </a:ln>
          <a:effectLst>
            <a:outerShdw sx="100000" sy="100000" kx="0" ky="0" algn="bl" rotWithShape="0" blurRad="101600" dist="38100" dir="2700000">
              <a:srgbClr val="000000">
                <a:alpha val="10000"/>
              </a:srgbClr>
            </a:outerShdw>
          </a:effectLst>
        </p:spPr>
      </p:sp>
      <p:sp>
        <p:nvSpPr>
          <p:cNvPr id="10" name="Shape 8"/>
          <p:cNvSpPr/>
          <p:nvPr/>
        </p:nvSpPr>
        <p:spPr>
          <a:xfrm>
            <a:off x="429768" y="1508760"/>
            <a:ext cx="411480" cy="411480"/>
          </a:xfrm>
          <a:prstGeom prst="ellipse">
            <a:avLst/>
          </a:prstGeom>
          <a:solidFill>
            <a:srgbClr val="1F5C6B"/>
          </a:solidFill>
          <a:ln w="12700">
            <a:solidFill>
              <a:srgbClr val="1F5C6B"/>
            </a:solidFill>
            <a:prstDash val="solid"/>
          </a:ln>
        </p:spPr>
      </p:sp>
      <p:sp>
        <p:nvSpPr>
          <p:cNvPr id="11" name="Text 9"/>
          <p:cNvSpPr/>
          <p:nvPr/>
        </p:nvSpPr>
        <p:spPr>
          <a:xfrm>
            <a:off x="429768" y="150876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2" name="Text 10"/>
          <p:cNvSpPr/>
          <p:nvPr/>
        </p:nvSpPr>
        <p:spPr>
          <a:xfrm>
            <a:off x="914400" y="1508760"/>
            <a:ext cx="3401568" cy="411480"/>
          </a:xfrm>
          <a:prstGeom prst="rect">
            <a:avLst/>
          </a:prstGeom>
          <a:noFill/>
          <a:ln/>
        </p:spPr>
        <p:txBody>
          <a:bodyPr wrap="square" lIns="0" tIns="0" rIns="0" bIns="0" rtlCol="0" anchor="ctr"/>
          <a:lstStyle/>
          <a:p>
            <a:pPr indent="0" marL="0">
              <a:buNone/>
            </a:pPr>
            <a:r>
              <a:rPr lang="en-US" sz="1000" b="1" dirty="0">
                <a:solidFill>
                  <a:srgbClr val="1A2F38"/>
                </a:solidFill>
                <a:latin typeface="Calibri" pitchFamily="34" charset="0"/>
                <a:ea typeface="Calibri" pitchFamily="34" charset="-122"/>
                <a:cs typeface="Calibri" pitchFamily="34" charset="-120"/>
              </a:rPr>
              <a:t>Data Engineering Governance</a:t>
            </a:r>
            <a:endParaRPr lang="en-US" sz="1000" dirty="0"/>
          </a:p>
        </p:txBody>
      </p:sp>
      <p:sp>
        <p:nvSpPr>
          <p:cNvPr id="13" name="Shape 11"/>
          <p:cNvSpPr/>
          <p:nvPr/>
        </p:nvSpPr>
        <p:spPr>
          <a:xfrm>
            <a:off x="484632" y="2011680"/>
            <a:ext cx="82296" cy="82296"/>
          </a:xfrm>
          <a:prstGeom prst="ellipse">
            <a:avLst/>
          </a:prstGeom>
          <a:solidFill>
            <a:srgbClr val="1F5C6B"/>
          </a:solidFill>
          <a:ln w="12700">
            <a:solidFill>
              <a:srgbClr val="1F5C6B"/>
            </a:solidFill>
            <a:prstDash val="solid"/>
          </a:ln>
        </p:spPr>
      </p:sp>
      <p:sp>
        <p:nvSpPr>
          <p:cNvPr id="14" name="Text 12"/>
          <p:cNvSpPr/>
          <p:nvPr/>
        </p:nvSpPr>
        <p:spPr>
          <a:xfrm>
            <a:off x="630936" y="1975104"/>
            <a:ext cx="3694176" cy="155448"/>
          </a:xfrm>
          <a:prstGeom prst="rect">
            <a:avLst/>
          </a:prstGeom>
          <a:noFill/>
          <a:ln/>
        </p:spPr>
        <p:txBody>
          <a:bodyPr wrap="square" lIns="0" tIns="0" rIns="0" bIns="0" rtlCol="0" anchor="ctr"/>
          <a:lstStyle/>
          <a:p>
            <a:pPr indent="0" marL="0">
              <a:buNone/>
            </a:pPr>
            <a:r>
              <a:rPr lang="en-US" sz="800" dirty="0">
                <a:solidFill>
                  <a:srgbClr val="1A2F38"/>
                </a:solidFill>
                <a:latin typeface="Calibri" pitchFamily="34" charset="0"/>
                <a:ea typeface="Calibri" pitchFamily="34" charset="-122"/>
                <a:cs typeface="Calibri" pitchFamily="34" charset="-120"/>
              </a:rPr>
              <a:t>Schema validation — column names, types, nullability</a:t>
            </a:r>
            <a:endParaRPr lang="en-US" sz="800" dirty="0"/>
          </a:p>
        </p:txBody>
      </p:sp>
      <p:sp>
        <p:nvSpPr>
          <p:cNvPr id="15" name="Shape 13"/>
          <p:cNvSpPr/>
          <p:nvPr/>
        </p:nvSpPr>
        <p:spPr>
          <a:xfrm>
            <a:off x="484632" y="2167128"/>
            <a:ext cx="82296" cy="82296"/>
          </a:xfrm>
          <a:prstGeom prst="ellipse">
            <a:avLst/>
          </a:prstGeom>
          <a:solidFill>
            <a:srgbClr val="1F5C6B"/>
          </a:solidFill>
          <a:ln w="12700">
            <a:solidFill>
              <a:srgbClr val="1F5C6B"/>
            </a:solidFill>
            <a:prstDash val="solid"/>
          </a:ln>
        </p:spPr>
      </p:sp>
      <p:sp>
        <p:nvSpPr>
          <p:cNvPr id="16" name="Text 14"/>
          <p:cNvSpPr/>
          <p:nvPr/>
        </p:nvSpPr>
        <p:spPr>
          <a:xfrm>
            <a:off x="630936" y="2130552"/>
            <a:ext cx="3694176" cy="155448"/>
          </a:xfrm>
          <a:prstGeom prst="rect">
            <a:avLst/>
          </a:prstGeom>
          <a:noFill/>
          <a:ln/>
        </p:spPr>
        <p:txBody>
          <a:bodyPr wrap="square" lIns="0" tIns="0" rIns="0" bIns="0" rtlCol="0" anchor="ctr"/>
          <a:lstStyle/>
          <a:p>
            <a:pPr indent="0" marL="0">
              <a:buNone/>
            </a:pPr>
            <a:r>
              <a:rPr lang="en-US" sz="800" dirty="0">
                <a:solidFill>
                  <a:srgbClr val="1A2F38"/>
                </a:solidFill>
                <a:latin typeface="Calibri" pitchFamily="34" charset="0"/>
                <a:ea typeface="Calibri" pitchFamily="34" charset="-122"/>
                <a:cs typeface="Calibri" pitchFamily="34" charset="-120"/>
              </a:rPr>
              <a:t>Naming convention checks — models, seeds, tests</a:t>
            </a:r>
            <a:endParaRPr lang="en-US" sz="800" dirty="0"/>
          </a:p>
        </p:txBody>
      </p:sp>
      <p:sp>
        <p:nvSpPr>
          <p:cNvPr id="17" name="Shape 15"/>
          <p:cNvSpPr/>
          <p:nvPr/>
        </p:nvSpPr>
        <p:spPr>
          <a:xfrm>
            <a:off x="484632" y="2322576"/>
            <a:ext cx="82296" cy="82296"/>
          </a:xfrm>
          <a:prstGeom prst="ellipse">
            <a:avLst/>
          </a:prstGeom>
          <a:solidFill>
            <a:srgbClr val="1F5C6B"/>
          </a:solidFill>
          <a:ln w="12700">
            <a:solidFill>
              <a:srgbClr val="1F5C6B"/>
            </a:solidFill>
            <a:prstDash val="solid"/>
          </a:ln>
        </p:spPr>
      </p:sp>
      <p:sp>
        <p:nvSpPr>
          <p:cNvPr id="18" name="Text 16"/>
          <p:cNvSpPr/>
          <p:nvPr/>
        </p:nvSpPr>
        <p:spPr>
          <a:xfrm>
            <a:off x="630936" y="2286000"/>
            <a:ext cx="3694176" cy="155448"/>
          </a:xfrm>
          <a:prstGeom prst="rect">
            <a:avLst/>
          </a:prstGeom>
          <a:noFill/>
          <a:ln/>
        </p:spPr>
        <p:txBody>
          <a:bodyPr wrap="square" lIns="0" tIns="0" rIns="0" bIns="0" rtlCol="0" anchor="ctr"/>
          <a:lstStyle/>
          <a:p>
            <a:pPr indent="0" marL="0">
              <a:buNone/>
            </a:pPr>
            <a:r>
              <a:rPr lang="en-US" sz="800" dirty="0">
                <a:solidFill>
                  <a:srgbClr val="1A2F38"/>
                </a:solidFill>
                <a:latin typeface="Calibri" pitchFamily="34" charset="0"/>
                <a:ea typeface="Calibri" pitchFamily="34" charset="-122"/>
                <a:cs typeface="Calibri" pitchFamily="34" charset="-120"/>
              </a:rPr>
              <a:t>Lineage validation — every model traces to a source</a:t>
            </a:r>
            <a:endParaRPr lang="en-US" sz="800" dirty="0"/>
          </a:p>
        </p:txBody>
      </p:sp>
      <p:sp>
        <p:nvSpPr>
          <p:cNvPr id="19" name="Shape 17"/>
          <p:cNvSpPr/>
          <p:nvPr/>
        </p:nvSpPr>
        <p:spPr>
          <a:xfrm>
            <a:off x="484632" y="2478024"/>
            <a:ext cx="82296" cy="82296"/>
          </a:xfrm>
          <a:prstGeom prst="ellipse">
            <a:avLst/>
          </a:prstGeom>
          <a:solidFill>
            <a:srgbClr val="1F5C6B"/>
          </a:solidFill>
          <a:ln w="12700">
            <a:solidFill>
              <a:srgbClr val="1F5C6B"/>
            </a:solidFill>
            <a:prstDash val="solid"/>
          </a:ln>
        </p:spPr>
      </p:sp>
      <p:sp>
        <p:nvSpPr>
          <p:cNvPr id="20" name="Text 18"/>
          <p:cNvSpPr/>
          <p:nvPr/>
        </p:nvSpPr>
        <p:spPr>
          <a:xfrm>
            <a:off x="630936" y="2441448"/>
            <a:ext cx="3694176" cy="155448"/>
          </a:xfrm>
          <a:prstGeom prst="rect">
            <a:avLst/>
          </a:prstGeom>
          <a:noFill/>
          <a:ln/>
        </p:spPr>
        <p:txBody>
          <a:bodyPr wrap="square" lIns="0" tIns="0" rIns="0" bIns="0" rtlCol="0" anchor="ctr"/>
          <a:lstStyle/>
          <a:p>
            <a:pPr indent="0" marL="0">
              <a:buNone/>
            </a:pPr>
            <a:r>
              <a:rPr lang="en-US" sz="800" dirty="0">
                <a:solidFill>
                  <a:srgbClr val="1A2F38"/>
                </a:solidFill>
                <a:latin typeface="Calibri" pitchFamily="34" charset="0"/>
                <a:ea typeface="Calibri" pitchFamily="34" charset="-122"/>
                <a:cs typeface="Calibri" pitchFamily="34" charset="-120"/>
              </a:rPr>
              <a:t>dbt manifest — detect orphaned models or broken refs</a:t>
            </a:r>
            <a:endParaRPr lang="en-US" sz="800" dirty="0"/>
          </a:p>
        </p:txBody>
      </p:sp>
      <p:sp>
        <p:nvSpPr>
          <p:cNvPr id="21" name="Shape 19"/>
          <p:cNvSpPr/>
          <p:nvPr/>
        </p:nvSpPr>
        <p:spPr>
          <a:xfrm>
            <a:off x="4663440" y="1188720"/>
            <a:ext cx="4114800" cy="1417320"/>
          </a:xfrm>
          <a:prstGeom prst="roundRect">
            <a:avLst>
              <a:gd name="adj" fmla="val 5161"/>
            </a:avLst>
          </a:prstGeom>
          <a:solidFill>
            <a:srgbClr val="FFFFFF"/>
          </a:solidFill>
          <a:ln w="12700">
            <a:solidFill>
              <a:srgbClr val="D0ECF2"/>
            </a:solidFill>
            <a:prstDash val="solid"/>
          </a:ln>
          <a:effectLst>
            <a:outerShdw sx="100000" sy="100000" kx="0" ky="0" algn="bl" rotWithShape="0" blurRad="101600" dist="38100" dir="2700000">
              <a:srgbClr val="000000">
                <a:alpha val="10000"/>
              </a:srgbClr>
            </a:outerShdw>
          </a:effectLst>
        </p:spPr>
      </p:sp>
      <p:sp>
        <p:nvSpPr>
          <p:cNvPr id="22" name="Shape 20"/>
          <p:cNvSpPr/>
          <p:nvPr/>
        </p:nvSpPr>
        <p:spPr>
          <a:xfrm>
            <a:off x="4773168" y="1508760"/>
            <a:ext cx="411480" cy="411480"/>
          </a:xfrm>
          <a:prstGeom prst="ellipse">
            <a:avLst/>
          </a:prstGeom>
          <a:solidFill>
            <a:srgbClr val="2A7A8C"/>
          </a:solidFill>
          <a:ln w="12700">
            <a:solidFill>
              <a:srgbClr val="2A7A8C"/>
            </a:solidFill>
            <a:prstDash val="solid"/>
          </a:ln>
        </p:spPr>
      </p:sp>
      <p:sp>
        <p:nvSpPr>
          <p:cNvPr id="23" name="Text 21"/>
          <p:cNvSpPr/>
          <p:nvPr/>
        </p:nvSpPr>
        <p:spPr>
          <a:xfrm>
            <a:off x="4773168" y="150876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4" name="Text 22"/>
          <p:cNvSpPr/>
          <p:nvPr/>
        </p:nvSpPr>
        <p:spPr>
          <a:xfrm>
            <a:off x="5257800" y="1508760"/>
            <a:ext cx="3401568" cy="411480"/>
          </a:xfrm>
          <a:prstGeom prst="rect">
            <a:avLst/>
          </a:prstGeom>
          <a:noFill/>
          <a:ln/>
        </p:spPr>
        <p:txBody>
          <a:bodyPr wrap="square" lIns="0" tIns="0" rIns="0" bIns="0" rtlCol="0" anchor="ctr"/>
          <a:lstStyle/>
          <a:p>
            <a:pPr indent="0" marL="0">
              <a:buNone/>
            </a:pPr>
            <a:r>
              <a:rPr lang="en-US" sz="1000" b="1" dirty="0">
                <a:solidFill>
                  <a:srgbClr val="1A2F38"/>
                </a:solidFill>
                <a:latin typeface="Calibri" pitchFamily="34" charset="0"/>
                <a:ea typeface="Calibri" pitchFamily="34" charset="-122"/>
                <a:cs typeface="Calibri" pitchFamily="34" charset="-120"/>
              </a:rPr>
              <a:t>Oracle Performance Benchmarking</a:t>
            </a:r>
            <a:endParaRPr lang="en-US" sz="1000" dirty="0"/>
          </a:p>
        </p:txBody>
      </p:sp>
      <p:sp>
        <p:nvSpPr>
          <p:cNvPr id="25" name="Shape 23"/>
          <p:cNvSpPr/>
          <p:nvPr/>
        </p:nvSpPr>
        <p:spPr>
          <a:xfrm>
            <a:off x="4828032" y="2011680"/>
            <a:ext cx="82296" cy="82296"/>
          </a:xfrm>
          <a:prstGeom prst="ellipse">
            <a:avLst/>
          </a:prstGeom>
          <a:solidFill>
            <a:srgbClr val="2A7A8C"/>
          </a:solidFill>
          <a:ln w="12700">
            <a:solidFill>
              <a:srgbClr val="2A7A8C"/>
            </a:solidFill>
            <a:prstDash val="solid"/>
          </a:ln>
        </p:spPr>
      </p:sp>
      <p:sp>
        <p:nvSpPr>
          <p:cNvPr id="26" name="Text 24"/>
          <p:cNvSpPr/>
          <p:nvPr/>
        </p:nvSpPr>
        <p:spPr>
          <a:xfrm>
            <a:off x="4974336" y="1975104"/>
            <a:ext cx="3694176" cy="155448"/>
          </a:xfrm>
          <a:prstGeom prst="rect">
            <a:avLst/>
          </a:prstGeom>
          <a:noFill/>
          <a:ln/>
        </p:spPr>
        <p:txBody>
          <a:bodyPr wrap="square" lIns="0" tIns="0" rIns="0" bIns="0" rtlCol="0" anchor="ctr"/>
          <a:lstStyle/>
          <a:p>
            <a:pPr indent="0" marL="0">
              <a:buNone/>
            </a:pPr>
            <a:r>
              <a:rPr lang="en-US" sz="800" dirty="0">
                <a:solidFill>
                  <a:srgbClr val="1A2F38"/>
                </a:solidFill>
                <a:latin typeface="Calibri" pitchFamily="34" charset="0"/>
                <a:ea typeface="Calibri" pitchFamily="34" charset="-122"/>
                <a:cs typeface="Calibri" pitchFamily="34" charset="-120"/>
              </a:rPr>
              <a:t>EXPLAIN PLAN for every compiled Oracle SQL model</a:t>
            </a:r>
            <a:endParaRPr lang="en-US" sz="800" dirty="0"/>
          </a:p>
        </p:txBody>
      </p:sp>
      <p:sp>
        <p:nvSpPr>
          <p:cNvPr id="27" name="Shape 25"/>
          <p:cNvSpPr/>
          <p:nvPr/>
        </p:nvSpPr>
        <p:spPr>
          <a:xfrm>
            <a:off x="4828032" y="2167128"/>
            <a:ext cx="82296" cy="82296"/>
          </a:xfrm>
          <a:prstGeom prst="ellipse">
            <a:avLst/>
          </a:prstGeom>
          <a:solidFill>
            <a:srgbClr val="2A7A8C"/>
          </a:solidFill>
          <a:ln w="12700">
            <a:solidFill>
              <a:srgbClr val="2A7A8C"/>
            </a:solidFill>
            <a:prstDash val="solid"/>
          </a:ln>
        </p:spPr>
      </p:sp>
      <p:sp>
        <p:nvSpPr>
          <p:cNvPr id="28" name="Text 26"/>
          <p:cNvSpPr/>
          <p:nvPr/>
        </p:nvSpPr>
        <p:spPr>
          <a:xfrm>
            <a:off x="4974336" y="2130552"/>
            <a:ext cx="3694176" cy="155448"/>
          </a:xfrm>
          <a:prstGeom prst="rect">
            <a:avLst/>
          </a:prstGeom>
          <a:noFill/>
          <a:ln/>
        </p:spPr>
        <p:txBody>
          <a:bodyPr wrap="square" lIns="0" tIns="0" rIns="0" bIns="0" rtlCol="0" anchor="ctr"/>
          <a:lstStyle/>
          <a:p>
            <a:pPr indent="0" marL="0">
              <a:buNone/>
            </a:pPr>
            <a:r>
              <a:rPr lang="en-US" sz="800" dirty="0">
                <a:solidFill>
                  <a:srgbClr val="1A2F38"/>
                </a:solidFill>
                <a:latin typeface="Calibri" pitchFamily="34" charset="0"/>
                <a:ea typeface="Calibri" pitchFamily="34" charset="-122"/>
                <a:cs typeface="Calibri" pitchFamily="34" charset="-120"/>
              </a:rPr>
              <a:t>Execution benchmarks at 10K / 100K / 500K / 1M / 5M rows</a:t>
            </a:r>
            <a:endParaRPr lang="en-US" sz="800" dirty="0"/>
          </a:p>
        </p:txBody>
      </p:sp>
      <p:sp>
        <p:nvSpPr>
          <p:cNvPr id="29" name="Shape 27"/>
          <p:cNvSpPr/>
          <p:nvPr/>
        </p:nvSpPr>
        <p:spPr>
          <a:xfrm>
            <a:off x="4828032" y="2322576"/>
            <a:ext cx="82296" cy="82296"/>
          </a:xfrm>
          <a:prstGeom prst="ellipse">
            <a:avLst/>
          </a:prstGeom>
          <a:solidFill>
            <a:srgbClr val="2A7A8C"/>
          </a:solidFill>
          <a:ln w="12700">
            <a:solidFill>
              <a:srgbClr val="2A7A8C"/>
            </a:solidFill>
            <a:prstDash val="solid"/>
          </a:ln>
        </p:spPr>
      </p:sp>
      <p:sp>
        <p:nvSpPr>
          <p:cNvPr id="30" name="Text 28"/>
          <p:cNvSpPr/>
          <p:nvPr/>
        </p:nvSpPr>
        <p:spPr>
          <a:xfrm>
            <a:off x="4974336" y="2286000"/>
            <a:ext cx="3694176" cy="155448"/>
          </a:xfrm>
          <a:prstGeom prst="rect">
            <a:avLst/>
          </a:prstGeom>
          <a:noFill/>
          <a:ln/>
        </p:spPr>
        <p:txBody>
          <a:bodyPr wrap="square" lIns="0" tIns="0" rIns="0" bIns="0" rtlCol="0" anchor="ctr"/>
          <a:lstStyle/>
          <a:p>
            <a:pPr indent="0" marL="0">
              <a:buNone/>
            </a:pPr>
            <a:r>
              <a:rPr lang="en-US" sz="800" dirty="0">
                <a:solidFill>
                  <a:srgbClr val="1A2F38"/>
                </a:solidFill>
                <a:latin typeface="Calibri" pitchFamily="34" charset="0"/>
                <a:ea typeface="Calibri" pitchFamily="34" charset="-122"/>
                <a:cs typeface="Calibri" pitchFamily="34" charset="-120"/>
              </a:rPr>
              <a:t>SLA threshold validation — flag PERFORMANCE_BREACH</a:t>
            </a:r>
            <a:endParaRPr lang="en-US" sz="800" dirty="0"/>
          </a:p>
        </p:txBody>
      </p:sp>
      <p:sp>
        <p:nvSpPr>
          <p:cNvPr id="31" name="Shape 29"/>
          <p:cNvSpPr/>
          <p:nvPr/>
        </p:nvSpPr>
        <p:spPr>
          <a:xfrm>
            <a:off x="4828032" y="2478024"/>
            <a:ext cx="82296" cy="82296"/>
          </a:xfrm>
          <a:prstGeom prst="ellipse">
            <a:avLst/>
          </a:prstGeom>
          <a:solidFill>
            <a:srgbClr val="2A7A8C"/>
          </a:solidFill>
          <a:ln w="12700">
            <a:solidFill>
              <a:srgbClr val="2A7A8C"/>
            </a:solidFill>
            <a:prstDash val="solid"/>
          </a:ln>
        </p:spPr>
      </p:sp>
      <p:sp>
        <p:nvSpPr>
          <p:cNvPr id="32" name="Text 30"/>
          <p:cNvSpPr/>
          <p:nvPr/>
        </p:nvSpPr>
        <p:spPr>
          <a:xfrm>
            <a:off x="4974336" y="2441448"/>
            <a:ext cx="3694176" cy="155448"/>
          </a:xfrm>
          <a:prstGeom prst="rect">
            <a:avLst/>
          </a:prstGeom>
          <a:noFill/>
          <a:ln/>
        </p:spPr>
        <p:txBody>
          <a:bodyPr wrap="square" lIns="0" tIns="0" rIns="0" bIns="0" rtlCol="0" anchor="ctr"/>
          <a:lstStyle/>
          <a:p>
            <a:pPr indent="0" marL="0">
              <a:buNone/>
            </a:pPr>
            <a:r>
              <a:rPr lang="en-US" sz="800" dirty="0">
                <a:solidFill>
                  <a:srgbClr val="1A2F38"/>
                </a:solidFill>
                <a:latin typeface="Calibri" pitchFamily="34" charset="0"/>
                <a:ea typeface="Calibri" pitchFamily="34" charset="-122"/>
                <a:cs typeface="Calibri" pitchFamily="34" charset="-120"/>
              </a:rPr>
              <a:t>Partition pruning + SCD2 merge cost assessment</a:t>
            </a:r>
            <a:endParaRPr lang="en-US" sz="800" dirty="0"/>
          </a:p>
        </p:txBody>
      </p:sp>
      <p:sp>
        <p:nvSpPr>
          <p:cNvPr id="33" name="Shape 31"/>
          <p:cNvSpPr/>
          <p:nvPr/>
        </p:nvSpPr>
        <p:spPr>
          <a:xfrm>
            <a:off x="320040" y="2743200"/>
            <a:ext cx="4114800" cy="1417320"/>
          </a:xfrm>
          <a:prstGeom prst="roundRect">
            <a:avLst>
              <a:gd name="adj" fmla="val 5161"/>
            </a:avLst>
          </a:prstGeom>
          <a:solidFill>
            <a:srgbClr val="FFFFFF"/>
          </a:solidFill>
          <a:ln w="12700">
            <a:solidFill>
              <a:srgbClr val="D0ECF2"/>
            </a:solidFill>
            <a:prstDash val="solid"/>
          </a:ln>
          <a:effectLst>
            <a:outerShdw sx="100000" sy="100000" kx="0" ky="0" algn="bl" rotWithShape="0" blurRad="101600" dist="38100" dir="2700000">
              <a:srgbClr val="000000">
                <a:alpha val="10000"/>
              </a:srgbClr>
            </a:outerShdw>
          </a:effectLst>
        </p:spPr>
      </p:sp>
      <p:sp>
        <p:nvSpPr>
          <p:cNvPr id="34" name="Shape 32"/>
          <p:cNvSpPr/>
          <p:nvPr/>
        </p:nvSpPr>
        <p:spPr>
          <a:xfrm>
            <a:off x="429768" y="3063240"/>
            <a:ext cx="411480" cy="411480"/>
          </a:xfrm>
          <a:prstGeom prst="ellipse">
            <a:avLst/>
          </a:prstGeom>
          <a:solidFill>
            <a:srgbClr val="4A6572"/>
          </a:solidFill>
          <a:ln w="12700">
            <a:solidFill>
              <a:srgbClr val="4A6572"/>
            </a:solidFill>
            <a:prstDash val="solid"/>
          </a:ln>
        </p:spPr>
      </p:sp>
      <p:sp>
        <p:nvSpPr>
          <p:cNvPr id="35" name="Text 33"/>
          <p:cNvSpPr/>
          <p:nvPr/>
        </p:nvSpPr>
        <p:spPr>
          <a:xfrm>
            <a:off x="429768" y="306324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36" name="Text 34"/>
          <p:cNvSpPr/>
          <p:nvPr/>
        </p:nvSpPr>
        <p:spPr>
          <a:xfrm>
            <a:off x="914400" y="3063240"/>
            <a:ext cx="3401568" cy="411480"/>
          </a:xfrm>
          <a:prstGeom prst="rect">
            <a:avLst/>
          </a:prstGeom>
          <a:noFill/>
          <a:ln/>
        </p:spPr>
        <p:txBody>
          <a:bodyPr wrap="square" lIns="0" tIns="0" rIns="0" bIns="0" rtlCol="0" anchor="ctr"/>
          <a:lstStyle/>
          <a:p>
            <a:pPr indent="0" marL="0">
              <a:buNone/>
            </a:pPr>
            <a:r>
              <a:rPr lang="en-US" sz="1000" b="1" dirty="0">
                <a:solidFill>
                  <a:srgbClr val="1A2F38"/>
                </a:solidFill>
                <a:latin typeface="Calibri" pitchFamily="34" charset="0"/>
                <a:ea typeface="Calibri" pitchFamily="34" charset="-122"/>
                <a:cs typeface="Calibri" pitchFamily="34" charset="-120"/>
              </a:rPr>
              <a:t>Testing Framework</a:t>
            </a:r>
            <a:endParaRPr lang="en-US" sz="1000" dirty="0"/>
          </a:p>
        </p:txBody>
      </p:sp>
      <p:sp>
        <p:nvSpPr>
          <p:cNvPr id="37" name="Shape 35"/>
          <p:cNvSpPr/>
          <p:nvPr/>
        </p:nvSpPr>
        <p:spPr>
          <a:xfrm>
            <a:off x="484632" y="3566160"/>
            <a:ext cx="82296" cy="82296"/>
          </a:xfrm>
          <a:prstGeom prst="ellipse">
            <a:avLst/>
          </a:prstGeom>
          <a:solidFill>
            <a:srgbClr val="4A6572"/>
          </a:solidFill>
          <a:ln w="12700">
            <a:solidFill>
              <a:srgbClr val="4A6572"/>
            </a:solidFill>
            <a:prstDash val="solid"/>
          </a:ln>
        </p:spPr>
      </p:sp>
      <p:sp>
        <p:nvSpPr>
          <p:cNvPr id="38" name="Text 36"/>
          <p:cNvSpPr/>
          <p:nvPr/>
        </p:nvSpPr>
        <p:spPr>
          <a:xfrm>
            <a:off x="630936" y="3529584"/>
            <a:ext cx="3694176" cy="155448"/>
          </a:xfrm>
          <a:prstGeom prst="rect">
            <a:avLst/>
          </a:prstGeom>
          <a:noFill/>
          <a:ln/>
        </p:spPr>
        <p:txBody>
          <a:bodyPr wrap="square" lIns="0" tIns="0" rIns="0" bIns="0" rtlCol="0" anchor="ctr"/>
          <a:lstStyle/>
          <a:p>
            <a:pPr indent="0" marL="0">
              <a:buNone/>
            </a:pPr>
            <a:r>
              <a:rPr lang="en-US" sz="800" dirty="0">
                <a:solidFill>
                  <a:srgbClr val="1A2F38"/>
                </a:solidFill>
                <a:latin typeface="Calibri" pitchFamily="34" charset="0"/>
                <a:ea typeface="Calibri" pitchFamily="34" charset="-122"/>
                <a:cs typeface="Calibri" pitchFamily="34" charset="-120"/>
              </a:rPr>
              <a:t>dbt tests: unique, not-null, relationships, accepted_values</a:t>
            </a:r>
            <a:endParaRPr lang="en-US" sz="800" dirty="0"/>
          </a:p>
        </p:txBody>
      </p:sp>
      <p:sp>
        <p:nvSpPr>
          <p:cNvPr id="39" name="Shape 37"/>
          <p:cNvSpPr/>
          <p:nvPr/>
        </p:nvSpPr>
        <p:spPr>
          <a:xfrm>
            <a:off x="484632" y="3721608"/>
            <a:ext cx="82296" cy="82296"/>
          </a:xfrm>
          <a:prstGeom prst="ellipse">
            <a:avLst/>
          </a:prstGeom>
          <a:solidFill>
            <a:srgbClr val="4A6572"/>
          </a:solidFill>
          <a:ln w="12700">
            <a:solidFill>
              <a:srgbClr val="4A6572"/>
            </a:solidFill>
            <a:prstDash val="solid"/>
          </a:ln>
        </p:spPr>
      </p:sp>
      <p:sp>
        <p:nvSpPr>
          <p:cNvPr id="40" name="Text 38"/>
          <p:cNvSpPr/>
          <p:nvPr/>
        </p:nvSpPr>
        <p:spPr>
          <a:xfrm>
            <a:off x="630936" y="3685032"/>
            <a:ext cx="3694176" cy="155448"/>
          </a:xfrm>
          <a:prstGeom prst="rect">
            <a:avLst/>
          </a:prstGeom>
          <a:noFill/>
          <a:ln/>
        </p:spPr>
        <p:txBody>
          <a:bodyPr wrap="square" lIns="0" tIns="0" rIns="0" bIns="0" rtlCol="0" anchor="ctr"/>
          <a:lstStyle/>
          <a:p>
            <a:pPr indent="0" marL="0">
              <a:buNone/>
            </a:pPr>
            <a:r>
              <a:rPr lang="en-US" sz="800" dirty="0">
                <a:solidFill>
                  <a:srgbClr val="1A2F38"/>
                </a:solidFill>
                <a:latin typeface="Calibri" pitchFamily="34" charset="0"/>
                <a:ea typeface="Calibri" pitchFamily="34" charset="-122"/>
                <a:cs typeface="Calibri" pitchFamily="34" charset="-120"/>
              </a:rPr>
              <a:t>Custom rule tests (debit = credit per tx)</a:t>
            </a:r>
            <a:endParaRPr lang="en-US" sz="800" dirty="0"/>
          </a:p>
        </p:txBody>
      </p:sp>
      <p:sp>
        <p:nvSpPr>
          <p:cNvPr id="41" name="Shape 39"/>
          <p:cNvSpPr/>
          <p:nvPr/>
        </p:nvSpPr>
        <p:spPr>
          <a:xfrm>
            <a:off x="484632" y="3877056"/>
            <a:ext cx="82296" cy="82296"/>
          </a:xfrm>
          <a:prstGeom prst="ellipse">
            <a:avLst/>
          </a:prstGeom>
          <a:solidFill>
            <a:srgbClr val="4A6572"/>
          </a:solidFill>
          <a:ln w="12700">
            <a:solidFill>
              <a:srgbClr val="4A6572"/>
            </a:solidFill>
            <a:prstDash val="solid"/>
          </a:ln>
        </p:spPr>
      </p:sp>
      <p:sp>
        <p:nvSpPr>
          <p:cNvPr id="42" name="Text 40"/>
          <p:cNvSpPr/>
          <p:nvPr/>
        </p:nvSpPr>
        <p:spPr>
          <a:xfrm>
            <a:off x="630936" y="3840480"/>
            <a:ext cx="3694176" cy="155448"/>
          </a:xfrm>
          <a:prstGeom prst="rect">
            <a:avLst/>
          </a:prstGeom>
          <a:noFill/>
          <a:ln/>
        </p:spPr>
        <p:txBody>
          <a:bodyPr wrap="square" lIns="0" tIns="0" rIns="0" bIns="0" rtlCol="0" anchor="ctr"/>
          <a:lstStyle/>
          <a:p>
            <a:pPr indent="0" marL="0">
              <a:buNone/>
            </a:pPr>
            <a:r>
              <a:rPr lang="en-US" sz="800" dirty="0">
                <a:solidFill>
                  <a:srgbClr val="1A2F38"/>
                </a:solidFill>
                <a:latin typeface="Calibri" pitchFamily="34" charset="0"/>
                <a:ea typeface="Calibri" pitchFamily="34" charset="-122"/>
                <a:cs typeface="Calibri" pitchFamily="34" charset="-120"/>
              </a:rPr>
              <a:t>Integration: full seed-to-gold on test dataset</a:t>
            </a:r>
            <a:endParaRPr lang="en-US" sz="800" dirty="0"/>
          </a:p>
        </p:txBody>
      </p:sp>
      <p:sp>
        <p:nvSpPr>
          <p:cNvPr id="43" name="Shape 41"/>
          <p:cNvSpPr/>
          <p:nvPr/>
        </p:nvSpPr>
        <p:spPr>
          <a:xfrm>
            <a:off x="484632" y="4032504"/>
            <a:ext cx="82296" cy="82296"/>
          </a:xfrm>
          <a:prstGeom prst="ellipse">
            <a:avLst/>
          </a:prstGeom>
          <a:solidFill>
            <a:srgbClr val="4A6572"/>
          </a:solidFill>
          <a:ln w="12700">
            <a:solidFill>
              <a:srgbClr val="4A6572"/>
            </a:solidFill>
            <a:prstDash val="solid"/>
          </a:ln>
        </p:spPr>
      </p:sp>
      <p:sp>
        <p:nvSpPr>
          <p:cNvPr id="44" name="Text 42"/>
          <p:cNvSpPr/>
          <p:nvPr/>
        </p:nvSpPr>
        <p:spPr>
          <a:xfrm>
            <a:off x="630936" y="3995928"/>
            <a:ext cx="3694176" cy="155448"/>
          </a:xfrm>
          <a:prstGeom prst="rect">
            <a:avLst/>
          </a:prstGeom>
          <a:noFill/>
          <a:ln/>
        </p:spPr>
        <p:txBody>
          <a:bodyPr wrap="square" lIns="0" tIns="0" rIns="0" bIns="0" rtlCol="0" anchor="ctr"/>
          <a:lstStyle/>
          <a:p>
            <a:pPr indent="0" marL="0">
              <a:buNone/>
            </a:pPr>
            <a:r>
              <a:rPr lang="en-US" sz="800" dirty="0">
                <a:solidFill>
                  <a:srgbClr val="1A2F38"/>
                </a:solidFill>
                <a:latin typeface="Calibri" pitchFamily="34" charset="0"/>
                <a:ea typeface="Calibri" pitchFamily="34" charset="-122"/>
                <a:cs typeface="Calibri" pitchFamily="34" charset="-120"/>
              </a:rPr>
              <a:t>Regression: output vs known-good baseline</a:t>
            </a:r>
            <a:endParaRPr lang="en-US" sz="800" dirty="0"/>
          </a:p>
        </p:txBody>
      </p:sp>
      <p:sp>
        <p:nvSpPr>
          <p:cNvPr id="45" name="Shape 43"/>
          <p:cNvSpPr/>
          <p:nvPr/>
        </p:nvSpPr>
        <p:spPr>
          <a:xfrm>
            <a:off x="4663440" y="2743200"/>
            <a:ext cx="4114800" cy="1417320"/>
          </a:xfrm>
          <a:prstGeom prst="roundRect">
            <a:avLst>
              <a:gd name="adj" fmla="val 5161"/>
            </a:avLst>
          </a:prstGeom>
          <a:solidFill>
            <a:srgbClr val="FFFFFF"/>
          </a:solidFill>
          <a:ln w="12700">
            <a:solidFill>
              <a:srgbClr val="D0ECF2"/>
            </a:solidFill>
            <a:prstDash val="solid"/>
          </a:ln>
          <a:effectLst>
            <a:outerShdw sx="100000" sy="100000" kx="0" ky="0" algn="bl" rotWithShape="0" blurRad="101600" dist="38100" dir="2700000">
              <a:srgbClr val="000000">
                <a:alpha val="10000"/>
              </a:srgbClr>
            </a:outerShdw>
          </a:effectLst>
        </p:spPr>
      </p:sp>
      <p:sp>
        <p:nvSpPr>
          <p:cNvPr id="46" name="Shape 44"/>
          <p:cNvSpPr/>
          <p:nvPr/>
        </p:nvSpPr>
        <p:spPr>
          <a:xfrm>
            <a:off x="4773168" y="3063240"/>
            <a:ext cx="411480" cy="411480"/>
          </a:xfrm>
          <a:prstGeom prst="ellipse">
            <a:avLst/>
          </a:prstGeom>
          <a:solidFill>
            <a:srgbClr val="1A2F4A"/>
          </a:solidFill>
          <a:ln w="12700">
            <a:solidFill>
              <a:srgbClr val="1A2F4A"/>
            </a:solidFill>
            <a:prstDash val="solid"/>
          </a:ln>
        </p:spPr>
      </p:sp>
      <p:sp>
        <p:nvSpPr>
          <p:cNvPr id="47" name="Text 45"/>
          <p:cNvSpPr/>
          <p:nvPr/>
        </p:nvSpPr>
        <p:spPr>
          <a:xfrm>
            <a:off x="4773168" y="306324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48" name="Text 46"/>
          <p:cNvSpPr/>
          <p:nvPr/>
        </p:nvSpPr>
        <p:spPr>
          <a:xfrm>
            <a:off x="5257800" y="3063240"/>
            <a:ext cx="3401568" cy="411480"/>
          </a:xfrm>
          <a:prstGeom prst="rect">
            <a:avLst/>
          </a:prstGeom>
          <a:noFill/>
          <a:ln/>
        </p:spPr>
        <p:txBody>
          <a:bodyPr wrap="square" lIns="0" tIns="0" rIns="0" bIns="0" rtlCol="0" anchor="ctr"/>
          <a:lstStyle/>
          <a:p>
            <a:pPr indent="0" marL="0">
              <a:buNone/>
            </a:pPr>
            <a:r>
              <a:rPr lang="en-US" sz="1000" b="1" dirty="0">
                <a:solidFill>
                  <a:srgbClr val="1A2F38"/>
                </a:solidFill>
                <a:latin typeface="Calibri" pitchFamily="34" charset="0"/>
                <a:ea typeface="Calibri" pitchFamily="34" charset="-122"/>
                <a:cs typeface="Calibri" pitchFamily="34" charset="-120"/>
              </a:rPr>
              <a:t>Cyber &amp; Security Scanning</a:t>
            </a:r>
            <a:endParaRPr lang="en-US" sz="1000" dirty="0"/>
          </a:p>
        </p:txBody>
      </p:sp>
      <p:sp>
        <p:nvSpPr>
          <p:cNvPr id="49" name="Shape 47"/>
          <p:cNvSpPr/>
          <p:nvPr/>
        </p:nvSpPr>
        <p:spPr>
          <a:xfrm>
            <a:off x="4828032" y="3566160"/>
            <a:ext cx="82296" cy="82296"/>
          </a:xfrm>
          <a:prstGeom prst="ellipse">
            <a:avLst/>
          </a:prstGeom>
          <a:solidFill>
            <a:srgbClr val="1A2F4A"/>
          </a:solidFill>
          <a:ln w="12700">
            <a:solidFill>
              <a:srgbClr val="1A2F4A"/>
            </a:solidFill>
            <a:prstDash val="solid"/>
          </a:ln>
        </p:spPr>
      </p:sp>
      <p:sp>
        <p:nvSpPr>
          <p:cNvPr id="50" name="Text 48"/>
          <p:cNvSpPr/>
          <p:nvPr/>
        </p:nvSpPr>
        <p:spPr>
          <a:xfrm>
            <a:off x="4974336" y="3529584"/>
            <a:ext cx="3694176" cy="155448"/>
          </a:xfrm>
          <a:prstGeom prst="rect">
            <a:avLst/>
          </a:prstGeom>
          <a:noFill/>
          <a:ln/>
        </p:spPr>
        <p:txBody>
          <a:bodyPr wrap="square" lIns="0" tIns="0" rIns="0" bIns="0" rtlCol="0" anchor="ctr"/>
          <a:lstStyle/>
          <a:p>
            <a:pPr indent="0" marL="0">
              <a:buNone/>
            </a:pPr>
            <a:r>
              <a:rPr lang="en-US" sz="800" dirty="0">
                <a:solidFill>
                  <a:srgbClr val="1A2F38"/>
                </a:solidFill>
                <a:latin typeface="Calibri" pitchFamily="34" charset="0"/>
                <a:ea typeface="Calibri" pitchFamily="34" charset="-122"/>
                <a:cs typeface="Calibri" pitchFamily="34" charset="-120"/>
              </a:rPr>
              <a:t>Secrets detection — no API keys or tokens in code</a:t>
            </a:r>
            <a:endParaRPr lang="en-US" sz="800" dirty="0"/>
          </a:p>
        </p:txBody>
      </p:sp>
      <p:sp>
        <p:nvSpPr>
          <p:cNvPr id="51" name="Shape 49"/>
          <p:cNvSpPr/>
          <p:nvPr/>
        </p:nvSpPr>
        <p:spPr>
          <a:xfrm>
            <a:off x="4828032" y="3721608"/>
            <a:ext cx="82296" cy="82296"/>
          </a:xfrm>
          <a:prstGeom prst="ellipse">
            <a:avLst/>
          </a:prstGeom>
          <a:solidFill>
            <a:srgbClr val="1A2F4A"/>
          </a:solidFill>
          <a:ln w="12700">
            <a:solidFill>
              <a:srgbClr val="1A2F4A"/>
            </a:solidFill>
            <a:prstDash val="solid"/>
          </a:ln>
        </p:spPr>
      </p:sp>
      <p:sp>
        <p:nvSpPr>
          <p:cNvPr id="52" name="Text 50"/>
          <p:cNvSpPr/>
          <p:nvPr/>
        </p:nvSpPr>
        <p:spPr>
          <a:xfrm>
            <a:off x="4974336" y="3685032"/>
            <a:ext cx="3694176" cy="155448"/>
          </a:xfrm>
          <a:prstGeom prst="rect">
            <a:avLst/>
          </a:prstGeom>
          <a:noFill/>
          <a:ln/>
        </p:spPr>
        <p:txBody>
          <a:bodyPr wrap="square" lIns="0" tIns="0" rIns="0" bIns="0" rtlCol="0" anchor="ctr"/>
          <a:lstStyle/>
          <a:p>
            <a:pPr indent="0" marL="0">
              <a:buNone/>
            </a:pPr>
            <a:r>
              <a:rPr lang="en-US" sz="800" dirty="0">
                <a:solidFill>
                  <a:srgbClr val="1A2F38"/>
                </a:solidFill>
                <a:latin typeface="Calibri" pitchFamily="34" charset="0"/>
                <a:ea typeface="Calibri" pitchFamily="34" charset="-122"/>
                <a:cs typeface="Calibri" pitchFamily="34" charset="-120"/>
              </a:rPr>
              <a:t>CVE dependency scanning</a:t>
            </a:r>
            <a:endParaRPr lang="en-US" sz="800" dirty="0"/>
          </a:p>
        </p:txBody>
      </p:sp>
      <p:sp>
        <p:nvSpPr>
          <p:cNvPr id="53" name="Shape 51"/>
          <p:cNvSpPr/>
          <p:nvPr/>
        </p:nvSpPr>
        <p:spPr>
          <a:xfrm>
            <a:off x="4828032" y="3877056"/>
            <a:ext cx="82296" cy="82296"/>
          </a:xfrm>
          <a:prstGeom prst="ellipse">
            <a:avLst/>
          </a:prstGeom>
          <a:solidFill>
            <a:srgbClr val="1A2F4A"/>
          </a:solidFill>
          <a:ln w="12700">
            <a:solidFill>
              <a:srgbClr val="1A2F4A"/>
            </a:solidFill>
            <a:prstDash val="solid"/>
          </a:ln>
        </p:spPr>
      </p:sp>
      <p:sp>
        <p:nvSpPr>
          <p:cNvPr id="54" name="Text 52"/>
          <p:cNvSpPr/>
          <p:nvPr/>
        </p:nvSpPr>
        <p:spPr>
          <a:xfrm>
            <a:off x="4974336" y="3840480"/>
            <a:ext cx="3694176" cy="155448"/>
          </a:xfrm>
          <a:prstGeom prst="rect">
            <a:avLst/>
          </a:prstGeom>
          <a:noFill/>
          <a:ln/>
        </p:spPr>
        <p:txBody>
          <a:bodyPr wrap="square" lIns="0" tIns="0" rIns="0" bIns="0" rtlCol="0" anchor="ctr"/>
          <a:lstStyle/>
          <a:p>
            <a:pPr indent="0" marL="0">
              <a:buNone/>
            </a:pPr>
            <a:r>
              <a:rPr lang="en-US" sz="800" dirty="0">
                <a:solidFill>
                  <a:srgbClr val="1A2F38"/>
                </a:solidFill>
                <a:latin typeface="Calibri" pitchFamily="34" charset="0"/>
                <a:ea typeface="Calibri" pitchFamily="34" charset="-122"/>
                <a:cs typeface="Calibri" pitchFamily="34" charset="-120"/>
              </a:rPr>
              <a:t>SQL injection pattern detection</a:t>
            </a:r>
            <a:endParaRPr lang="en-US" sz="800" dirty="0"/>
          </a:p>
        </p:txBody>
      </p:sp>
      <p:sp>
        <p:nvSpPr>
          <p:cNvPr id="55" name="Shape 53"/>
          <p:cNvSpPr/>
          <p:nvPr/>
        </p:nvSpPr>
        <p:spPr>
          <a:xfrm>
            <a:off x="4828032" y="4032504"/>
            <a:ext cx="82296" cy="82296"/>
          </a:xfrm>
          <a:prstGeom prst="ellipse">
            <a:avLst/>
          </a:prstGeom>
          <a:solidFill>
            <a:srgbClr val="1A2F4A"/>
          </a:solidFill>
          <a:ln w="12700">
            <a:solidFill>
              <a:srgbClr val="1A2F4A"/>
            </a:solidFill>
            <a:prstDash val="solid"/>
          </a:ln>
        </p:spPr>
      </p:sp>
      <p:sp>
        <p:nvSpPr>
          <p:cNvPr id="56" name="Text 54"/>
          <p:cNvSpPr/>
          <p:nvPr/>
        </p:nvSpPr>
        <p:spPr>
          <a:xfrm>
            <a:off x="4974336" y="3995928"/>
            <a:ext cx="3694176" cy="155448"/>
          </a:xfrm>
          <a:prstGeom prst="rect">
            <a:avLst/>
          </a:prstGeom>
          <a:noFill/>
          <a:ln/>
        </p:spPr>
        <p:txBody>
          <a:bodyPr wrap="square" lIns="0" tIns="0" rIns="0" bIns="0" rtlCol="0" anchor="ctr"/>
          <a:lstStyle/>
          <a:p>
            <a:pPr indent="0" marL="0">
              <a:buNone/>
            </a:pPr>
            <a:r>
              <a:rPr lang="en-US" sz="800" dirty="0">
                <a:solidFill>
                  <a:srgbClr val="1A2F38"/>
                </a:solidFill>
                <a:latin typeface="Calibri" pitchFamily="34" charset="0"/>
                <a:ea typeface="Calibri" pitchFamily="34" charset="-122"/>
                <a:cs typeface="Calibri" pitchFamily="34" charset="-120"/>
              </a:rPr>
              <a:t>Container image scanning for Airflow-dbt image</a:t>
            </a:r>
            <a:endParaRPr lang="en-US" sz="800" dirty="0"/>
          </a:p>
        </p:txBody>
      </p:sp>
      <p:sp>
        <p:nvSpPr>
          <p:cNvPr id="57" name="Shape 55"/>
          <p:cNvSpPr/>
          <p:nvPr/>
        </p:nvSpPr>
        <p:spPr>
          <a:xfrm>
            <a:off x="320040" y="4251960"/>
            <a:ext cx="8503920" cy="566928"/>
          </a:xfrm>
          <a:prstGeom prst="roundRect">
            <a:avLst>
              <a:gd name="adj" fmla="val 12903"/>
            </a:avLst>
          </a:prstGeom>
          <a:solidFill>
            <a:srgbClr val="EDF9F2"/>
          </a:solidFill>
          <a:ln w="12700">
            <a:solidFill>
              <a:srgbClr val="2E8B6E"/>
            </a:solidFill>
            <a:prstDash val="solid"/>
          </a:ln>
        </p:spPr>
      </p:sp>
      <p:sp>
        <p:nvSpPr>
          <p:cNvPr id="58" name="Text 56"/>
          <p:cNvSpPr/>
          <p:nvPr/>
        </p:nvSpPr>
        <p:spPr>
          <a:xfrm>
            <a:off x="457200" y="4297680"/>
            <a:ext cx="8229600" cy="256032"/>
          </a:xfrm>
          <a:prstGeom prst="rect">
            <a:avLst/>
          </a:prstGeom>
          <a:noFill/>
          <a:ln/>
        </p:spPr>
        <p:txBody>
          <a:bodyPr wrap="square" lIns="0" tIns="0" rIns="0" bIns="0" rtlCol="0" anchor="ctr"/>
          <a:lstStyle/>
          <a:p>
            <a:pPr indent="0" marL="0">
              <a:buNone/>
            </a:pPr>
            <a:r>
              <a:rPr lang="en-US" sz="1000" b="1" dirty="0">
                <a:solidFill>
                  <a:srgbClr val="2E8B6E"/>
                </a:solidFill>
                <a:latin typeface="Calibri" pitchFamily="34" charset="0"/>
                <a:ea typeface="Calibri" pitchFamily="34" charset="-122"/>
                <a:cs typeface="Calibri" pitchFamily="34" charset="-120"/>
              </a:rPr>
              <a:t>✅  STAGE 5 — Report Generation &amp; Approval Gate</a:t>
            </a:r>
            <a:endParaRPr lang="en-US" sz="1000" dirty="0"/>
          </a:p>
        </p:txBody>
      </p:sp>
      <p:sp>
        <p:nvSpPr>
          <p:cNvPr id="59" name="Text 57"/>
          <p:cNvSpPr/>
          <p:nvPr/>
        </p:nvSpPr>
        <p:spPr>
          <a:xfrm>
            <a:off x="457200" y="4553712"/>
            <a:ext cx="8229600" cy="228600"/>
          </a:xfrm>
          <a:prstGeom prst="rect">
            <a:avLst/>
          </a:prstGeom>
          <a:noFill/>
          <a:ln/>
        </p:spPr>
        <p:txBody>
          <a:bodyPr wrap="square" lIns="0" tIns="0" rIns="0" bIns="0" rtlCol="0" anchor="ctr"/>
          <a:lstStyle/>
          <a:p>
            <a:pPr indent="0" marL="0">
              <a:buNone/>
            </a:pPr>
            <a:r>
              <a:rPr lang="en-US" sz="850" dirty="0">
                <a:solidFill>
                  <a:srgbClr val="3D5A66"/>
                </a:solidFill>
                <a:latin typeface="Calibri" pitchFamily="34" charset="0"/>
                <a:ea typeface="Calibri" pitchFamily="34" charset="-122"/>
                <a:cs typeface="Calibri" pitchFamily="34" charset="-120"/>
              </a:rPr>
              <a:t>Comprehensive report generated: governance + performance + test results + security findings → DevOps review → Data engineer approval → Production deployment</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2F4A"/>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2F4A"/>
          </a:solidFill>
          <a:ln w="12700">
            <a:solidFill>
              <a:srgbClr val="1A2F4A"/>
            </a:solidFill>
            <a:prstDash val="solid"/>
          </a:ln>
        </p:spPr>
      </p:sp>
      <p:sp>
        <p:nvSpPr>
          <p:cNvPr id="3" name="Text 1"/>
          <p:cNvSpPr/>
          <p:nvPr/>
        </p:nvSpPr>
        <p:spPr>
          <a:xfrm>
            <a:off x="457200" y="320040"/>
            <a:ext cx="8229600" cy="50292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Summary</a:t>
            </a:r>
            <a:endParaRPr lang="en-US" sz="2800" dirty="0"/>
          </a:p>
        </p:txBody>
      </p:sp>
      <p:sp>
        <p:nvSpPr>
          <p:cNvPr id="4" name="Text 2"/>
          <p:cNvSpPr/>
          <p:nvPr/>
        </p:nvSpPr>
        <p:spPr>
          <a:xfrm>
            <a:off x="457200" y="804672"/>
            <a:ext cx="8229600" cy="274320"/>
          </a:xfrm>
          <a:prstGeom prst="rect">
            <a:avLst/>
          </a:prstGeom>
          <a:noFill/>
          <a:ln/>
        </p:spPr>
        <p:txBody>
          <a:bodyPr wrap="square" lIns="0" tIns="0" rIns="0" bIns="0" rtlCol="0" anchor="ctr"/>
          <a:lstStyle/>
          <a:p>
            <a:pPr algn="ctr" indent="0" marL="0">
              <a:buNone/>
            </a:pPr>
            <a:r>
              <a:rPr lang="en-US" sz="1200" spc="100" kern="0" dirty="0">
                <a:solidFill>
                  <a:srgbClr val="4BA8BE"/>
                </a:solidFill>
                <a:latin typeface="Calibri" pitchFamily="34" charset="0"/>
                <a:ea typeface="Calibri" pitchFamily="34" charset="-122"/>
                <a:cs typeface="Calibri" pitchFamily="34" charset="-120"/>
              </a:rPr>
              <a:t>What We've Built &amp; What's Next</a:t>
            </a:r>
            <a:endParaRPr lang="en-US" sz="1200" dirty="0"/>
          </a:p>
        </p:txBody>
      </p:sp>
      <p:sp>
        <p:nvSpPr>
          <p:cNvPr id="5" name="Shape 3"/>
          <p:cNvSpPr/>
          <p:nvPr/>
        </p:nvSpPr>
        <p:spPr>
          <a:xfrm>
            <a:off x="320040" y="1170432"/>
            <a:ext cx="5303520" cy="3456432"/>
          </a:xfrm>
          <a:prstGeom prst="roundRect">
            <a:avLst>
              <a:gd name="adj" fmla="val 2646"/>
            </a:avLst>
          </a:prstGeom>
          <a:solidFill>
            <a:srgbClr val="1E3A50"/>
          </a:solidFill>
          <a:ln w="12700">
            <a:solidFill>
              <a:srgbClr val="2A7A8C"/>
            </a:solidFill>
            <a:prstDash val="solid"/>
          </a:ln>
        </p:spPr>
      </p:sp>
      <p:sp>
        <p:nvSpPr>
          <p:cNvPr id="6" name="Text 4"/>
          <p:cNvSpPr/>
          <p:nvPr/>
        </p:nvSpPr>
        <p:spPr>
          <a:xfrm>
            <a:off x="457200" y="1261872"/>
            <a:ext cx="5029200" cy="256032"/>
          </a:xfrm>
          <a:prstGeom prst="rect">
            <a:avLst/>
          </a:prstGeom>
          <a:noFill/>
          <a:ln/>
        </p:spPr>
        <p:txBody>
          <a:bodyPr wrap="square" lIns="0" tIns="0" rIns="0" bIns="0" rtlCol="0" anchor="ctr"/>
          <a:lstStyle/>
          <a:p>
            <a:pPr indent="0" marL="0">
              <a:buNone/>
            </a:pPr>
            <a:r>
              <a:rPr lang="en-US" sz="900" b="1" spc="200" kern="0" dirty="0">
                <a:solidFill>
                  <a:srgbClr val="C9A84C"/>
                </a:solidFill>
                <a:latin typeface="Calibri" pitchFamily="34" charset="0"/>
                <a:ea typeface="Calibri" pitchFamily="34" charset="-122"/>
                <a:cs typeface="Calibri" pitchFamily="34" charset="-120"/>
              </a:rPr>
              <a:t>COMPLETED</a:t>
            </a:r>
            <a:endParaRPr lang="en-US" sz="900" dirty="0"/>
          </a:p>
        </p:txBody>
      </p:sp>
      <p:sp>
        <p:nvSpPr>
          <p:cNvPr id="7" name="Text 5"/>
          <p:cNvSpPr/>
          <p:nvPr/>
        </p:nvSpPr>
        <p:spPr>
          <a:xfrm>
            <a:off x="457200" y="1572768"/>
            <a:ext cx="347472" cy="347472"/>
          </a:xfrm>
          <a:prstGeom prst="rect">
            <a:avLst/>
          </a:prstGeom>
          <a:noFill/>
          <a:ln/>
        </p:spPr>
        <p:txBody>
          <a:bodyPr wrap="square" lIns="0" tIns="0" rIns="0" bIns="0" rtlCol="0" anchor="ctr"/>
          <a:lstStyle/>
          <a:p>
            <a:pPr indent="0" marL="0">
              <a:buNone/>
            </a:pPr>
            <a:r>
              <a:rPr lang="en-US" sz="1100" dirty="0">
                <a:solidFill>
                  <a:srgbClr val="000000"/>
                </a:solidFill>
              </a:rPr>
              <a:t>✅</a:t>
            </a:r>
            <a:endParaRPr lang="en-US" sz="1100" dirty="0"/>
          </a:p>
        </p:txBody>
      </p:sp>
      <p:sp>
        <p:nvSpPr>
          <p:cNvPr id="8" name="Text 6"/>
          <p:cNvSpPr/>
          <p:nvPr/>
        </p:nvSpPr>
        <p:spPr>
          <a:xfrm>
            <a:off x="841248" y="1572768"/>
            <a:ext cx="4663440" cy="34747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SEI SWP replaces FIS/Advent AddVantage and STAR as system of record</a:t>
            </a:r>
            <a:endParaRPr lang="en-US" sz="900" dirty="0"/>
          </a:p>
        </p:txBody>
      </p:sp>
      <p:sp>
        <p:nvSpPr>
          <p:cNvPr id="9" name="Text 7"/>
          <p:cNvSpPr/>
          <p:nvPr/>
        </p:nvSpPr>
        <p:spPr>
          <a:xfrm>
            <a:off x="457200" y="1993392"/>
            <a:ext cx="347472" cy="347472"/>
          </a:xfrm>
          <a:prstGeom prst="rect">
            <a:avLst/>
          </a:prstGeom>
          <a:noFill/>
          <a:ln/>
        </p:spPr>
        <p:txBody>
          <a:bodyPr wrap="square" lIns="0" tIns="0" rIns="0" bIns="0" rtlCol="0" anchor="ctr"/>
          <a:lstStyle/>
          <a:p>
            <a:pPr indent="0" marL="0">
              <a:buNone/>
            </a:pPr>
            <a:r>
              <a:rPr lang="en-US" sz="1100" dirty="0">
                <a:solidFill>
                  <a:srgbClr val="000000"/>
                </a:solidFill>
              </a:rPr>
              <a:t>✅</a:t>
            </a:r>
            <a:endParaRPr lang="en-US" sz="1100" dirty="0"/>
          </a:p>
        </p:txBody>
      </p:sp>
      <p:sp>
        <p:nvSpPr>
          <p:cNvPr id="10" name="Text 8"/>
          <p:cNvSpPr/>
          <p:nvPr/>
        </p:nvSpPr>
        <p:spPr>
          <a:xfrm>
            <a:off x="841248" y="1993392"/>
            <a:ext cx="4663440" cy="34747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Four-layer medallion pipeline: Staging → Bronze → Silver → Gold</a:t>
            </a:r>
            <a:endParaRPr lang="en-US" sz="900" dirty="0"/>
          </a:p>
        </p:txBody>
      </p:sp>
      <p:sp>
        <p:nvSpPr>
          <p:cNvPr id="11" name="Text 9"/>
          <p:cNvSpPr/>
          <p:nvPr/>
        </p:nvSpPr>
        <p:spPr>
          <a:xfrm>
            <a:off x="457200" y="2414016"/>
            <a:ext cx="347472" cy="347472"/>
          </a:xfrm>
          <a:prstGeom prst="rect">
            <a:avLst/>
          </a:prstGeom>
          <a:noFill/>
          <a:ln/>
        </p:spPr>
        <p:txBody>
          <a:bodyPr wrap="square" lIns="0" tIns="0" rIns="0" bIns="0" rtlCol="0" anchor="ctr"/>
          <a:lstStyle/>
          <a:p>
            <a:pPr indent="0" marL="0">
              <a:buNone/>
            </a:pPr>
            <a:r>
              <a:rPr lang="en-US" sz="1100" dirty="0">
                <a:solidFill>
                  <a:srgbClr val="000000"/>
                </a:solidFill>
              </a:rPr>
              <a:t>✅</a:t>
            </a:r>
            <a:endParaRPr lang="en-US" sz="1100" dirty="0"/>
          </a:p>
        </p:txBody>
      </p:sp>
      <p:sp>
        <p:nvSpPr>
          <p:cNvPr id="12" name="Text 10"/>
          <p:cNvSpPr/>
          <p:nvPr/>
        </p:nvSpPr>
        <p:spPr>
          <a:xfrm>
            <a:off x="841248" y="2414016"/>
            <a:ext cx="4663440" cy="34747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Dual-publish: PBDW (BI/Reporting) + IMDW (Risk/Quant) — parallel, independent</a:t>
            </a:r>
            <a:endParaRPr lang="en-US" sz="900" dirty="0"/>
          </a:p>
        </p:txBody>
      </p:sp>
      <p:sp>
        <p:nvSpPr>
          <p:cNvPr id="13" name="Text 11"/>
          <p:cNvSpPr/>
          <p:nvPr/>
        </p:nvSpPr>
        <p:spPr>
          <a:xfrm>
            <a:off x="457200" y="2834640"/>
            <a:ext cx="347472" cy="347472"/>
          </a:xfrm>
          <a:prstGeom prst="rect">
            <a:avLst/>
          </a:prstGeom>
          <a:noFill/>
          <a:ln/>
        </p:spPr>
        <p:txBody>
          <a:bodyPr wrap="square" lIns="0" tIns="0" rIns="0" bIns="0" rtlCol="0" anchor="ctr"/>
          <a:lstStyle/>
          <a:p>
            <a:pPr indent="0" marL="0">
              <a:buNone/>
            </a:pPr>
            <a:r>
              <a:rPr lang="en-US" sz="1100" dirty="0">
                <a:solidFill>
                  <a:srgbClr val="000000"/>
                </a:solidFill>
              </a:rPr>
              <a:t>✅</a:t>
            </a:r>
            <a:endParaRPr lang="en-US" sz="1100" dirty="0"/>
          </a:p>
        </p:txBody>
      </p:sp>
      <p:sp>
        <p:nvSpPr>
          <p:cNvPr id="14" name="Text 12"/>
          <p:cNvSpPr/>
          <p:nvPr/>
        </p:nvSpPr>
        <p:spPr>
          <a:xfrm>
            <a:off x="841248" y="2834640"/>
            <a:ext cx="4663440" cy="34747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Five error scenarios — catalog-driven, zero hardcoded logic</a:t>
            </a:r>
            <a:endParaRPr lang="en-US" sz="900" dirty="0"/>
          </a:p>
        </p:txBody>
      </p:sp>
      <p:sp>
        <p:nvSpPr>
          <p:cNvPr id="15" name="Text 13"/>
          <p:cNvSpPr/>
          <p:nvPr/>
        </p:nvSpPr>
        <p:spPr>
          <a:xfrm>
            <a:off x="457200" y="3255264"/>
            <a:ext cx="347472" cy="347472"/>
          </a:xfrm>
          <a:prstGeom prst="rect">
            <a:avLst/>
          </a:prstGeom>
          <a:noFill/>
          <a:ln/>
        </p:spPr>
        <p:txBody>
          <a:bodyPr wrap="square" lIns="0" tIns="0" rIns="0" bIns="0" rtlCol="0" anchor="ctr"/>
          <a:lstStyle/>
          <a:p>
            <a:pPr indent="0" marL="0">
              <a:buNone/>
            </a:pPr>
            <a:r>
              <a:rPr lang="en-US" sz="1100" dirty="0">
                <a:solidFill>
                  <a:srgbClr val="000000"/>
                </a:solidFill>
              </a:rPr>
              <a:t>✅</a:t>
            </a:r>
            <a:endParaRPr lang="en-US" sz="1100" dirty="0"/>
          </a:p>
        </p:txBody>
      </p:sp>
      <p:sp>
        <p:nvSpPr>
          <p:cNvPr id="16" name="Text 14"/>
          <p:cNvSpPr/>
          <p:nvPr/>
        </p:nvSpPr>
        <p:spPr>
          <a:xfrm>
            <a:off x="841248" y="3255264"/>
            <a:ext cx="4663440" cy="34747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Three file scenarios — late arrival, backfill, SCD2 corrections + audit trail</a:t>
            </a:r>
            <a:endParaRPr lang="en-US" sz="900" dirty="0"/>
          </a:p>
        </p:txBody>
      </p:sp>
      <p:sp>
        <p:nvSpPr>
          <p:cNvPr id="17" name="Text 15"/>
          <p:cNvSpPr/>
          <p:nvPr/>
        </p:nvSpPr>
        <p:spPr>
          <a:xfrm>
            <a:off x="457200" y="3675888"/>
            <a:ext cx="347472" cy="347472"/>
          </a:xfrm>
          <a:prstGeom prst="rect">
            <a:avLst/>
          </a:prstGeom>
          <a:noFill/>
          <a:ln/>
        </p:spPr>
        <p:txBody>
          <a:bodyPr wrap="square" lIns="0" tIns="0" rIns="0" bIns="0" rtlCol="0" anchor="ctr"/>
          <a:lstStyle/>
          <a:p>
            <a:pPr indent="0" marL="0">
              <a:buNone/>
            </a:pPr>
            <a:r>
              <a:rPr lang="en-US" sz="1100" dirty="0">
                <a:solidFill>
                  <a:srgbClr val="000000"/>
                </a:solidFill>
              </a:rPr>
              <a:t>✅</a:t>
            </a:r>
            <a:endParaRPr lang="en-US" sz="1100" dirty="0"/>
          </a:p>
        </p:txBody>
      </p:sp>
      <p:sp>
        <p:nvSpPr>
          <p:cNvPr id="18" name="Text 16"/>
          <p:cNvSpPr/>
          <p:nvPr/>
        </p:nvSpPr>
        <p:spPr>
          <a:xfrm>
            <a:off x="841248" y="3675888"/>
            <a:ext cx="4663440" cy="34747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Developer platform — production-parity image, one-command setup in &lt; 2 min</a:t>
            </a:r>
            <a:endParaRPr lang="en-US" sz="900" dirty="0"/>
          </a:p>
        </p:txBody>
      </p:sp>
      <p:sp>
        <p:nvSpPr>
          <p:cNvPr id="19" name="Text 17"/>
          <p:cNvSpPr/>
          <p:nvPr/>
        </p:nvSpPr>
        <p:spPr>
          <a:xfrm>
            <a:off x="457200" y="4096512"/>
            <a:ext cx="347472" cy="347472"/>
          </a:xfrm>
          <a:prstGeom prst="rect">
            <a:avLst/>
          </a:prstGeom>
          <a:noFill/>
          <a:ln/>
        </p:spPr>
        <p:txBody>
          <a:bodyPr wrap="square" lIns="0" tIns="0" rIns="0" bIns="0" rtlCol="0" anchor="ctr"/>
          <a:lstStyle/>
          <a:p>
            <a:pPr indent="0" marL="0">
              <a:buNone/>
            </a:pPr>
            <a:r>
              <a:rPr lang="en-US" sz="1100" dirty="0">
                <a:solidFill>
                  <a:srgbClr val="000000"/>
                </a:solidFill>
              </a:rPr>
              <a:t>✅</a:t>
            </a:r>
            <a:endParaRPr lang="en-US" sz="1100" dirty="0"/>
          </a:p>
        </p:txBody>
      </p:sp>
      <p:sp>
        <p:nvSpPr>
          <p:cNvPr id="20" name="Text 18"/>
          <p:cNvSpPr/>
          <p:nvPr/>
        </p:nvSpPr>
        <p:spPr>
          <a:xfrm>
            <a:off x="841248" y="4096512"/>
            <a:ext cx="4663440" cy="347472"/>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Full Oracle compatibility: NUMBER(1), TO_DATE(), ORA_HASH, CAST()</a:t>
            </a:r>
            <a:endParaRPr lang="en-US" sz="900" dirty="0"/>
          </a:p>
        </p:txBody>
      </p:sp>
      <p:sp>
        <p:nvSpPr>
          <p:cNvPr id="21" name="Shape 19"/>
          <p:cNvSpPr/>
          <p:nvPr/>
        </p:nvSpPr>
        <p:spPr>
          <a:xfrm>
            <a:off x="5760720" y="1170432"/>
            <a:ext cx="3063240" cy="3456432"/>
          </a:xfrm>
          <a:prstGeom prst="roundRect">
            <a:avLst>
              <a:gd name="adj" fmla="val 2985"/>
            </a:avLst>
          </a:prstGeom>
          <a:solidFill>
            <a:srgbClr val="1E3A50"/>
          </a:solidFill>
          <a:ln w="12700">
            <a:solidFill>
              <a:srgbClr val="C9A84C"/>
            </a:solidFill>
            <a:prstDash val="solid"/>
          </a:ln>
        </p:spPr>
      </p:sp>
      <p:sp>
        <p:nvSpPr>
          <p:cNvPr id="22" name="Text 20"/>
          <p:cNvSpPr/>
          <p:nvPr/>
        </p:nvSpPr>
        <p:spPr>
          <a:xfrm>
            <a:off x="5897880" y="1261872"/>
            <a:ext cx="2788920" cy="256032"/>
          </a:xfrm>
          <a:prstGeom prst="rect">
            <a:avLst/>
          </a:prstGeom>
          <a:noFill/>
          <a:ln/>
        </p:spPr>
        <p:txBody>
          <a:bodyPr wrap="square" lIns="0" tIns="0" rIns="0" bIns="0" rtlCol="0" anchor="ctr"/>
          <a:lstStyle/>
          <a:p>
            <a:pPr indent="0" marL="0">
              <a:buNone/>
            </a:pPr>
            <a:r>
              <a:rPr lang="en-US" sz="900" b="1" spc="200" kern="0" dirty="0">
                <a:solidFill>
                  <a:srgbClr val="C9A84C"/>
                </a:solidFill>
                <a:latin typeface="Calibri" pitchFamily="34" charset="0"/>
                <a:ea typeface="Calibri" pitchFamily="34" charset="-122"/>
                <a:cs typeface="Calibri" pitchFamily="34" charset="-120"/>
              </a:rPr>
              <a:t>NEXT PHASE</a:t>
            </a:r>
            <a:endParaRPr lang="en-US" sz="900" dirty="0"/>
          </a:p>
        </p:txBody>
      </p:sp>
      <p:sp>
        <p:nvSpPr>
          <p:cNvPr id="23" name="Text 21"/>
          <p:cNvSpPr/>
          <p:nvPr/>
        </p:nvSpPr>
        <p:spPr>
          <a:xfrm>
            <a:off x="5897880" y="1627632"/>
            <a:ext cx="347472" cy="347472"/>
          </a:xfrm>
          <a:prstGeom prst="rect">
            <a:avLst/>
          </a:prstGeom>
          <a:noFill/>
          <a:ln/>
        </p:spPr>
        <p:txBody>
          <a:bodyPr wrap="square" lIns="0" tIns="0" rIns="0" bIns="0" rtlCol="0" anchor="ctr"/>
          <a:lstStyle/>
          <a:p>
            <a:pPr indent="0" marL="0">
              <a:buNone/>
            </a:pPr>
            <a:r>
              <a:rPr lang="en-US" sz="1100" dirty="0">
                <a:solidFill>
                  <a:srgbClr val="000000"/>
                </a:solidFill>
              </a:rPr>
              <a:t>🔜</a:t>
            </a:r>
            <a:endParaRPr lang="en-US" sz="1100" dirty="0"/>
          </a:p>
        </p:txBody>
      </p:sp>
      <p:sp>
        <p:nvSpPr>
          <p:cNvPr id="24" name="Text 22"/>
          <p:cNvSpPr/>
          <p:nvPr/>
        </p:nvSpPr>
        <p:spPr>
          <a:xfrm>
            <a:off x="6263640" y="1600200"/>
            <a:ext cx="2423160" cy="822960"/>
          </a:xfrm>
          <a:prstGeom prst="rect">
            <a:avLst/>
          </a:prstGeom>
          <a:noFill/>
          <a:ln/>
        </p:spPr>
        <p:txBody>
          <a:bodyPr wrap="square" lIns="0" tIns="0" rIns="0" bIns="0" rtlCol="0" anchor="t"/>
          <a:lstStyle/>
          <a:p>
            <a:pPr indent="0" marL="0">
              <a:buNone/>
            </a:pPr>
            <a:r>
              <a:rPr lang="en-US" sz="900" dirty="0">
                <a:solidFill>
                  <a:srgbClr val="FFFFFF"/>
                </a:solidFill>
                <a:latin typeface="Calibri" pitchFamily="34" charset="0"/>
                <a:ea typeface="Calibri" pitchFamily="34" charset="-122"/>
                <a:cs typeface="Calibri" pitchFamily="34" charset="-120"/>
              </a:rPr>
              <a:t>CI/CD governance pipeline — four-stage automated guard rail from commit to deployment</a:t>
            </a:r>
            <a:endParaRPr lang="en-US" sz="900" dirty="0"/>
          </a:p>
        </p:txBody>
      </p:sp>
      <p:sp>
        <p:nvSpPr>
          <p:cNvPr id="25" name="Text 23"/>
          <p:cNvSpPr/>
          <p:nvPr/>
        </p:nvSpPr>
        <p:spPr>
          <a:xfrm>
            <a:off x="5897880" y="2633472"/>
            <a:ext cx="347472" cy="347472"/>
          </a:xfrm>
          <a:prstGeom prst="rect">
            <a:avLst/>
          </a:prstGeom>
          <a:noFill/>
          <a:ln/>
        </p:spPr>
        <p:txBody>
          <a:bodyPr wrap="square" lIns="0" tIns="0" rIns="0" bIns="0" rtlCol="0" anchor="ctr"/>
          <a:lstStyle/>
          <a:p>
            <a:pPr indent="0" marL="0">
              <a:buNone/>
            </a:pPr>
            <a:r>
              <a:rPr lang="en-US" sz="1100" dirty="0">
                <a:solidFill>
                  <a:srgbClr val="000000"/>
                </a:solidFill>
              </a:rPr>
              <a:t>🔜</a:t>
            </a:r>
            <a:endParaRPr lang="en-US" sz="1100" dirty="0"/>
          </a:p>
        </p:txBody>
      </p:sp>
      <p:sp>
        <p:nvSpPr>
          <p:cNvPr id="26" name="Text 24"/>
          <p:cNvSpPr/>
          <p:nvPr/>
        </p:nvSpPr>
        <p:spPr>
          <a:xfrm>
            <a:off x="6263640" y="2606040"/>
            <a:ext cx="2423160" cy="822960"/>
          </a:xfrm>
          <a:prstGeom prst="rect">
            <a:avLst/>
          </a:prstGeom>
          <a:noFill/>
          <a:ln/>
        </p:spPr>
        <p:txBody>
          <a:bodyPr wrap="square" lIns="0" tIns="0" rIns="0" bIns="0" rtlCol="0" anchor="t"/>
          <a:lstStyle/>
          <a:p>
            <a:pPr indent="0" marL="0">
              <a:buNone/>
            </a:pPr>
            <a:r>
              <a:rPr lang="en-US" sz="900" dirty="0">
                <a:solidFill>
                  <a:srgbClr val="FFFFFF"/>
                </a:solidFill>
                <a:latin typeface="Calibri" pitchFamily="34" charset="0"/>
                <a:ea typeface="Calibri" pitchFamily="34" charset="-122"/>
                <a:cs typeface="Calibri" pitchFamily="34" charset="-120"/>
              </a:rPr>
              <a:t>OpenMetadata deployment — cross-project lineage and business glossary</a:t>
            </a:r>
            <a:endParaRPr lang="en-US" sz="900" dirty="0"/>
          </a:p>
        </p:txBody>
      </p:sp>
      <p:sp>
        <p:nvSpPr>
          <p:cNvPr id="27" name="Text 25"/>
          <p:cNvSpPr/>
          <p:nvPr/>
        </p:nvSpPr>
        <p:spPr>
          <a:xfrm>
            <a:off x="5897880" y="3639312"/>
            <a:ext cx="347472" cy="347472"/>
          </a:xfrm>
          <a:prstGeom prst="rect">
            <a:avLst/>
          </a:prstGeom>
          <a:noFill/>
          <a:ln/>
        </p:spPr>
        <p:txBody>
          <a:bodyPr wrap="square" lIns="0" tIns="0" rIns="0" bIns="0" rtlCol="0" anchor="ctr"/>
          <a:lstStyle/>
          <a:p>
            <a:pPr indent="0" marL="0">
              <a:buNone/>
            </a:pPr>
            <a:r>
              <a:rPr lang="en-US" sz="1100" dirty="0">
                <a:solidFill>
                  <a:srgbClr val="000000"/>
                </a:solidFill>
              </a:rPr>
              <a:t>🔜</a:t>
            </a:r>
            <a:endParaRPr lang="en-US" sz="1100" dirty="0"/>
          </a:p>
        </p:txBody>
      </p:sp>
      <p:sp>
        <p:nvSpPr>
          <p:cNvPr id="28" name="Text 26"/>
          <p:cNvSpPr/>
          <p:nvPr/>
        </p:nvSpPr>
        <p:spPr>
          <a:xfrm>
            <a:off x="6263640" y="3611880"/>
            <a:ext cx="2423160" cy="822960"/>
          </a:xfrm>
          <a:prstGeom prst="rect">
            <a:avLst/>
          </a:prstGeom>
          <a:noFill/>
          <a:ln/>
        </p:spPr>
        <p:txBody>
          <a:bodyPr wrap="square" lIns="0" tIns="0" rIns="0" bIns="0" rtlCol="0" anchor="t"/>
          <a:lstStyle/>
          <a:p>
            <a:pPr indent="0" marL="0">
              <a:buNone/>
            </a:pPr>
            <a:r>
              <a:rPr lang="en-US" sz="900" dirty="0">
                <a:solidFill>
                  <a:srgbClr val="FFFFFF"/>
                </a:solidFill>
                <a:latin typeface="Calibri" pitchFamily="34" charset="0"/>
                <a:ea typeface="Calibri" pitchFamily="34" charset="-122"/>
                <a:cs typeface="Calibri" pitchFamily="34" charset="-120"/>
              </a:rPr>
              <a:t>Oracle performance benchmarking at scale — SLA validation before production</a:t>
            </a:r>
            <a:endParaRPr lang="en-US" sz="900" dirty="0"/>
          </a:p>
        </p:txBody>
      </p:sp>
      <p:sp>
        <p:nvSpPr>
          <p:cNvPr id="29" name="Text 27"/>
          <p:cNvSpPr/>
          <p:nvPr/>
        </p:nvSpPr>
        <p:spPr>
          <a:xfrm>
            <a:off x="320040" y="4718304"/>
            <a:ext cx="8503920" cy="256032"/>
          </a:xfrm>
          <a:prstGeom prst="rect">
            <a:avLst/>
          </a:prstGeom>
          <a:noFill/>
          <a:ln/>
        </p:spPr>
        <p:txBody>
          <a:bodyPr wrap="square" lIns="0" tIns="0" rIns="0" bIns="0" rtlCol="0" anchor="ctr"/>
          <a:lstStyle/>
          <a:p>
            <a:pPr algn="ctr" indent="0" marL="0">
              <a:buNone/>
            </a:pPr>
            <a:r>
              <a:rPr lang="en-US" sz="1400" b="1" dirty="0">
                <a:solidFill>
                  <a:srgbClr val="C9A84C"/>
                </a:solidFill>
                <a:latin typeface="Cambria" pitchFamily="34" charset="0"/>
                <a:ea typeface="Cambria" pitchFamily="34" charset="-122"/>
                <a:cs typeface="Cambria" pitchFamily="34" charset="-120"/>
              </a:rPr>
              <a:t>Questions?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1F5C6B"/>
          </a:solidFill>
          <a:ln w="12700">
            <a:solidFill>
              <a:srgbClr val="1F5C6B"/>
            </a:solidFill>
            <a:prstDash val="solid"/>
          </a:ln>
        </p:spPr>
      </p:sp>
      <p:sp>
        <p:nvSpPr>
          <p:cNvPr id="3" name="Shape 1"/>
          <p:cNvSpPr/>
          <p:nvPr/>
        </p:nvSpPr>
        <p:spPr>
          <a:xfrm>
            <a:off x="201168" y="0"/>
            <a:ext cx="8942832" cy="685800"/>
          </a:xfrm>
          <a:prstGeom prst="rect">
            <a:avLst/>
          </a:prstGeom>
          <a:solidFill>
            <a:srgbClr val="1A2F4A"/>
          </a:solidFill>
          <a:ln w="12700">
            <a:solidFill>
              <a:srgbClr val="1A2F4A"/>
            </a:solidFill>
            <a:prstDash val="solid"/>
          </a:ln>
        </p:spPr>
      </p:sp>
      <p:sp>
        <p:nvSpPr>
          <p:cNvPr id="4" name="Text 2"/>
          <p:cNvSpPr/>
          <p:nvPr/>
        </p:nvSpPr>
        <p:spPr>
          <a:xfrm>
            <a:off x="384048" y="54864"/>
            <a:ext cx="5943600" cy="56692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CI/CD Pipeline Flow</a:t>
            </a:r>
            <a:endParaRPr lang="en-US" sz="2000" dirty="0"/>
          </a:p>
        </p:txBody>
      </p:sp>
      <p:sp>
        <p:nvSpPr>
          <p:cNvPr id="5" name="Text 3"/>
          <p:cNvSpPr/>
          <p:nvPr/>
        </p:nvSpPr>
        <p:spPr>
          <a:xfrm>
            <a:off x="384048" y="54864"/>
            <a:ext cx="8412480" cy="566928"/>
          </a:xfrm>
          <a:prstGeom prst="rect">
            <a:avLst/>
          </a:prstGeom>
          <a:noFill/>
          <a:ln/>
        </p:spPr>
        <p:txBody>
          <a:bodyPr wrap="square" lIns="0" tIns="0" rIns="0" bIns="0" rtlCol="0" anchor="ctr"/>
          <a:lstStyle/>
          <a:p>
            <a:pPr algn="r" indent="0" marL="0">
              <a:buNone/>
            </a:pPr>
            <a:r>
              <a:rPr lang="en-US" sz="1100" dirty="0">
                <a:solidFill>
                  <a:srgbClr val="F0D98C"/>
                </a:solidFill>
                <a:latin typeface="Calibri" pitchFamily="34" charset="0"/>
                <a:ea typeface="Calibri" pitchFamily="34" charset="-122"/>
                <a:cs typeface="Calibri" pitchFamily="34" charset="-120"/>
              </a:rPr>
              <a:t>Git Push → Jenkins Guard Rails → Report → Approval Gate</a:t>
            </a:r>
            <a:endParaRPr lang="en-US" sz="1100" dirty="0"/>
          </a:p>
        </p:txBody>
      </p:sp>
      <p:sp>
        <p:nvSpPr>
          <p:cNvPr id="6" name="Shape 4"/>
          <p:cNvSpPr/>
          <p:nvPr/>
        </p:nvSpPr>
        <p:spPr>
          <a:xfrm>
            <a:off x="201168" y="4919472"/>
            <a:ext cx="8942832" cy="224028"/>
          </a:xfrm>
          <a:prstGeom prst="rect">
            <a:avLst/>
          </a:prstGeom>
          <a:solidFill>
            <a:srgbClr val="D0ECF2"/>
          </a:solidFill>
          <a:ln w="12700">
            <a:solidFill>
              <a:srgbClr val="D0ECF2"/>
            </a:solidFill>
            <a:prstDash val="solid"/>
          </a:ln>
        </p:spPr>
      </p:sp>
      <p:sp>
        <p:nvSpPr>
          <p:cNvPr id="7" name="Text 5"/>
          <p:cNvSpPr/>
          <p:nvPr/>
        </p:nvSpPr>
        <p:spPr>
          <a:xfrm>
            <a:off x="384048" y="4928616"/>
            <a:ext cx="8595360" cy="201168"/>
          </a:xfrm>
          <a:prstGeom prst="rect">
            <a:avLst/>
          </a:prstGeom>
          <a:noFill/>
          <a:ln/>
        </p:spPr>
        <p:txBody>
          <a:bodyPr wrap="square" rtlCol="0" anchor="ctr"/>
          <a:lstStyle/>
          <a:p>
            <a:pPr indent="0" marL="0">
              <a:buNone/>
            </a:pPr>
            <a:r>
              <a:rPr lang="en-US" sz="800" dirty="0">
                <a:solidFill>
                  <a:srgbClr val="1F5C6B"/>
                </a:solidFill>
                <a:latin typeface="Calibri" pitchFamily="34" charset="0"/>
                <a:ea typeface="Calibri" pitchFamily="34" charset="-122"/>
                <a:cs typeface="Calibri" pitchFamily="34" charset="-120"/>
              </a:rPr>
              <a:t>BBH Capital Partners  |  SWP Migration  |  Confidential</a:t>
            </a:r>
            <a:endParaRPr lang="en-US" sz="800" dirty="0"/>
          </a:p>
        </p:txBody>
      </p:sp>
      <p:sp>
        <p:nvSpPr>
          <p:cNvPr id="8" name="Text 6"/>
          <p:cNvSpPr/>
          <p:nvPr/>
        </p:nvSpPr>
        <p:spPr>
          <a:xfrm>
            <a:off x="320040" y="768096"/>
            <a:ext cx="822960" cy="201168"/>
          </a:xfrm>
          <a:prstGeom prst="rect">
            <a:avLst/>
          </a:prstGeom>
          <a:noFill/>
          <a:ln/>
        </p:spPr>
        <p:txBody>
          <a:bodyPr wrap="square" lIns="0" tIns="0" rIns="0" bIns="0" rtlCol="0" anchor="ctr"/>
          <a:lstStyle/>
          <a:p>
            <a:pPr indent="0" marL="0">
              <a:buNone/>
            </a:pPr>
            <a:r>
              <a:rPr lang="en-US" sz="700" b="1" spc="150" kern="0" dirty="0">
                <a:solidFill>
                  <a:srgbClr val="8AAAB5"/>
                </a:solidFill>
                <a:latin typeface="Calibri" pitchFamily="34" charset="0"/>
                <a:ea typeface="Calibri" pitchFamily="34" charset="-122"/>
                <a:cs typeface="Calibri" pitchFamily="34" charset="-120"/>
              </a:rPr>
              <a:t>TRIGGER</a:t>
            </a:r>
            <a:endParaRPr lang="en-US" sz="700" dirty="0"/>
          </a:p>
        </p:txBody>
      </p:sp>
      <p:sp>
        <p:nvSpPr>
          <p:cNvPr id="9" name="Shape 7"/>
          <p:cNvSpPr/>
          <p:nvPr/>
        </p:nvSpPr>
        <p:spPr>
          <a:xfrm>
            <a:off x="320040" y="987552"/>
            <a:ext cx="1188720" cy="658368"/>
          </a:xfrm>
          <a:prstGeom prst="roundRect">
            <a:avLst>
              <a:gd name="adj" fmla="val 9722"/>
            </a:avLst>
          </a:prstGeom>
          <a:solidFill>
            <a:srgbClr val="4A6572"/>
          </a:solidFill>
          <a:ln w="12700">
            <a:solidFill>
              <a:srgbClr val="4A6572"/>
            </a:solidFill>
            <a:prstDash val="solid"/>
          </a:ln>
          <a:effectLst>
            <a:outerShdw sx="100000" sy="100000" kx="0" ky="0" algn="bl" rotWithShape="0" blurRad="101600" dist="38100" dir="2700000">
              <a:srgbClr val="000000">
                <a:alpha val="10000"/>
              </a:srgbClr>
            </a:outerShdw>
          </a:effectLst>
        </p:spPr>
      </p:sp>
      <p:sp>
        <p:nvSpPr>
          <p:cNvPr id="10" name="Text 8"/>
          <p:cNvSpPr/>
          <p:nvPr/>
        </p:nvSpPr>
        <p:spPr>
          <a:xfrm>
            <a:off x="365760" y="1005840"/>
            <a:ext cx="1097280" cy="34747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Developer</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Pushes Code</a:t>
            </a:r>
            <a:endParaRPr lang="en-US" sz="800" dirty="0"/>
          </a:p>
        </p:txBody>
      </p:sp>
      <p:sp>
        <p:nvSpPr>
          <p:cNvPr id="11" name="Text 9"/>
          <p:cNvSpPr/>
          <p:nvPr/>
        </p:nvSpPr>
        <p:spPr>
          <a:xfrm>
            <a:off x="365760" y="1335024"/>
            <a:ext cx="1097280" cy="201168"/>
          </a:xfrm>
          <a:prstGeom prst="rect">
            <a:avLst/>
          </a:prstGeom>
          <a:noFill/>
          <a:ln/>
        </p:spPr>
        <p:txBody>
          <a:bodyPr wrap="square" lIns="0" tIns="0" rIns="0" bIns="0" rtlCol="0" anchor="ctr"/>
          <a:lstStyle/>
          <a:p>
            <a:pPr algn="ctr" indent="0" marL="0">
              <a:buNone/>
            </a:pPr>
            <a:r>
              <a:rPr lang="en-US" sz="700" dirty="0">
                <a:solidFill>
                  <a:srgbClr val="C8E9F0"/>
                </a:solidFill>
                <a:latin typeface="Calibri" pitchFamily="34" charset="0"/>
                <a:ea typeface="Calibri" pitchFamily="34" charset="-122"/>
                <a:cs typeface="Calibri" pitchFamily="34" charset="-120"/>
              </a:rPr>
              <a:t>feature/branch</a:t>
            </a:r>
            <a:endParaRPr lang="en-US" sz="700" dirty="0"/>
          </a:p>
        </p:txBody>
      </p:sp>
      <p:sp>
        <p:nvSpPr>
          <p:cNvPr id="12" name="Shape 10"/>
          <p:cNvSpPr/>
          <p:nvPr/>
        </p:nvSpPr>
        <p:spPr>
          <a:xfrm>
            <a:off x="1527048" y="1316736"/>
            <a:ext cx="164592" cy="0"/>
          </a:xfrm>
          <a:prstGeom prst="line">
            <a:avLst/>
          </a:prstGeom>
          <a:noFill/>
          <a:ln w="19050">
            <a:solidFill>
              <a:srgbClr val="4BA8BE"/>
            </a:solidFill>
            <a:prstDash val="solid"/>
            <a:tailEnd type="triangle"/>
          </a:ln>
        </p:spPr>
      </p:sp>
      <p:sp>
        <p:nvSpPr>
          <p:cNvPr id="13" name="Shape 11"/>
          <p:cNvSpPr/>
          <p:nvPr/>
        </p:nvSpPr>
        <p:spPr>
          <a:xfrm>
            <a:off x="1709928" y="987552"/>
            <a:ext cx="1188720" cy="658368"/>
          </a:xfrm>
          <a:prstGeom prst="roundRect">
            <a:avLst>
              <a:gd name="adj" fmla="val 9722"/>
            </a:avLst>
          </a:prstGeom>
          <a:solidFill>
            <a:srgbClr val="4A6572"/>
          </a:solidFill>
          <a:ln w="12700">
            <a:solidFill>
              <a:srgbClr val="4A6572"/>
            </a:solidFill>
            <a:prstDash val="solid"/>
          </a:ln>
          <a:effectLst>
            <a:outerShdw sx="100000" sy="100000" kx="0" ky="0" algn="bl" rotWithShape="0" blurRad="101600" dist="38100" dir="2700000">
              <a:srgbClr val="000000">
                <a:alpha val="10000"/>
              </a:srgbClr>
            </a:outerShdw>
          </a:effectLst>
        </p:spPr>
      </p:sp>
      <p:sp>
        <p:nvSpPr>
          <p:cNvPr id="14" name="Text 12"/>
          <p:cNvSpPr/>
          <p:nvPr/>
        </p:nvSpPr>
        <p:spPr>
          <a:xfrm>
            <a:off x="1755648" y="1005840"/>
            <a:ext cx="1097280" cy="34747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Git Pre-Push</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Hook Fires</a:t>
            </a:r>
            <a:endParaRPr lang="en-US" sz="800" dirty="0"/>
          </a:p>
        </p:txBody>
      </p:sp>
      <p:sp>
        <p:nvSpPr>
          <p:cNvPr id="15" name="Text 13"/>
          <p:cNvSpPr/>
          <p:nvPr/>
        </p:nvSpPr>
        <p:spPr>
          <a:xfrm>
            <a:off x="1755648" y="1335024"/>
            <a:ext cx="1097280" cy="201168"/>
          </a:xfrm>
          <a:prstGeom prst="rect">
            <a:avLst/>
          </a:prstGeom>
          <a:noFill/>
          <a:ln/>
        </p:spPr>
        <p:txBody>
          <a:bodyPr wrap="square" lIns="0" tIns="0" rIns="0" bIns="0" rtlCol="0" anchor="ctr"/>
          <a:lstStyle/>
          <a:p>
            <a:pPr algn="ctr" indent="0" marL="0">
              <a:buNone/>
            </a:pPr>
            <a:r>
              <a:rPr lang="en-US" sz="700" dirty="0">
                <a:solidFill>
                  <a:srgbClr val="C8E9F0"/>
                </a:solidFill>
                <a:latin typeface="Calibri" pitchFamily="34" charset="0"/>
                <a:ea typeface="Calibri" pitchFamily="34" charset="-122"/>
                <a:cs typeface="Calibri" pitchFamily="34" charset="-120"/>
              </a:rPr>
              <a:t>githooks/pre-push</a:t>
            </a:r>
            <a:endParaRPr lang="en-US" sz="700" dirty="0"/>
          </a:p>
        </p:txBody>
      </p:sp>
      <p:sp>
        <p:nvSpPr>
          <p:cNvPr id="16" name="Shape 14"/>
          <p:cNvSpPr/>
          <p:nvPr/>
        </p:nvSpPr>
        <p:spPr>
          <a:xfrm>
            <a:off x="2916936" y="1316736"/>
            <a:ext cx="164592" cy="0"/>
          </a:xfrm>
          <a:prstGeom prst="line">
            <a:avLst/>
          </a:prstGeom>
          <a:noFill/>
          <a:ln w="19050">
            <a:solidFill>
              <a:srgbClr val="4BA8BE"/>
            </a:solidFill>
            <a:prstDash val="solid"/>
            <a:tailEnd type="triangle"/>
          </a:ln>
        </p:spPr>
      </p:sp>
      <p:sp>
        <p:nvSpPr>
          <p:cNvPr id="17" name="Shape 15"/>
          <p:cNvSpPr/>
          <p:nvPr/>
        </p:nvSpPr>
        <p:spPr>
          <a:xfrm>
            <a:off x="3099816" y="987552"/>
            <a:ext cx="1188720" cy="658368"/>
          </a:xfrm>
          <a:prstGeom prst="roundRect">
            <a:avLst>
              <a:gd name="adj" fmla="val 9722"/>
            </a:avLst>
          </a:prstGeom>
          <a:solidFill>
            <a:srgbClr val="2A7A8C"/>
          </a:solidFill>
          <a:ln w="12700">
            <a:solidFill>
              <a:srgbClr val="2A7A8C"/>
            </a:solidFill>
            <a:prstDash val="solid"/>
          </a:ln>
          <a:effectLst>
            <a:outerShdw sx="100000" sy="100000" kx="0" ky="0" algn="bl" rotWithShape="0" blurRad="101600" dist="38100" dir="2700000">
              <a:srgbClr val="000000">
                <a:alpha val="10000"/>
              </a:srgbClr>
            </a:outerShdw>
          </a:effectLst>
        </p:spPr>
      </p:sp>
      <p:sp>
        <p:nvSpPr>
          <p:cNvPr id="18" name="Text 16"/>
          <p:cNvSpPr/>
          <p:nvPr/>
        </p:nvSpPr>
        <p:spPr>
          <a:xfrm>
            <a:off x="3145536" y="1005840"/>
            <a:ext cx="1097280" cy="34747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GitHub</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Pull Request</a:t>
            </a:r>
            <a:endParaRPr lang="en-US" sz="800" dirty="0"/>
          </a:p>
        </p:txBody>
      </p:sp>
      <p:sp>
        <p:nvSpPr>
          <p:cNvPr id="19" name="Text 17"/>
          <p:cNvSpPr/>
          <p:nvPr/>
        </p:nvSpPr>
        <p:spPr>
          <a:xfrm>
            <a:off x="3145536" y="1335024"/>
            <a:ext cx="1097280" cy="201168"/>
          </a:xfrm>
          <a:prstGeom prst="rect">
            <a:avLst/>
          </a:prstGeom>
          <a:noFill/>
          <a:ln/>
        </p:spPr>
        <p:txBody>
          <a:bodyPr wrap="square" lIns="0" tIns="0" rIns="0" bIns="0" rtlCol="0" anchor="ctr"/>
          <a:lstStyle/>
          <a:p>
            <a:pPr algn="ctr" indent="0" marL="0">
              <a:buNone/>
            </a:pPr>
            <a:r>
              <a:rPr lang="en-US" sz="700" dirty="0">
                <a:solidFill>
                  <a:srgbClr val="C8E9F0"/>
                </a:solidFill>
                <a:latin typeface="Calibri" pitchFamily="34" charset="0"/>
                <a:ea typeface="Calibri" pitchFamily="34" charset="-122"/>
                <a:cs typeface="Calibri" pitchFamily="34" charset="-120"/>
              </a:rPr>
              <a:t>peer review gate</a:t>
            </a:r>
            <a:endParaRPr lang="en-US" sz="700" dirty="0"/>
          </a:p>
        </p:txBody>
      </p:sp>
      <p:sp>
        <p:nvSpPr>
          <p:cNvPr id="20" name="Shape 18"/>
          <p:cNvSpPr/>
          <p:nvPr/>
        </p:nvSpPr>
        <p:spPr>
          <a:xfrm>
            <a:off x="4306824" y="1316736"/>
            <a:ext cx="164592" cy="0"/>
          </a:xfrm>
          <a:prstGeom prst="line">
            <a:avLst/>
          </a:prstGeom>
          <a:noFill/>
          <a:ln w="19050">
            <a:solidFill>
              <a:srgbClr val="4BA8BE"/>
            </a:solidFill>
            <a:prstDash val="solid"/>
            <a:tailEnd type="triangle"/>
          </a:ln>
        </p:spPr>
      </p:sp>
      <p:sp>
        <p:nvSpPr>
          <p:cNvPr id="21" name="Shape 19"/>
          <p:cNvSpPr/>
          <p:nvPr/>
        </p:nvSpPr>
        <p:spPr>
          <a:xfrm>
            <a:off x="4489704" y="987552"/>
            <a:ext cx="1417320" cy="658368"/>
          </a:xfrm>
          <a:prstGeom prst="roundRect">
            <a:avLst>
              <a:gd name="adj" fmla="val 9722"/>
            </a:avLst>
          </a:prstGeom>
          <a:solidFill>
            <a:srgbClr val="1F5C6B"/>
          </a:solidFill>
          <a:ln w="12700">
            <a:solidFill>
              <a:srgbClr val="1F5C6B"/>
            </a:solidFill>
            <a:prstDash val="solid"/>
          </a:ln>
          <a:effectLst>
            <a:outerShdw sx="100000" sy="100000" kx="0" ky="0" algn="bl" rotWithShape="0" blurRad="101600" dist="38100" dir="2700000">
              <a:srgbClr val="000000">
                <a:alpha val="10000"/>
              </a:srgbClr>
            </a:outerShdw>
          </a:effectLst>
        </p:spPr>
      </p:sp>
      <p:sp>
        <p:nvSpPr>
          <p:cNvPr id="22" name="Text 20"/>
          <p:cNvSpPr/>
          <p:nvPr/>
        </p:nvSpPr>
        <p:spPr>
          <a:xfrm>
            <a:off x="4535424" y="1005840"/>
            <a:ext cx="1325880" cy="34747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Jenkins Pipeline</a:t>
            </a:r>
            <a:endParaRPr lang="en-US" sz="800" dirty="0"/>
          </a:p>
          <a:p>
            <a:pPr algn="ctr" indent="0" marL="0">
              <a:buNone/>
            </a:pPr>
            <a:r>
              <a:rPr lang="en-US" sz="800" b="1" dirty="0">
                <a:solidFill>
                  <a:srgbClr val="FFFFFF"/>
                </a:solidFill>
                <a:latin typeface="Calibri" pitchFamily="34" charset="0"/>
                <a:ea typeface="Calibri" pitchFamily="34" charset="-122"/>
                <a:cs typeface="Calibri" pitchFamily="34" charset="-120"/>
              </a:rPr>
              <a:t>Triggered</a:t>
            </a:r>
            <a:endParaRPr lang="en-US" sz="800" dirty="0"/>
          </a:p>
        </p:txBody>
      </p:sp>
      <p:sp>
        <p:nvSpPr>
          <p:cNvPr id="23" name="Text 21"/>
          <p:cNvSpPr/>
          <p:nvPr/>
        </p:nvSpPr>
        <p:spPr>
          <a:xfrm>
            <a:off x="4535424" y="1335024"/>
            <a:ext cx="1325880" cy="201168"/>
          </a:xfrm>
          <a:prstGeom prst="rect">
            <a:avLst/>
          </a:prstGeom>
          <a:noFill/>
          <a:ln/>
        </p:spPr>
        <p:txBody>
          <a:bodyPr wrap="square" lIns="0" tIns="0" rIns="0" bIns="0" rtlCol="0" anchor="ctr"/>
          <a:lstStyle/>
          <a:p>
            <a:pPr algn="ctr" indent="0" marL="0">
              <a:buNone/>
            </a:pPr>
            <a:r>
              <a:rPr lang="en-US" sz="700" dirty="0">
                <a:solidFill>
                  <a:srgbClr val="C8E9F0"/>
                </a:solidFill>
                <a:latin typeface="Calibri" pitchFamily="34" charset="0"/>
                <a:ea typeface="Calibri" pitchFamily="34" charset="-122"/>
                <a:cs typeface="Calibri" pitchFamily="34" charset="-120"/>
              </a:rPr>
              <a:t>Jenkinsfile</a:t>
            </a:r>
            <a:endParaRPr lang="en-US" sz="700" dirty="0"/>
          </a:p>
        </p:txBody>
      </p:sp>
      <p:sp>
        <p:nvSpPr>
          <p:cNvPr id="24" name="Shape 22"/>
          <p:cNvSpPr/>
          <p:nvPr/>
        </p:nvSpPr>
        <p:spPr>
          <a:xfrm>
            <a:off x="5559552" y="987552"/>
            <a:ext cx="3264408" cy="658368"/>
          </a:xfrm>
          <a:prstGeom prst="roundRect">
            <a:avLst>
              <a:gd name="adj" fmla="val 9722"/>
            </a:avLst>
          </a:prstGeom>
          <a:solidFill>
            <a:srgbClr val="1A2F4A"/>
          </a:solidFill>
          <a:ln w="19050">
            <a:solidFill>
              <a:srgbClr val="C9A84C"/>
            </a:solidFill>
            <a:prstDash val="solid"/>
          </a:ln>
          <a:effectLst>
            <a:outerShdw sx="100000" sy="100000" kx="0" ky="0" algn="bl" rotWithShape="0" blurRad="101600" dist="38100" dir="2700000">
              <a:srgbClr val="000000">
                <a:alpha val="10000"/>
              </a:srgbClr>
            </a:outerShdw>
          </a:effectLst>
        </p:spPr>
      </p:sp>
      <p:sp>
        <p:nvSpPr>
          <p:cNvPr id="25" name="Text 23"/>
          <p:cNvSpPr/>
          <p:nvPr/>
        </p:nvSpPr>
        <p:spPr>
          <a:xfrm>
            <a:off x="5605272" y="1005840"/>
            <a:ext cx="3172968" cy="310896"/>
          </a:xfrm>
          <a:prstGeom prst="rect">
            <a:avLst/>
          </a:prstGeom>
          <a:noFill/>
          <a:ln/>
        </p:spPr>
        <p:txBody>
          <a:bodyPr wrap="square" lIns="0" tIns="0" rIns="0" bIns="0" rtlCol="0" anchor="ctr"/>
          <a:lstStyle/>
          <a:p>
            <a:pPr algn="ctr" indent="0" marL="0">
              <a:buNone/>
            </a:pPr>
            <a:r>
              <a:rPr lang="en-US" sz="1100" b="1" dirty="0">
                <a:solidFill>
                  <a:srgbClr val="C9A84C"/>
                </a:solidFill>
                <a:latin typeface="Calibri" pitchFamily="34" charset="0"/>
                <a:ea typeface="Calibri" pitchFamily="34" charset="-122"/>
                <a:cs typeface="Calibri" pitchFamily="34" charset="-120"/>
              </a:rPr>
              <a:t>⚙  Jenkins Pipeline</a:t>
            </a:r>
            <a:endParaRPr lang="en-US" sz="1100" dirty="0"/>
          </a:p>
        </p:txBody>
      </p:sp>
      <p:sp>
        <p:nvSpPr>
          <p:cNvPr id="26" name="Text 24"/>
          <p:cNvSpPr/>
          <p:nvPr/>
        </p:nvSpPr>
        <p:spPr>
          <a:xfrm>
            <a:off x="5605272" y="1316736"/>
            <a:ext cx="3172968" cy="201168"/>
          </a:xfrm>
          <a:prstGeom prst="rect">
            <a:avLst/>
          </a:prstGeom>
          <a:noFill/>
          <a:ln/>
        </p:spPr>
        <p:txBody>
          <a:bodyPr wrap="square" lIns="0" tIns="0" rIns="0" bIns="0" rtlCol="0" anchor="ctr"/>
          <a:lstStyle/>
          <a:p>
            <a:pPr algn="ctr" indent="0" marL="0">
              <a:buNone/>
            </a:pPr>
            <a:r>
              <a:rPr lang="en-US" sz="750" dirty="0">
                <a:solidFill>
                  <a:srgbClr val="8AAAB5"/>
                </a:solidFill>
                <a:latin typeface="Calibri" pitchFamily="34" charset="0"/>
                <a:ea typeface="Calibri" pitchFamily="34" charset="-122"/>
                <a:cs typeface="Calibri" pitchFamily="34" charset="-120"/>
              </a:rPr>
              <a:t>Jenkinsfile  •  cp-airflow-agent  •  OpenShift</a:t>
            </a:r>
            <a:endParaRPr lang="en-US" sz="750" dirty="0"/>
          </a:p>
        </p:txBody>
      </p:sp>
      <p:sp>
        <p:nvSpPr>
          <p:cNvPr id="27" name="Text 25"/>
          <p:cNvSpPr/>
          <p:nvPr/>
        </p:nvSpPr>
        <p:spPr>
          <a:xfrm>
            <a:off x="320040" y="1773936"/>
            <a:ext cx="8503920" cy="201168"/>
          </a:xfrm>
          <a:prstGeom prst="rect">
            <a:avLst/>
          </a:prstGeom>
          <a:noFill/>
          <a:ln/>
        </p:spPr>
        <p:txBody>
          <a:bodyPr wrap="square" lIns="0" tIns="0" rIns="0" bIns="0" rtlCol="0" anchor="ctr"/>
          <a:lstStyle/>
          <a:p>
            <a:pPr indent="0" marL="0">
              <a:buNone/>
            </a:pPr>
            <a:r>
              <a:rPr lang="en-US" sz="800" b="1" spc="50" kern="0" dirty="0">
                <a:solidFill>
                  <a:srgbClr val="1F5C6B"/>
                </a:solidFill>
                <a:latin typeface="Calibri" pitchFamily="34" charset="0"/>
                <a:ea typeface="Calibri" pitchFamily="34" charset="-122"/>
                <a:cs typeface="Calibri" pitchFamily="34" charset="-120"/>
              </a:rPr>
              <a:t>PIPELINE STAGES — Runs automatically on every push</a:t>
            </a:r>
            <a:endParaRPr lang="en-US" sz="800" dirty="0"/>
          </a:p>
        </p:txBody>
      </p:sp>
      <p:sp>
        <p:nvSpPr>
          <p:cNvPr id="28" name="Shape 26"/>
          <p:cNvSpPr/>
          <p:nvPr/>
        </p:nvSpPr>
        <p:spPr>
          <a:xfrm>
            <a:off x="320040" y="2029968"/>
            <a:ext cx="2066544" cy="2286000"/>
          </a:xfrm>
          <a:prstGeom prst="roundRect">
            <a:avLst>
              <a:gd name="adj" fmla="val 3540"/>
            </a:avLst>
          </a:prstGeom>
          <a:solidFill>
            <a:srgbClr val="FFFFFF"/>
          </a:solidFill>
          <a:ln w="15240">
            <a:solidFill>
              <a:srgbClr val="D0ECF2"/>
            </a:solidFill>
            <a:prstDash val="solid"/>
          </a:ln>
          <a:effectLst>
            <a:outerShdw sx="100000" sy="100000" kx="0" ky="0" algn="bl" rotWithShape="0" blurRad="101600" dist="38100" dir="2700000">
              <a:srgbClr val="000000">
                <a:alpha val="10000"/>
              </a:srgbClr>
            </a:outerShdw>
          </a:effectLst>
        </p:spPr>
      </p:sp>
      <p:sp>
        <p:nvSpPr>
          <p:cNvPr id="29" name="Shape 27"/>
          <p:cNvSpPr/>
          <p:nvPr/>
        </p:nvSpPr>
        <p:spPr>
          <a:xfrm>
            <a:off x="320040" y="2029968"/>
            <a:ext cx="2066544" cy="530352"/>
          </a:xfrm>
          <a:prstGeom prst="roundRect">
            <a:avLst>
              <a:gd name="adj" fmla="val 12069"/>
            </a:avLst>
          </a:prstGeom>
          <a:solidFill>
            <a:srgbClr val="1F5C6B"/>
          </a:solidFill>
          <a:ln w="12700">
            <a:solidFill>
              <a:srgbClr val="1F5C6B"/>
            </a:solidFill>
            <a:prstDash val="solid"/>
          </a:ln>
        </p:spPr>
      </p:sp>
      <p:sp>
        <p:nvSpPr>
          <p:cNvPr id="30" name="Shape 28"/>
          <p:cNvSpPr/>
          <p:nvPr/>
        </p:nvSpPr>
        <p:spPr>
          <a:xfrm>
            <a:off x="411480" y="2139696"/>
            <a:ext cx="310896" cy="310896"/>
          </a:xfrm>
          <a:prstGeom prst="ellipse">
            <a:avLst/>
          </a:prstGeom>
          <a:solidFill>
            <a:srgbClr val="FFFFFF"/>
          </a:solidFill>
          <a:ln w="12700">
            <a:solidFill>
              <a:srgbClr val="FFFFFF"/>
            </a:solidFill>
            <a:prstDash val="solid"/>
          </a:ln>
        </p:spPr>
      </p:sp>
      <p:sp>
        <p:nvSpPr>
          <p:cNvPr id="31" name="Text 29"/>
          <p:cNvSpPr/>
          <p:nvPr/>
        </p:nvSpPr>
        <p:spPr>
          <a:xfrm>
            <a:off x="411480" y="2139696"/>
            <a:ext cx="310896" cy="310896"/>
          </a:xfrm>
          <a:prstGeom prst="rect">
            <a:avLst/>
          </a:prstGeom>
          <a:noFill/>
          <a:ln/>
        </p:spPr>
        <p:txBody>
          <a:bodyPr wrap="square" lIns="0" tIns="0" rIns="0" bIns="0" rtlCol="0" anchor="ctr"/>
          <a:lstStyle/>
          <a:p>
            <a:pPr algn="ctr" indent="0" marL="0">
              <a:buNone/>
            </a:pPr>
            <a:r>
              <a:rPr lang="en-US" sz="1000" b="1" dirty="0">
                <a:solidFill>
                  <a:srgbClr val="1F5C6B"/>
                </a:solidFill>
                <a:latin typeface="Calibri" pitchFamily="34" charset="0"/>
                <a:ea typeface="Calibri" pitchFamily="34" charset="-122"/>
                <a:cs typeface="Calibri" pitchFamily="34" charset="-120"/>
              </a:rPr>
              <a:t>1</a:t>
            </a:r>
            <a:endParaRPr lang="en-US" sz="1000" dirty="0"/>
          </a:p>
        </p:txBody>
      </p:sp>
      <p:sp>
        <p:nvSpPr>
          <p:cNvPr id="32" name="Text 30"/>
          <p:cNvSpPr/>
          <p:nvPr/>
        </p:nvSpPr>
        <p:spPr>
          <a:xfrm>
            <a:off x="795528" y="2066544"/>
            <a:ext cx="1499616" cy="45720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Data Engineering</a:t>
            </a:r>
            <a:endParaRPr lang="en-US" sz="900" dirty="0"/>
          </a:p>
          <a:p>
            <a:pPr indent="0" marL="0">
              <a:buNone/>
            </a:pPr>
            <a:r>
              <a:rPr lang="en-US" sz="900" b="1" dirty="0">
                <a:solidFill>
                  <a:srgbClr val="FFFFFF"/>
                </a:solidFill>
                <a:latin typeface="Calibri" pitchFamily="34" charset="0"/>
                <a:ea typeface="Calibri" pitchFamily="34" charset="-122"/>
                <a:cs typeface="Calibri" pitchFamily="34" charset="-120"/>
              </a:rPr>
              <a:t>Governance</a:t>
            </a:r>
            <a:endParaRPr lang="en-US" sz="900" dirty="0"/>
          </a:p>
        </p:txBody>
      </p:sp>
      <p:sp>
        <p:nvSpPr>
          <p:cNvPr id="33" name="Shape 31"/>
          <p:cNvSpPr/>
          <p:nvPr/>
        </p:nvSpPr>
        <p:spPr>
          <a:xfrm>
            <a:off x="411480" y="2651760"/>
            <a:ext cx="1883664" cy="274320"/>
          </a:xfrm>
          <a:prstGeom prst="roundRect">
            <a:avLst>
              <a:gd name="adj" fmla="val 13333"/>
            </a:avLst>
          </a:prstGeom>
          <a:solidFill>
            <a:srgbClr val="F0F8FA"/>
          </a:solidFill>
          <a:ln w="6350">
            <a:solidFill>
              <a:srgbClr val="D0ECF2"/>
            </a:solidFill>
            <a:prstDash val="solid"/>
          </a:ln>
        </p:spPr>
      </p:sp>
      <p:sp>
        <p:nvSpPr>
          <p:cNvPr id="34" name="Text 32"/>
          <p:cNvSpPr/>
          <p:nvPr/>
        </p:nvSpPr>
        <p:spPr>
          <a:xfrm>
            <a:off x="448056" y="2651760"/>
            <a:ext cx="1810512" cy="274320"/>
          </a:xfrm>
          <a:prstGeom prst="rect">
            <a:avLst/>
          </a:prstGeom>
          <a:noFill/>
          <a:ln/>
        </p:spPr>
        <p:txBody>
          <a:bodyPr wrap="square" lIns="0" tIns="0" rIns="0" bIns="0" rtlCol="0" anchor="ctr"/>
          <a:lstStyle/>
          <a:p>
            <a:pPr indent="0" marL="0">
              <a:buNone/>
            </a:pPr>
            <a:r>
              <a:rPr lang="en-US" sz="800" dirty="0">
                <a:solidFill>
                  <a:srgbClr val="1A2F38"/>
                </a:solidFill>
                <a:latin typeface="Calibri" pitchFamily="34" charset="0"/>
                <a:ea typeface="Calibri" pitchFamily="34" charset="-122"/>
                <a:cs typeface="Calibri" pitchFamily="34" charset="-120"/>
              </a:rPr>
              <a:t>✓  Schema validation</a:t>
            </a:r>
            <a:endParaRPr lang="en-US" sz="800" dirty="0"/>
          </a:p>
        </p:txBody>
      </p:sp>
      <p:sp>
        <p:nvSpPr>
          <p:cNvPr id="35" name="Shape 33"/>
          <p:cNvSpPr/>
          <p:nvPr/>
        </p:nvSpPr>
        <p:spPr>
          <a:xfrm>
            <a:off x="411480" y="2980944"/>
            <a:ext cx="1883664" cy="274320"/>
          </a:xfrm>
          <a:prstGeom prst="roundRect">
            <a:avLst>
              <a:gd name="adj" fmla="val 13333"/>
            </a:avLst>
          </a:prstGeom>
          <a:solidFill>
            <a:srgbClr val="F0F8FA"/>
          </a:solidFill>
          <a:ln w="6350">
            <a:solidFill>
              <a:srgbClr val="D0ECF2"/>
            </a:solidFill>
            <a:prstDash val="solid"/>
          </a:ln>
        </p:spPr>
      </p:sp>
      <p:sp>
        <p:nvSpPr>
          <p:cNvPr id="36" name="Text 34"/>
          <p:cNvSpPr/>
          <p:nvPr/>
        </p:nvSpPr>
        <p:spPr>
          <a:xfrm>
            <a:off x="448056" y="2980944"/>
            <a:ext cx="1810512" cy="274320"/>
          </a:xfrm>
          <a:prstGeom prst="rect">
            <a:avLst/>
          </a:prstGeom>
          <a:noFill/>
          <a:ln/>
        </p:spPr>
        <p:txBody>
          <a:bodyPr wrap="square" lIns="0" tIns="0" rIns="0" bIns="0" rtlCol="0" anchor="ctr"/>
          <a:lstStyle/>
          <a:p>
            <a:pPr indent="0" marL="0">
              <a:buNone/>
            </a:pPr>
            <a:r>
              <a:rPr lang="en-US" sz="800" dirty="0">
                <a:solidFill>
                  <a:srgbClr val="1A2F38"/>
                </a:solidFill>
                <a:latin typeface="Calibri" pitchFamily="34" charset="0"/>
                <a:ea typeface="Calibri" pitchFamily="34" charset="-122"/>
                <a:cs typeface="Calibri" pitchFamily="34" charset="-120"/>
              </a:rPr>
              <a:t>✓  Naming conventions</a:t>
            </a:r>
            <a:endParaRPr lang="en-US" sz="800" dirty="0"/>
          </a:p>
        </p:txBody>
      </p:sp>
      <p:sp>
        <p:nvSpPr>
          <p:cNvPr id="37" name="Shape 35"/>
          <p:cNvSpPr/>
          <p:nvPr/>
        </p:nvSpPr>
        <p:spPr>
          <a:xfrm>
            <a:off x="411480" y="3310128"/>
            <a:ext cx="1883664" cy="274320"/>
          </a:xfrm>
          <a:prstGeom prst="roundRect">
            <a:avLst>
              <a:gd name="adj" fmla="val 13333"/>
            </a:avLst>
          </a:prstGeom>
          <a:solidFill>
            <a:srgbClr val="F0F8FA"/>
          </a:solidFill>
          <a:ln w="6350">
            <a:solidFill>
              <a:srgbClr val="D0ECF2"/>
            </a:solidFill>
            <a:prstDash val="solid"/>
          </a:ln>
        </p:spPr>
      </p:sp>
      <p:sp>
        <p:nvSpPr>
          <p:cNvPr id="38" name="Text 36"/>
          <p:cNvSpPr/>
          <p:nvPr/>
        </p:nvSpPr>
        <p:spPr>
          <a:xfrm>
            <a:off x="448056" y="3310128"/>
            <a:ext cx="1810512" cy="274320"/>
          </a:xfrm>
          <a:prstGeom prst="rect">
            <a:avLst/>
          </a:prstGeom>
          <a:noFill/>
          <a:ln/>
        </p:spPr>
        <p:txBody>
          <a:bodyPr wrap="square" lIns="0" tIns="0" rIns="0" bIns="0" rtlCol="0" anchor="ctr"/>
          <a:lstStyle/>
          <a:p>
            <a:pPr indent="0" marL="0">
              <a:buNone/>
            </a:pPr>
            <a:r>
              <a:rPr lang="en-US" sz="800" dirty="0">
                <a:solidFill>
                  <a:srgbClr val="1A2F38"/>
                </a:solidFill>
                <a:latin typeface="Calibri" pitchFamily="34" charset="0"/>
                <a:ea typeface="Calibri" pitchFamily="34" charset="-122"/>
                <a:cs typeface="Calibri" pitchFamily="34" charset="-120"/>
              </a:rPr>
              <a:t>✓  Lineage checks</a:t>
            </a:r>
            <a:endParaRPr lang="en-US" sz="800" dirty="0"/>
          </a:p>
        </p:txBody>
      </p:sp>
      <p:sp>
        <p:nvSpPr>
          <p:cNvPr id="39" name="Shape 37"/>
          <p:cNvSpPr/>
          <p:nvPr/>
        </p:nvSpPr>
        <p:spPr>
          <a:xfrm>
            <a:off x="411480" y="3639312"/>
            <a:ext cx="1883664" cy="274320"/>
          </a:xfrm>
          <a:prstGeom prst="roundRect">
            <a:avLst>
              <a:gd name="adj" fmla="val 13333"/>
            </a:avLst>
          </a:prstGeom>
          <a:solidFill>
            <a:srgbClr val="F0F8FA"/>
          </a:solidFill>
          <a:ln w="6350">
            <a:solidFill>
              <a:srgbClr val="D0ECF2"/>
            </a:solidFill>
            <a:prstDash val="solid"/>
          </a:ln>
        </p:spPr>
      </p:sp>
      <p:sp>
        <p:nvSpPr>
          <p:cNvPr id="40" name="Text 38"/>
          <p:cNvSpPr/>
          <p:nvPr/>
        </p:nvSpPr>
        <p:spPr>
          <a:xfrm>
            <a:off x="448056" y="3639312"/>
            <a:ext cx="1810512" cy="274320"/>
          </a:xfrm>
          <a:prstGeom prst="rect">
            <a:avLst/>
          </a:prstGeom>
          <a:noFill/>
          <a:ln/>
        </p:spPr>
        <p:txBody>
          <a:bodyPr wrap="square" lIns="0" tIns="0" rIns="0" bIns="0" rtlCol="0" anchor="ctr"/>
          <a:lstStyle/>
          <a:p>
            <a:pPr indent="0" marL="0">
              <a:buNone/>
            </a:pPr>
            <a:r>
              <a:rPr lang="en-US" sz="800" dirty="0">
                <a:solidFill>
                  <a:srgbClr val="1A2F38"/>
                </a:solidFill>
                <a:latin typeface="Calibri" pitchFamily="34" charset="0"/>
                <a:ea typeface="Calibri" pitchFamily="34" charset="-122"/>
                <a:cs typeface="Calibri" pitchFamily="34" charset="-120"/>
              </a:rPr>
              <a:t>✓  Orphan model detection</a:t>
            </a:r>
            <a:endParaRPr lang="en-US" sz="800" dirty="0"/>
          </a:p>
        </p:txBody>
      </p:sp>
      <p:sp>
        <p:nvSpPr>
          <p:cNvPr id="41" name="Shape 39"/>
          <p:cNvSpPr/>
          <p:nvPr/>
        </p:nvSpPr>
        <p:spPr>
          <a:xfrm>
            <a:off x="411480" y="3968496"/>
            <a:ext cx="1883664" cy="219456"/>
          </a:xfrm>
          <a:prstGeom prst="roundRect">
            <a:avLst>
              <a:gd name="adj" fmla="val 16667"/>
            </a:avLst>
          </a:prstGeom>
          <a:solidFill>
            <a:srgbClr val="EDFAF4"/>
          </a:solidFill>
          <a:ln w="10160">
            <a:solidFill>
              <a:srgbClr val="8ED5B8"/>
            </a:solidFill>
            <a:prstDash val="solid"/>
          </a:ln>
        </p:spPr>
      </p:sp>
      <p:sp>
        <p:nvSpPr>
          <p:cNvPr id="42" name="Text 40"/>
          <p:cNvSpPr/>
          <p:nvPr/>
        </p:nvSpPr>
        <p:spPr>
          <a:xfrm>
            <a:off x="448056" y="3968496"/>
            <a:ext cx="1810512" cy="219456"/>
          </a:xfrm>
          <a:prstGeom prst="rect">
            <a:avLst/>
          </a:prstGeom>
          <a:noFill/>
          <a:ln/>
        </p:spPr>
        <p:txBody>
          <a:bodyPr wrap="square" lIns="0" tIns="0" rIns="0" bIns="0" rtlCol="0" anchor="ctr"/>
          <a:lstStyle/>
          <a:p>
            <a:pPr indent="0" marL="0">
              <a:buNone/>
            </a:pPr>
            <a:r>
              <a:rPr lang="en-US" sz="750" dirty="0">
                <a:solidFill>
                  <a:srgbClr val="2E8B6E"/>
                </a:solidFill>
                <a:latin typeface="Calibri" pitchFamily="34" charset="0"/>
                <a:ea typeface="Calibri" pitchFamily="34" charset="-122"/>
                <a:cs typeface="Calibri" pitchFamily="34" charset="-120"/>
              </a:rPr>
              <a:t>✅  PASS → continue</a:t>
            </a:r>
            <a:endParaRPr lang="en-US" sz="750" dirty="0"/>
          </a:p>
        </p:txBody>
      </p:sp>
      <p:sp>
        <p:nvSpPr>
          <p:cNvPr id="43" name="Shape 41"/>
          <p:cNvSpPr/>
          <p:nvPr/>
        </p:nvSpPr>
        <p:spPr>
          <a:xfrm>
            <a:off x="411480" y="4206240"/>
            <a:ext cx="1883664" cy="219456"/>
          </a:xfrm>
          <a:prstGeom prst="roundRect">
            <a:avLst>
              <a:gd name="adj" fmla="val 16667"/>
            </a:avLst>
          </a:prstGeom>
          <a:solidFill>
            <a:srgbClr val="FEF0EF"/>
          </a:solidFill>
          <a:ln w="10160">
            <a:solidFill>
              <a:srgbClr val="F5B8B4"/>
            </a:solidFill>
            <a:prstDash val="solid"/>
          </a:ln>
        </p:spPr>
      </p:sp>
      <p:sp>
        <p:nvSpPr>
          <p:cNvPr id="44" name="Text 42"/>
          <p:cNvSpPr/>
          <p:nvPr/>
        </p:nvSpPr>
        <p:spPr>
          <a:xfrm>
            <a:off x="448056" y="4206240"/>
            <a:ext cx="1810512" cy="219456"/>
          </a:xfrm>
          <a:prstGeom prst="rect">
            <a:avLst/>
          </a:prstGeom>
          <a:noFill/>
          <a:ln/>
        </p:spPr>
        <p:txBody>
          <a:bodyPr wrap="square" lIns="0" tIns="0" rIns="0" bIns="0" rtlCol="0" anchor="ctr"/>
          <a:lstStyle/>
          <a:p>
            <a:pPr indent="0" marL="0">
              <a:buNone/>
            </a:pPr>
            <a:r>
              <a:rPr lang="en-US" sz="750" dirty="0">
                <a:solidFill>
                  <a:srgbClr val="C0392B"/>
                </a:solidFill>
                <a:latin typeface="Calibri" pitchFamily="34" charset="0"/>
                <a:ea typeface="Calibri" pitchFamily="34" charset="-122"/>
                <a:cs typeface="Calibri" pitchFamily="34" charset="-120"/>
              </a:rPr>
              <a:t>🚫  FAIL → block + notify</a:t>
            </a:r>
            <a:endParaRPr lang="en-US" sz="750" dirty="0"/>
          </a:p>
        </p:txBody>
      </p:sp>
      <p:sp>
        <p:nvSpPr>
          <p:cNvPr id="45" name="Shape 43"/>
          <p:cNvSpPr/>
          <p:nvPr/>
        </p:nvSpPr>
        <p:spPr>
          <a:xfrm>
            <a:off x="2404872" y="3172968"/>
            <a:ext cx="36576" cy="0"/>
          </a:xfrm>
          <a:prstGeom prst="line">
            <a:avLst/>
          </a:prstGeom>
          <a:noFill/>
          <a:ln w="19050">
            <a:solidFill>
              <a:srgbClr val="2A7A8C"/>
            </a:solidFill>
            <a:prstDash val="solid"/>
            <a:tailEnd type="triangle"/>
          </a:ln>
        </p:spPr>
      </p:sp>
      <p:sp>
        <p:nvSpPr>
          <p:cNvPr id="46" name="Shape 44"/>
          <p:cNvSpPr/>
          <p:nvPr/>
        </p:nvSpPr>
        <p:spPr>
          <a:xfrm>
            <a:off x="2441448" y="2029968"/>
            <a:ext cx="2066544" cy="2286000"/>
          </a:xfrm>
          <a:prstGeom prst="roundRect">
            <a:avLst>
              <a:gd name="adj" fmla="val 3540"/>
            </a:avLst>
          </a:prstGeom>
          <a:solidFill>
            <a:srgbClr val="FFFFFF"/>
          </a:solidFill>
          <a:ln w="15240">
            <a:solidFill>
              <a:srgbClr val="D0ECF2"/>
            </a:solidFill>
            <a:prstDash val="solid"/>
          </a:ln>
          <a:effectLst>
            <a:outerShdw sx="100000" sy="100000" kx="0" ky="0" algn="bl" rotWithShape="0" blurRad="101600" dist="38100" dir="2700000">
              <a:srgbClr val="000000">
                <a:alpha val="10000"/>
              </a:srgbClr>
            </a:outerShdw>
          </a:effectLst>
        </p:spPr>
      </p:sp>
      <p:sp>
        <p:nvSpPr>
          <p:cNvPr id="47" name="Shape 45"/>
          <p:cNvSpPr/>
          <p:nvPr/>
        </p:nvSpPr>
        <p:spPr>
          <a:xfrm>
            <a:off x="2441448" y="2029968"/>
            <a:ext cx="2066544" cy="530352"/>
          </a:xfrm>
          <a:prstGeom prst="roundRect">
            <a:avLst>
              <a:gd name="adj" fmla="val 12069"/>
            </a:avLst>
          </a:prstGeom>
          <a:solidFill>
            <a:srgbClr val="2A7A8C"/>
          </a:solidFill>
          <a:ln w="12700">
            <a:solidFill>
              <a:srgbClr val="2A7A8C"/>
            </a:solidFill>
            <a:prstDash val="solid"/>
          </a:ln>
        </p:spPr>
      </p:sp>
      <p:sp>
        <p:nvSpPr>
          <p:cNvPr id="48" name="Shape 46"/>
          <p:cNvSpPr/>
          <p:nvPr/>
        </p:nvSpPr>
        <p:spPr>
          <a:xfrm>
            <a:off x="2532888" y="2139696"/>
            <a:ext cx="310896" cy="310896"/>
          </a:xfrm>
          <a:prstGeom prst="ellipse">
            <a:avLst/>
          </a:prstGeom>
          <a:solidFill>
            <a:srgbClr val="FFFFFF"/>
          </a:solidFill>
          <a:ln w="12700">
            <a:solidFill>
              <a:srgbClr val="FFFFFF"/>
            </a:solidFill>
            <a:prstDash val="solid"/>
          </a:ln>
        </p:spPr>
      </p:sp>
      <p:sp>
        <p:nvSpPr>
          <p:cNvPr id="49" name="Text 47"/>
          <p:cNvSpPr/>
          <p:nvPr/>
        </p:nvSpPr>
        <p:spPr>
          <a:xfrm>
            <a:off x="2532888" y="2139696"/>
            <a:ext cx="310896" cy="310896"/>
          </a:xfrm>
          <a:prstGeom prst="rect">
            <a:avLst/>
          </a:prstGeom>
          <a:noFill/>
          <a:ln/>
        </p:spPr>
        <p:txBody>
          <a:bodyPr wrap="square" lIns="0" tIns="0" rIns="0" bIns="0" rtlCol="0" anchor="ctr"/>
          <a:lstStyle/>
          <a:p>
            <a:pPr algn="ctr" indent="0" marL="0">
              <a:buNone/>
            </a:pPr>
            <a:r>
              <a:rPr lang="en-US" sz="1000" b="1" dirty="0">
                <a:solidFill>
                  <a:srgbClr val="2A7A8C"/>
                </a:solidFill>
                <a:latin typeface="Calibri" pitchFamily="34" charset="0"/>
                <a:ea typeface="Calibri" pitchFamily="34" charset="-122"/>
                <a:cs typeface="Calibri" pitchFamily="34" charset="-120"/>
              </a:rPr>
              <a:t>2</a:t>
            </a:r>
            <a:endParaRPr lang="en-US" sz="1000" dirty="0"/>
          </a:p>
        </p:txBody>
      </p:sp>
      <p:sp>
        <p:nvSpPr>
          <p:cNvPr id="50" name="Text 48"/>
          <p:cNvSpPr/>
          <p:nvPr/>
        </p:nvSpPr>
        <p:spPr>
          <a:xfrm>
            <a:off x="2916936" y="2066544"/>
            <a:ext cx="1499616" cy="45720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Oracle Performance</a:t>
            </a:r>
            <a:endParaRPr lang="en-US" sz="900" dirty="0"/>
          </a:p>
          <a:p>
            <a:pPr indent="0" marL="0">
              <a:buNone/>
            </a:pPr>
            <a:r>
              <a:rPr lang="en-US" sz="900" b="1" dirty="0">
                <a:solidFill>
                  <a:srgbClr val="FFFFFF"/>
                </a:solidFill>
                <a:latin typeface="Calibri" pitchFamily="34" charset="0"/>
                <a:ea typeface="Calibri" pitchFamily="34" charset="-122"/>
                <a:cs typeface="Calibri" pitchFamily="34" charset="-120"/>
              </a:rPr>
              <a:t>Benchmarking</a:t>
            </a:r>
            <a:endParaRPr lang="en-US" sz="900" dirty="0"/>
          </a:p>
        </p:txBody>
      </p:sp>
      <p:sp>
        <p:nvSpPr>
          <p:cNvPr id="51" name="Shape 49"/>
          <p:cNvSpPr/>
          <p:nvPr/>
        </p:nvSpPr>
        <p:spPr>
          <a:xfrm>
            <a:off x="2532888" y="2651760"/>
            <a:ext cx="1883664" cy="274320"/>
          </a:xfrm>
          <a:prstGeom prst="roundRect">
            <a:avLst>
              <a:gd name="adj" fmla="val 13333"/>
            </a:avLst>
          </a:prstGeom>
          <a:solidFill>
            <a:srgbClr val="F0F8FA"/>
          </a:solidFill>
          <a:ln w="6350">
            <a:solidFill>
              <a:srgbClr val="D0ECF2"/>
            </a:solidFill>
            <a:prstDash val="solid"/>
          </a:ln>
        </p:spPr>
      </p:sp>
      <p:sp>
        <p:nvSpPr>
          <p:cNvPr id="52" name="Text 50"/>
          <p:cNvSpPr/>
          <p:nvPr/>
        </p:nvSpPr>
        <p:spPr>
          <a:xfrm>
            <a:off x="2569464" y="2651760"/>
            <a:ext cx="1810512" cy="274320"/>
          </a:xfrm>
          <a:prstGeom prst="rect">
            <a:avLst/>
          </a:prstGeom>
          <a:noFill/>
          <a:ln/>
        </p:spPr>
        <p:txBody>
          <a:bodyPr wrap="square" lIns="0" tIns="0" rIns="0" bIns="0" rtlCol="0" anchor="ctr"/>
          <a:lstStyle/>
          <a:p>
            <a:pPr indent="0" marL="0">
              <a:buNone/>
            </a:pPr>
            <a:r>
              <a:rPr lang="en-US" sz="800" dirty="0">
                <a:solidFill>
                  <a:srgbClr val="1A2F38"/>
                </a:solidFill>
                <a:latin typeface="Calibri" pitchFamily="34" charset="0"/>
                <a:ea typeface="Calibri" pitchFamily="34" charset="-122"/>
                <a:cs typeface="Calibri" pitchFamily="34" charset="-120"/>
              </a:rPr>
              <a:t>✓  EXPLAIN PLAN per model</a:t>
            </a:r>
            <a:endParaRPr lang="en-US" sz="800" dirty="0"/>
          </a:p>
        </p:txBody>
      </p:sp>
      <p:sp>
        <p:nvSpPr>
          <p:cNvPr id="53" name="Shape 51"/>
          <p:cNvSpPr/>
          <p:nvPr/>
        </p:nvSpPr>
        <p:spPr>
          <a:xfrm>
            <a:off x="2532888" y="2980944"/>
            <a:ext cx="1883664" cy="274320"/>
          </a:xfrm>
          <a:prstGeom prst="roundRect">
            <a:avLst>
              <a:gd name="adj" fmla="val 13333"/>
            </a:avLst>
          </a:prstGeom>
          <a:solidFill>
            <a:srgbClr val="F0F8FA"/>
          </a:solidFill>
          <a:ln w="6350">
            <a:solidFill>
              <a:srgbClr val="D0ECF2"/>
            </a:solidFill>
            <a:prstDash val="solid"/>
          </a:ln>
        </p:spPr>
      </p:sp>
      <p:sp>
        <p:nvSpPr>
          <p:cNvPr id="54" name="Text 52"/>
          <p:cNvSpPr/>
          <p:nvPr/>
        </p:nvSpPr>
        <p:spPr>
          <a:xfrm>
            <a:off x="2569464" y="2980944"/>
            <a:ext cx="1810512" cy="274320"/>
          </a:xfrm>
          <a:prstGeom prst="rect">
            <a:avLst/>
          </a:prstGeom>
          <a:noFill/>
          <a:ln/>
        </p:spPr>
        <p:txBody>
          <a:bodyPr wrap="square" lIns="0" tIns="0" rIns="0" bIns="0" rtlCol="0" anchor="ctr"/>
          <a:lstStyle/>
          <a:p>
            <a:pPr indent="0" marL="0">
              <a:buNone/>
            </a:pPr>
            <a:r>
              <a:rPr lang="en-US" sz="800" dirty="0">
                <a:solidFill>
                  <a:srgbClr val="1A2F38"/>
                </a:solidFill>
                <a:latin typeface="Calibri" pitchFamily="34" charset="0"/>
                <a:ea typeface="Calibri" pitchFamily="34" charset="-122"/>
                <a:cs typeface="Calibri" pitchFamily="34" charset="-120"/>
              </a:rPr>
              <a:t>✓  SLA at 10K–5M rows</a:t>
            </a:r>
            <a:endParaRPr lang="en-US" sz="800" dirty="0"/>
          </a:p>
        </p:txBody>
      </p:sp>
      <p:sp>
        <p:nvSpPr>
          <p:cNvPr id="55" name="Shape 53"/>
          <p:cNvSpPr/>
          <p:nvPr/>
        </p:nvSpPr>
        <p:spPr>
          <a:xfrm>
            <a:off x="2532888" y="3310128"/>
            <a:ext cx="1883664" cy="274320"/>
          </a:xfrm>
          <a:prstGeom prst="roundRect">
            <a:avLst>
              <a:gd name="adj" fmla="val 13333"/>
            </a:avLst>
          </a:prstGeom>
          <a:solidFill>
            <a:srgbClr val="F0F8FA"/>
          </a:solidFill>
          <a:ln w="6350">
            <a:solidFill>
              <a:srgbClr val="D0ECF2"/>
            </a:solidFill>
            <a:prstDash val="solid"/>
          </a:ln>
        </p:spPr>
      </p:sp>
      <p:sp>
        <p:nvSpPr>
          <p:cNvPr id="56" name="Text 54"/>
          <p:cNvSpPr/>
          <p:nvPr/>
        </p:nvSpPr>
        <p:spPr>
          <a:xfrm>
            <a:off x="2569464" y="3310128"/>
            <a:ext cx="1810512" cy="274320"/>
          </a:xfrm>
          <a:prstGeom prst="rect">
            <a:avLst/>
          </a:prstGeom>
          <a:noFill/>
          <a:ln/>
        </p:spPr>
        <p:txBody>
          <a:bodyPr wrap="square" lIns="0" tIns="0" rIns="0" bIns="0" rtlCol="0" anchor="ctr"/>
          <a:lstStyle/>
          <a:p>
            <a:pPr indent="0" marL="0">
              <a:buNone/>
            </a:pPr>
            <a:r>
              <a:rPr lang="en-US" sz="800" dirty="0">
                <a:solidFill>
                  <a:srgbClr val="1A2F38"/>
                </a:solidFill>
                <a:latin typeface="Calibri" pitchFamily="34" charset="0"/>
                <a:ea typeface="Calibri" pitchFamily="34" charset="-122"/>
                <a:cs typeface="Calibri" pitchFamily="34" charset="-120"/>
              </a:rPr>
              <a:t>✓  Partition pruning verify</a:t>
            </a:r>
            <a:endParaRPr lang="en-US" sz="800" dirty="0"/>
          </a:p>
        </p:txBody>
      </p:sp>
      <p:sp>
        <p:nvSpPr>
          <p:cNvPr id="57" name="Shape 55"/>
          <p:cNvSpPr/>
          <p:nvPr/>
        </p:nvSpPr>
        <p:spPr>
          <a:xfrm>
            <a:off x="2532888" y="3639312"/>
            <a:ext cx="1883664" cy="274320"/>
          </a:xfrm>
          <a:prstGeom prst="roundRect">
            <a:avLst>
              <a:gd name="adj" fmla="val 13333"/>
            </a:avLst>
          </a:prstGeom>
          <a:solidFill>
            <a:srgbClr val="F0F8FA"/>
          </a:solidFill>
          <a:ln w="6350">
            <a:solidFill>
              <a:srgbClr val="D0ECF2"/>
            </a:solidFill>
            <a:prstDash val="solid"/>
          </a:ln>
        </p:spPr>
      </p:sp>
      <p:sp>
        <p:nvSpPr>
          <p:cNvPr id="58" name="Text 56"/>
          <p:cNvSpPr/>
          <p:nvPr/>
        </p:nvSpPr>
        <p:spPr>
          <a:xfrm>
            <a:off x="2569464" y="3639312"/>
            <a:ext cx="1810512" cy="274320"/>
          </a:xfrm>
          <a:prstGeom prst="rect">
            <a:avLst/>
          </a:prstGeom>
          <a:noFill/>
          <a:ln/>
        </p:spPr>
        <p:txBody>
          <a:bodyPr wrap="square" lIns="0" tIns="0" rIns="0" bIns="0" rtlCol="0" anchor="ctr"/>
          <a:lstStyle/>
          <a:p>
            <a:pPr indent="0" marL="0">
              <a:buNone/>
            </a:pPr>
            <a:r>
              <a:rPr lang="en-US" sz="800" dirty="0">
                <a:solidFill>
                  <a:srgbClr val="1A2F38"/>
                </a:solidFill>
                <a:latin typeface="Calibri" pitchFamily="34" charset="0"/>
                <a:ea typeface="Calibri" pitchFamily="34" charset="-122"/>
                <a:cs typeface="Calibri" pitchFamily="34" charset="-120"/>
              </a:rPr>
              <a:t>✓  SCD2 merge cost check</a:t>
            </a:r>
            <a:endParaRPr lang="en-US" sz="800" dirty="0"/>
          </a:p>
        </p:txBody>
      </p:sp>
      <p:sp>
        <p:nvSpPr>
          <p:cNvPr id="59" name="Shape 57"/>
          <p:cNvSpPr/>
          <p:nvPr/>
        </p:nvSpPr>
        <p:spPr>
          <a:xfrm>
            <a:off x="2532888" y="3968496"/>
            <a:ext cx="1883664" cy="219456"/>
          </a:xfrm>
          <a:prstGeom prst="roundRect">
            <a:avLst>
              <a:gd name="adj" fmla="val 16667"/>
            </a:avLst>
          </a:prstGeom>
          <a:solidFill>
            <a:srgbClr val="EDFAF4"/>
          </a:solidFill>
          <a:ln w="10160">
            <a:solidFill>
              <a:srgbClr val="8ED5B8"/>
            </a:solidFill>
            <a:prstDash val="solid"/>
          </a:ln>
        </p:spPr>
      </p:sp>
      <p:sp>
        <p:nvSpPr>
          <p:cNvPr id="60" name="Text 58"/>
          <p:cNvSpPr/>
          <p:nvPr/>
        </p:nvSpPr>
        <p:spPr>
          <a:xfrm>
            <a:off x="2569464" y="3968496"/>
            <a:ext cx="1810512" cy="219456"/>
          </a:xfrm>
          <a:prstGeom prst="rect">
            <a:avLst/>
          </a:prstGeom>
          <a:noFill/>
          <a:ln/>
        </p:spPr>
        <p:txBody>
          <a:bodyPr wrap="square" lIns="0" tIns="0" rIns="0" bIns="0" rtlCol="0" anchor="ctr"/>
          <a:lstStyle/>
          <a:p>
            <a:pPr indent="0" marL="0">
              <a:buNone/>
            </a:pPr>
            <a:r>
              <a:rPr lang="en-US" sz="750" dirty="0">
                <a:solidFill>
                  <a:srgbClr val="2E8B6E"/>
                </a:solidFill>
                <a:latin typeface="Calibri" pitchFamily="34" charset="0"/>
                <a:ea typeface="Calibri" pitchFamily="34" charset="-122"/>
                <a:cs typeface="Calibri" pitchFamily="34" charset="-120"/>
              </a:rPr>
              <a:t>✅  PASS → continue</a:t>
            </a:r>
            <a:endParaRPr lang="en-US" sz="750" dirty="0"/>
          </a:p>
        </p:txBody>
      </p:sp>
      <p:sp>
        <p:nvSpPr>
          <p:cNvPr id="61" name="Shape 59"/>
          <p:cNvSpPr/>
          <p:nvPr/>
        </p:nvSpPr>
        <p:spPr>
          <a:xfrm>
            <a:off x="2532888" y="4206240"/>
            <a:ext cx="1883664" cy="219456"/>
          </a:xfrm>
          <a:prstGeom prst="roundRect">
            <a:avLst>
              <a:gd name="adj" fmla="val 16667"/>
            </a:avLst>
          </a:prstGeom>
          <a:solidFill>
            <a:srgbClr val="FEF0EF"/>
          </a:solidFill>
          <a:ln w="10160">
            <a:solidFill>
              <a:srgbClr val="F5B8B4"/>
            </a:solidFill>
            <a:prstDash val="solid"/>
          </a:ln>
        </p:spPr>
      </p:sp>
      <p:sp>
        <p:nvSpPr>
          <p:cNvPr id="62" name="Text 60"/>
          <p:cNvSpPr/>
          <p:nvPr/>
        </p:nvSpPr>
        <p:spPr>
          <a:xfrm>
            <a:off x="2569464" y="4206240"/>
            <a:ext cx="1810512" cy="219456"/>
          </a:xfrm>
          <a:prstGeom prst="rect">
            <a:avLst/>
          </a:prstGeom>
          <a:noFill/>
          <a:ln/>
        </p:spPr>
        <p:txBody>
          <a:bodyPr wrap="square" lIns="0" tIns="0" rIns="0" bIns="0" rtlCol="0" anchor="ctr"/>
          <a:lstStyle/>
          <a:p>
            <a:pPr indent="0" marL="0">
              <a:buNone/>
            </a:pPr>
            <a:r>
              <a:rPr lang="en-US" sz="750" dirty="0">
                <a:solidFill>
                  <a:srgbClr val="C0392B"/>
                </a:solidFill>
                <a:latin typeface="Calibri" pitchFamily="34" charset="0"/>
                <a:ea typeface="Calibri" pitchFamily="34" charset="-122"/>
                <a:cs typeface="Calibri" pitchFamily="34" charset="-120"/>
              </a:rPr>
              <a:t>🚫  PERFORMANCE_BREACH → block</a:t>
            </a:r>
            <a:endParaRPr lang="en-US" sz="750" dirty="0"/>
          </a:p>
        </p:txBody>
      </p:sp>
      <p:sp>
        <p:nvSpPr>
          <p:cNvPr id="63" name="Shape 61"/>
          <p:cNvSpPr/>
          <p:nvPr/>
        </p:nvSpPr>
        <p:spPr>
          <a:xfrm>
            <a:off x="4526280" y="3172968"/>
            <a:ext cx="36576" cy="0"/>
          </a:xfrm>
          <a:prstGeom prst="line">
            <a:avLst/>
          </a:prstGeom>
          <a:noFill/>
          <a:ln w="19050">
            <a:solidFill>
              <a:srgbClr val="2A7A8C"/>
            </a:solidFill>
            <a:prstDash val="solid"/>
            <a:tailEnd type="triangle"/>
          </a:ln>
        </p:spPr>
      </p:sp>
      <p:sp>
        <p:nvSpPr>
          <p:cNvPr id="64" name="Shape 62"/>
          <p:cNvSpPr/>
          <p:nvPr/>
        </p:nvSpPr>
        <p:spPr>
          <a:xfrm>
            <a:off x="4562856" y="2029968"/>
            <a:ext cx="2066544" cy="2286000"/>
          </a:xfrm>
          <a:prstGeom prst="roundRect">
            <a:avLst>
              <a:gd name="adj" fmla="val 3540"/>
            </a:avLst>
          </a:prstGeom>
          <a:solidFill>
            <a:srgbClr val="FFFFFF"/>
          </a:solidFill>
          <a:ln w="15240">
            <a:solidFill>
              <a:srgbClr val="D0ECF2"/>
            </a:solidFill>
            <a:prstDash val="solid"/>
          </a:ln>
          <a:effectLst>
            <a:outerShdw sx="100000" sy="100000" kx="0" ky="0" algn="bl" rotWithShape="0" blurRad="101600" dist="38100" dir="2700000">
              <a:srgbClr val="000000">
                <a:alpha val="10000"/>
              </a:srgbClr>
            </a:outerShdw>
          </a:effectLst>
        </p:spPr>
      </p:sp>
      <p:sp>
        <p:nvSpPr>
          <p:cNvPr id="65" name="Shape 63"/>
          <p:cNvSpPr/>
          <p:nvPr/>
        </p:nvSpPr>
        <p:spPr>
          <a:xfrm>
            <a:off x="4562856" y="2029968"/>
            <a:ext cx="2066544" cy="530352"/>
          </a:xfrm>
          <a:prstGeom prst="roundRect">
            <a:avLst>
              <a:gd name="adj" fmla="val 12069"/>
            </a:avLst>
          </a:prstGeom>
          <a:solidFill>
            <a:srgbClr val="4A6572"/>
          </a:solidFill>
          <a:ln w="12700">
            <a:solidFill>
              <a:srgbClr val="4A6572"/>
            </a:solidFill>
            <a:prstDash val="solid"/>
          </a:ln>
        </p:spPr>
      </p:sp>
      <p:sp>
        <p:nvSpPr>
          <p:cNvPr id="66" name="Shape 64"/>
          <p:cNvSpPr/>
          <p:nvPr/>
        </p:nvSpPr>
        <p:spPr>
          <a:xfrm>
            <a:off x="4654296" y="2139696"/>
            <a:ext cx="310896" cy="310896"/>
          </a:xfrm>
          <a:prstGeom prst="ellipse">
            <a:avLst/>
          </a:prstGeom>
          <a:solidFill>
            <a:srgbClr val="FFFFFF"/>
          </a:solidFill>
          <a:ln w="12700">
            <a:solidFill>
              <a:srgbClr val="FFFFFF"/>
            </a:solidFill>
            <a:prstDash val="solid"/>
          </a:ln>
        </p:spPr>
      </p:sp>
      <p:sp>
        <p:nvSpPr>
          <p:cNvPr id="67" name="Text 65"/>
          <p:cNvSpPr/>
          <p:nvPr/>
        </p:nvSpPr>
        <p:spPr>
          <a:xfrm>
            <a:off x="4654296" y="2139696"/>
            <a:ext cx="310896" cy="310896"/>
          </a:xfrm>
          <a:prstGeom prst="rect">
            <a:avLst/>
          </a:prstGeom>
          <a:noFill/>
          <a:ln/>
        </p:spPr>
        <p:txBody>
          <a:bodyPr wrap="square" lIns="0" tIns="0" rIns="0" bIns="0" rtlCol="0" anchor="ctr"/>
          <a:lstStyle/>
          <a:p>
            <a:pPr algn="ctr" indent="0" marL="0">
              <a:buNone/>
            </a:pPr>
            <a:r>
              <a:rPr lang="en-US" sz="1000" b="1" dirty="0">
                <a:solidFill>
                  <a:srgbClr val="4A6572"/>
                </a:solidFill>
                <a:latin typeface="Calibri" pitchFamily="34" charset="0"/>
                <a:ea typeface="Calibri" pitchFamily="34" charset="-122"/>
                <a:cs typeface="Calibri" pitchFamily="34" charset="-120"/>
              </a:rPr>
              <a:t>3</a:t>
            </a:r>
            <a:endParaRPr lang="en-US" sz="1000" dirty="0"/>
          </a:p>
        </p:txBody>
      </p:sp>
      <p:sp>
        <p:nvSpPr>
          <p:cNvPr id="68" name="Text 66"/>
          <p:cNvSpPr/>
          <p:nvPr/>
        </p:nvSpPr>
        <p:spPr>
          <a:xfrm>
            <a:off x="5038344" y="2066544"/>
            <a:ext cx="1499616" cy="45720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Testing</a:t>
            </a:r>
            <a:endParaRPr lang="en-US" sz="900" dirty="0"/>
          </a:p>
          <a:p>
            <a:pPr indent="0" marL="0">
              <a:buNone/>
            </a:pPr>
            <a:r>
              <a:rPr lang="en-US" sz="900" b="1" dirty="0">
                <a:solidFill>
                  <a:srgbClr val="FFFFFF"/>
                </a:solidFill>
                <a:latin typeface="Calibri" pitchFamily="34" charset="0"/>
                <a:ea typeface="Calibri" pitchFamily="34" charset="-122"/>
                <a:cs typeface="Calibri" pitchFamily="34" charset="-120"/>
              </a:rPr>
              <a:t>Framework</a:t>
            </a:r>
            <a:endParaRPr lang="en-US" sz="900" dirty="0"/>
          </a:p>
        </p:txBody>
      </p:sp>
      <p:sp>
        <p:nvSpPr>
          <p:cNvPr id="69" name="Shape 67"/>
          <p:cNvSpPr/>
          <p:nvPr/>
        </p:nvSpPr>
        <p:spPr>
          <a:xfrm>
            <a:off x="4654296" y="2651760"/>
            <a:ext cx="1883664" cy="274320"/>
          </a:xfrm>
          <a:prstGeom prst="roundRect">
            <a:avLst>
              <a:gd name="adj" fmla="val 13333"/>
            </a:avLst>
          </a:prstGeom>
          <a:solidFill>
            <a:srgbClr val="F0F8FA"/>
          </a:solidFill>
          <a:ln w="6350">
            <a:solidFill>
              <a:srgbClr val="D0ECF2"/>
            </a:solidFill>
            <a:prstDash val="solid"/>
          </a:ln>
        </p:spPr>
      </p:sp>
      <p:sp>
        <p:nvSpPr>
          <p:cNvPr id="70" name="Text 68"/>
          <p:cNvSpPr/>
          <p:nvPr/>
        </p:nvSpPr>
        <p:spPr>
          <a:xfrm>
            <a:off x="4690872" y="2651760"/>
            <a:ext cx="1810512" cy="274320"/>
          </a:xfrm>
          <a:prstGeom prst="rect">
            <a:avLst/>
          </a:prstGeom>
          <a:noFill/>
          <a:ln/>
        </p:spPr>
        <p:txBody>
          <a:bodyPr wrap="square" lIns="0" tIns="0" rIns="0" bIns="0" rtlCol="0" anchor="ctr"/>
          <a:lstStyle/>
          <a:p>
            <a:pPr indent="0" marL="0">
              <a:buNone/>
            </a:pPr>
            <a:r>
              <a:rPr lang="en-US" sz="800" dirty="0">
                <a:solidFill>
                  <a:srgbClr val="1A2F38"/>
                </a:solidFill>
                <a:latin typeface="Calibri" pitchFamily="34" charset="0"/>
                <a:ea typeface="Calibri" pitchFamily="34" charset="-122"/>
                <a:cs typeface="Calibri" pitchFamily="34" charset="-120"/>
              </a:rPr>
              <a:t>✓  dbt tests (unique/not-null)</a:t>
            </a:r>
            <a:endParaRPr lang="en-US" sz="800" dirty="0"/>
          </a:p>
        </p:txBody>
      </p:sp>
      <p:sp>
        <p:nvSpPr>
          <p:cNvPr id="71" name="Shape 69"/>
          <p:cNvSpPr/>
          <p:nvPr/>
        </p:nvSpPr>
        <p:spPr>
          <a:xfrm>
            <a:off x="4654296" y="2980944"/>
            <a:ext cx="1883664" cy="274320"/>
          </a:xfrm>
          <a:prstGeom prst="roundRect">
            <a:avLst>
              <a:gd name="adj" fmla="val 13333"/>
            </a:avLst>
          </a:prstGeom>
          <a:solidFill>
            <a:srgbClr val="F0F8FA"/>
          </a:solidFill>
          <a:ln w="6350">
            <a:solidFill>
              <a:srgbClr val="D0ECF2"/>
            </a:solidFill>
            <a:prstDash val="solid"/>
          </a:ln>
        </p:spPr>
      </p:sp>
      <p:sp>
        <p:nvSpPr>
          <p:cNvPr id="72" name="Text 70"/>
          <p:cNvSpPr/>
          <p:nvPr/>
        </p:nvSpPr>
        <p:spPr>
          <a:xfrm>
            <a:off x="4690872" y="2980944"/>
            <a:ext cx="1810512" cy="274320"/>
          </a:xfrm>
          <a:prstGeom prst="rect">
            <a:avLst/>
          </a:prstGeom>
          <a:noFill/>
          <a:ln/>
        </p:spPr>
        <p:txBody>
          <a:bodyPr wrap="square" lIns="0" tIns="0" rIns="0" bIns="0" rtlCol="0" anchor="ctr"/>
          <a:lstStyle/>
          <a:p>
            <a:pPr indent="0" marL="0">
              <a:buNone/>
            </a:pPr>
            <a:r>
              <a:rPr lang="en-US" sz="800" dirty="0">
                <a:solidFill>
                  <a:srgbClr val="1A2F38"/>
                </a:solidFill>
                <a:latin typeface="Calibri" pitchFamily="34" charset="0"/>
                <a:ea typeface="Calibri" pitchFamily="34" charset="-122"/>
                <a:cs typeface="Calibri" pitchFamily="34" charset="-120"/>
              </a:rPr>
              <a:t>✓  Business rule tests</a:t>
            </a:r>
            <a:endParaRPr lang="en-US" sz="800" dirty="0"/>
          </a:p>
        </p:txBody>
      </p:sp>
      <p:sp>
        <p:nvSpPr>
          <p:cNvPr id="73" name="Shape 71"/>
          <p:cNvSpPr/>
          <p:nvPr/>
        </p:nvSpPr>
        <p:spPr>
          <a:xfrm>
            <a:off x="4654296" y="3310128"/>
            <a:ext cx="1883664" cy="274320"/>
          </a:xfrm>
          <a:prstGeom prst="roundRect">
            <a:avLst>
              <a:gd name="adj" fmla="val 13333"/>
            </a:avLst>
          </a:prstGeom>
          <a:solidFill>
            <a:srgbClr val="F0F8FA"/>
          </a:solidFill>
          <a:ln w="6350">
            <a:solidFill>
              <a:srgbClr val="D0ECF2"/>
            </a:solidFill>
            <a:prstDash val="solid"/>
          </a:ln>
        </p:spPr>
      </p:sp>
      <p:sp>
        <p:nvSpPr>
          <p:cNvPr id="74" name="Text 72"/>
          <p:cNvSpPr/>
          <p:nvPr/>
        </p:nvSpPr>
        <p:spPr>
          <a:xfrm>
            <a:off x="4690872" y="3310128"/>
            <a:ext cx="1810512" cy="274320"/>
          </a:xfrm>
          <a:prstGeom prst="rect">
            <a:avLst/>
          </a:prstGeom>
          <a:noFill/>
          <a:ln/>
        </p:spPr>
        <p:txBody>
          <a:bodyPr wrap="square" lIns="0" tIns="0" rIns="0" bIns="0" rtlCol="0" anchor="ctr"/>
          <a:lstStyle/>
          <a:p>
            <a:pPr indent="0" marL="0">
              <a:buNone/>
            </a:pPr>
            <a:r>
              <a:rPr lang="en-US" sz="800" dirty="0">
                <a:solidFill>
                  <a:srgbClr val="1A2F38"/>
                </a:solidFill>
                <a:latin typeface="Calibri" pitchFamily="34" charset="0"/>
                <a:ea typeface="Calibri" pitchFamily="34" charset="-122"/>
                <a:cs typeface="Calibri" pitchFamily="34" charset="-120"/>
              </a:rPr>
              <a:t>✓  Integration seed→gold</a:t>
            </a:r>
            <a:endParaRPr lang="en-US" sz="800" dirty="0"/>
          </a:p>
        </p:txBody>
      </p:sp>
      <p:sp>
        <p:nvSpPr>
          <p:cNvPr id="75" name="Shape 73"/>
          <p:cNvSpPr/>
          <p:nvPr/>
        </p:nvSpPr>
        <p:spPr>
          <a:xfrm>
            <a:off x="4654296" y="3639312"/>
            <a:ext cx="1883664" cy="274320"/>
          </a:xfrm>
          <a:prstGeom prst="roundRect">
            <a:avLst>
              <a:gd name="adj" fmla="val 13333"/>
            </a:avLst>
          </a:prstGeom>
          <a:solidFill>
            <a:srgbClr val="F0F8FA"/>
          </a:solidFill>
          <a:ln w="6350">
            <a:solidFill>
              <a:srgbClr val="D0ECF2"/>
            </a:solidFill>
            <a:prstDash val="solid"/>
          </a:ln>
        </p:spPr>
      </p:sp>
      <p:sp>
        <p:nvSpPr>
          <p:cNvPr id="76" name="Text 74"/>
          <p:cNvSpPr/>
          <p:nvPr/>
        </p:nvSpPr>
        <p:spPr>
          <a:xfrm>
            <a:off x="4690872" y="3639312"/>
            <a:ext cx="1810512" cy="274320"/>
          </a:xfrm>
          <a:prstGeom prst="rect">
            <a:avLst/>
          </a:prstGeom>
          <a:noFill/>
          <a:ln/>
        </p:spPr>
        <p:txBody>
          <a:bodyPr wrap="square" lIns="0" tIns="0" rIns="0" bIns="0" rtlCol="0" anchor="ctr"/>
          <a:lstStyle/>
          <a:p>
            <a:pPr indent="0" marL="0">
              <a:buNone/>
            </a:pPr>
            <a:r>
              <a:rPr lang="en-US" sz="800" dirty="0">
                <a:solidFill>
                  <a:srgbClr val="1A2F38"/>
                </a:solidFill>
                <a:latin typeface="Calibri" pitchFamily="34" charset="0"/>
                <a:ea typeface="Calibri" pitchFamily="34" charset="-122"/>
                <a:cs typeface="Calibri" pitchFamily="34" charset="-120"/>
              </a:rPr>
              <a:t>✓  Regression vs baseline</a:t>
            </a:r>
            <a:endParaRPr lang="en-US" sz="800" dirty="0"/>
          </a:p>
        </p:txBody>
      </p:sp>
      <p:sp>
        <p:nvSpPr>
          <p:cNvPr id="77" name="Shape 75"/>
          <p:cNvSpPr/>
          <p:nvPr/>
        </p:nvSpPr>
        <p:spPr>
          <a:xfrm>
            <a:off x="4654296" y="3968496"/>
            <a:ext cx="1883664" cy="219456"/>
          </a:xfrm>
          <a:prstGeom prst="roundRect">
            <a:avLst>
              <a:gd name="adj" fmla="val 16667"/>
            </a:avLst>
          </a:prstGeom>
          <a:solidFill>
            <a:srgbClr val="EDFAF4"/>
          </a:solidFill>
          <a:ln w="10160">
            <a:solidFill>
              <a:srgbClr val="8ED5B8"/>
            </a:solidFill>
            <a:prstDash val="solid"/>
          </a:ln>
        </p:spPr>
      </p:sp>
      <p:sp>
        <p:nvSpPr>
          <p:cNvPr id="78" name="Text 76"/>
          <p:cNvSpPr/>
          <p:nvPr/>
        </p:nvSpPr>
        <p:spPr>
          <a:xfrm>
            <a:off x="4690872" y="3968496"/>
            <a:ext cx="1810512" cy="219456"/>
          </a:xfrm>
          <a:prstGeom prst="rect">
            <a:avLst/>
          </a:prstGeom>
          <a:noFill/>
          <a:ln/>
        </p:spPr>
        <p:txBody>
          <a:bodyPr wrap="square" lIns="0" tIns="0" rIns="0" bIns="0" rtlCol="0" anchor="ctr"/>
          <a:lstStyle/>
          <a:p>
            <a:pPr indent="0" marL="0">
              <a:buNone/>
            </a:pPr>
            <a:r>
              <a:rPr lang="en-US" sz="750" dirty="0">
                <a:solidFill>
                  <a:srgbClr val="2E8B6E"/>
                </a:solidFill>
                <a:latin typeface="Calibri" pitchFamily="34" charset="0"/>
                <a:ea typeface="Calibri" pitchFamily="34" charset="-122"/>
                <a:cs typeface="Calibri" pitchFamily="34" charset="-120"/>
              </a:rPr>
              <a:t>✅  PASS → continue</a:t>
            </a:r>
            <a:endParaRPr lang="en-US" sz="750" dirty="0"/>
          </a:p>
        </p:txBody>
      </p:sp>
      <p:sp>
        <p:nvSpPr>
          <p:cNvPr id="79" name="Shape 77"/>
          <p:cNvSpPr/>
          <p:nvPr/>
        </p:nvSpPr>
        <p:spPr>
          <a:xfrm>
            <a:off x="4654296" y="4206240"/>
            <a:ext cx="1883664" cy="219456"/>
          </a:xfrm>
          <a:prstGeom prst="roundRect">
            <a:avLst>
              <a:gd name="adj" fmla="val 16667"/>
            </a:avLst>
          </a:prstGeom>
          <a:solidFill>
            <a:srgbClr val="FEF0EF"/>
          </a:solidFill>
          <a:ln w="10160">
            <a:solidFill>
              <a:srgbClr val="F5B8B4"/>
            </a:solidFill>
            <a:prstDash val="solid"/>
          </a:ln>
        </p:spPr>
      </p:sp>
      <p:sp>
        <p:nvSpPr>
          <p:cNvPr id="80" name="Text 78"/>
          <p:cNvSpPr/>
          <p:nvPr/>
        </p:nvSpPr>
        <p:spPr>
          <a:xfrm>
            <a:off x="4690872" y="4206240"/>
            <a:ext cx="1810512" cy="219456"/>
          </a:xfrm>
          <a:prstGeom prst="rect">
            <a:avLst/>
          </a:prstGeom>
          <a:noFill/>
          <a:ln/>
        </p:spPr>
        <p:txBody>
          <a:bodyPr wrap="square" lIns="0" tIns="0" rIns="0" bIns="0" rtlCol="0" anchor="ctr"/>
          <a:lstStyle/>
          <a:p>
            <a:pPr indent="0" marL="0">
              <a:buNone/>
            </a:pPr>
            <a:r>
              <a:rPr lang="en-US" sz="750" dirty="0">
                <a:solidFill>
                  <a:srgbClr val="C0392B"/>
                </a:solidFill>
                <a:latin typeface="Calibri" pitchFamily="34" charset="0"/>
                <a:ea typeface="Calibri" pitchFamily="34" charset="-122"/>
                <a:cs typeface="Calibri" pitchFamily="34" charset="-120"/>
              </a:rPr>
              <a:t>🚫  FAIL → block + details</a:t>
            </a:r>
            <a:endParaRPr lang="en-US" sz="750" dirty="0"/>
          </a:p>
        </p:txBody>
      </p:sp>
      <p:sp>
        <p:nvSpPr>
          <p:cNvPr id="81" name="Shape 79"/>
          <p:cNvSpPr/>
          <p:nvPr/>
        </p:nvSpPr>
        <p:spPr>
          <a:xfrm>
            <a:off x="6647688" y="3172968"/>
            <a:ext cx="36576" cy="0"/>
          </a:xfrm>
          <a:prstGeom prst="line">
            <a:avLst/>
          </a:prstGeom>
          <a:noFill/>
          <a:ln w="19050">
            <a:solidFill>
              <a:srgbClr val="2A7A8C"/>
            </a:solidFill>
            <a:prstDash val="solid"/>
            <a:tailEnd type="triangle"/>
          </a:ln>
        </p:spPr>
      </p:sp>
      <p:sp>
        <p:nvSpPr>
          <p:cNvPr id="82" name="Shape 80"/>
          <p:cNvSpPr/>
          <p:nvPr/>
        </p:nvSpPr>
        <p:spPr>
          <a:xfrm>
            <a:off x="6684264" y="2029968"/>
            <a:ext cx="2066544" cy="2286000"/>
          </a:xfrm>
          <a:prstGeom prst="roundRect">
            <a:avLst>
              <a:gd name="adj" fmla="val 3540"/>
            </a:avLst>
          </a:prstGeom>
          <a:solidFill>
            <a:srgbClr val="FFFFFF"/>
          </a:solidFill>
          <a:ln w="15240">
            <a:solidFill>
              <a:srgbClr val="D0ECF2"/>
            </a:solidFill>
            <a:prstDash val="solid"/>
          </a:ln>
          <a:effectLst>
            <a:outerShdw sx="100000" sy="100000" kx="0" ky="0" algn="bl" rotWithShape="0" blurRad="101600" dist="38100" dir="2700000">
              <a:srgbClr val="000000">
                <a:alpha val="10000"/>
              </a:srgbClr>
            </a:outerShdw>
          </a:effectLst>
        </p:spPr>
      </p:sp>
      <p:sp>
        <p:nvSpPr>
          <p:cNvPr id="83" name="Shape 81"/>
          <p:cNvSpPr/>
          <p:nvPr/>
        </p:nvSpPr>
        <p:spPr>
          <a:xfrm>
            <a:off x="6684264" y="2029968"/>
            <a:ext cx="2066544" cy="530352"/>
          </a:xfrm>
          <a:prstGeom prst="roundRect">
            <a:avLst>
              <a:gd name="adj" fmla="val 12069"/>
            </a:avLst>
          </a:prstGeom>
          <a:solidFill>
            <a:srgbClr val="1A2F4A"/>
          </a:solidFill>
          <a:ln w="12700">
            <a:solidFill>
              <a:srgbClr val="1A2F4A"/>
            </a:solidFill>
            <a:prstDash val="solid"/>
          </a:ln>
        </p:spPr>
      </p:sp>
      <p:sp>
        <p:nvSpPr>
          <p:cNvPr id="84" name="Shape 82"/>
          <p:cNvSpPr/>
          <p:nvPr/>
        </p:nvSpPr>
        <p:spPr>
          <a:xfrm>
            <a:off x="6775704" y="2139696"/>
            <a:ext cx="310896" cy="310896"/>
          </a:xfrm>
          <a:prstGeom prst="ellipse">
            <a:avLst/>
          </a:prstGeom>
          <a:solidFill>
            <a:srgbClr val="FFFFFF"/>
          </a:solidFill>
          <a:ln w="12700">
            <a:solidFill>
              <a:srgbClr val="FFFFFF"/>
            </a:solidFill>
            <a:prstDash val="solid"/>
          </a:ln>
        </p:spPr>
      </p:sp>
      <p:sp>
        <p:nvSpPr>
          <p:cNvPr id="85" name="Text 83"/>
          <p:cNvSpPr/>
          <p:nvPr/>
        </p:nvSpPr>
        <p:spPr>
          <a:xfrm>
            <a:off x="6775704" y="2139696"/>
            <a:ext cx="310896" cy="310896"/>
          </a:xfrm>
          <a:prstGeom prst="rect">
            <a:avLst/>
          </a:prstGeom>
          <a:noFill/>
          <a:ln/>
        </p:spPr>
        <p:txBody>
          <a:bodyPr wrap="square" lIns="0" tIns="0" rIns="0" bIns="0" rtlCol="0" anchor="ctr"/>
          <a:lstStyle/>
          <a:p>
            <a:pPr algn="ctr" indent="0" marL="0">
              <a:buNone/>
            </a:pPr>
            <a:r>
              <a:rPr lang="en-US" sz="1000" b="1" dirty="0">
                <a:solidFill>
                  <a:srgbClr val="1A2F4A"/>
                </a:solidFill>
                <a:latin typeface="Calibri" pitchFamily="34" charset="0"/>
                <a:ea typeface="Calibri" pitchFamily="34" charset="-122"/>
                <a:cs typeface="Calibri" pitchFamily="34" charset="-120"/>
              </a:rPr>
              <a:t>4</a:t>
            </a:r>
            <a:endParaRPr lang="en-US" sz="1000" dirty="0"/>
          </a:p>
        </p:txBody>
      </p:sp>
      <p:sp>
        <p:nvSpPr>
          <p:cNvPr id="86" name="Text 84"/>
          <p:cNvSpPr/>
          <p:nvPr/>
        </p:nvSpPr>
        <p:spPr>
          <a:xfrm>
            <a:off x="7159752" y="2066544"/>
            <a:ext cx="1499616" cy="457200"/>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Cyber &amp;</a:t>
            </a:r>
            <a:endParaRPr lang="en-US" sz="900" dirty="0"/>
          </a:p>
          <a:p>
            <a:pPr indent="0" marL="0">
              <a:buNone/>
            </a:pPr>
            <a:r>
              <a:rPr lang="en-US" sz="900" b="1" dirty="0">
                <a:solidFill>
                  <a:srgbClr val="FFFFFF"/>
                </a:solidFill>
                <a:latin typeface="Calibri" pitchFamily="34" charset="0"/>
                <a:ea typeface="Calibri" pitchFamily="34" charset="-122"/>
                <a:cs typeface="Calibri" pitchFamily="34" charset="-120"/>
              </a:rPr>
              <a:t>Security Scan</a:t>
            </a:r>
            <a:endParaRPr lang="en-US" sz="900" dirty="0"/>
          </a:p>
        </p:txBody>
      </p:sp>
      <p:sp>
        <p:nvSpPr>
          <p:cNvPr id="87" name="Shape 85"/>
          <p:cNvSpPr/>
          <p:nvPr/>
        </p:nvSpPr>
        <p:spPr>
          <a:xfrm>
            <a:off x="6775704" y="2651760"/>
            <a:ext cx="1883664" cy="274320"/>
          </a:xfrm>
          <a:prstGeom prst="roundRect">
            <a:avLst>
              <a:gd name="adj" fmla="val 13333"/>
            </a:avLst>
          </a:prstGeom>
          <a:solidFill>
            <a:srgbClr val="F0F8FA"/>
          </a:solidFill>
          <a:ln w="6350">
            <a:solidFill>
              <a:srgbClr val="D0ECF2"/>
            </a:solidFill>
            <a:prstDash val="solid"/>
          </a:ln>
        </p:spPr>
      </p:sp>
      <p:sp>
        <p:nvSpPr>
          <p:cNvPr id="88" name="Text 86"/>
          <p:cNvSpPr/>
          <p:nvPr/>
        </p:nvSpPr>
        <p:spPr>
          <a:xfrm>
            <a:off x="6812280" y="2651760"/>
            <a:ext cx="1810512" cy="274320"/>
          </a:xfrm>
          <a:prstGeom prst="rect">
            <a:avLst/>
          </a:prstGeom>
          <a:noFill/>
          <a:ln/>
        </p:spPr>
        <p:txBody>
          <a:bodyPr wrap="square" lIns="0" tIns="0" rIns="0" bIns="0" rtlCol="0" anchor="ctr"/>
          <a:lstStyle/>
          <a:p>
            <a:pPr indent="0" marL="0">
              <a:buNone/>
            </a:pPr>
            <a:r>
              <a:rPr lang="en-US" sz="800" dirty="0">
                <a:solidFill>
                  <a:srgbClr val="1A2F38"/>
                </a:solidFill>
                <a:latin typeface="Calibri" pitchFamily="34" charset="0"/>
                <a:ea typeface="Calibri" pitchFamily="34" charset="-122"/>
                <a:cs typeface="Calibri" pitchFamily="34" charset="-120"/>
              </a:rPr>
              <a:t>✓  Secrets detection</a:t>
            </a:r>
            <a:endParaRPr lang="en-US" sz="800" dirty="0"/>
          </a:p>
        </p:txBody>
      </p:sp>
      <p:sp>
        <p:nvSpPr>
          <p:cNvPr id="89" name="Shape 87"/>
          <p:cNvSpPr/>
          <p:nvPr/>
        </p:nvSpPr>
        <p:spPr>
          <a:xfrm>
            <a:off x="6775704" y="2980944"/>
            <a:ext cx="1883664" cy="274320"/>
          </a:xfrm>
          <a:prstGeom prst="roundRect">
            <a:avLst>
              <a:gd name="adj" fmla="val 13333"/>
            </a:avLst>
          </a:prstGeom>
          <a:solidFill>
            <a:srgbClr val="F0F8FA"/>
          </a:solidFill>
          <a:ln w="6350">
            <a:solidFill>
              <a:srgbClr val="D0ECF2"/>
            </a:solidFill>
            <a:prstDash val="solid"/>
          </a:ln>
        </p:spPr>
      </p:sp>
      <p:sp>
        <p:nvSpPr>
          <p:cNvPr id="90" name="Text 88"/>
          <p:cNvSpPr/>
          <p:nvPr/>
        </p:nvSpPr>
        <p:spPr>
          <a:xfrm>
            <a:off x="6812280" y="2980944"/>
            <a:ext cx="1810512" cy="274320"/>
          </a:xfrm>
          <a:prstGeom prst="rect">
            <a:avLst/>
          </a:prstGeom>
          <a:noFill/>
          <a:ln/>
        </p:spPr>
        <p:txBody>
          <a:bodyPr wrap="square" lIns="0" tIns="0" rIns="0" bIns="0" rtlCol="0" anchor="ctr"/>
          <a:lstStyle/>
          <a:p>
            <a:pPr indent="0" marL="0">
              <a:buNone/>
            </a:pPr>
            <a:r>
              <a:rPr lang="en-US" sz="800" dirty="0">
                <a:solidFill>
                  <a:srgbClr val="1A2F38"/>
                </a:solidFill>
                <a:latin typeface="Calibri" pitchFamily="34" charset="0"/>
                <a:ea typeface="Calibri" pitchFamily="34" charset="-122"/>
                <a:cs typeface="Calibri" pitchFamily="34" charset="-120"/>
              </a:rPr>
              <a:t>✓  CVE scanning (deps)</a:t>
            </a:r>
            <a:endParaRPr lang="en-US" sz="800" dirty="0"/>
          </a:p>
        </p:txBody>
      </p:sp>
      <p:sp>
        <p:nvSpPr>
          <p:cNvPr id="91" name="Shape 89"/>
          <p:cNvSpPr/>
          <p:nvPr/>
        </p:nvSpPr>
        <p:spPr>
          <a:xfrm>
            <a:off x="6775704" y="3310128"/>
            <a:ext cx="1883664" cy="274320"/>
          </a:xfrm>
          <a:prstGeom prst="roundRect">
            <a:avLst>
              <a:gd name="adj" fmla="val 13333"/>
            </a:avLst>
          </a:prstGeom>
          <a:solidFill>
            <a:srgbClr val="F0F8FA"/>
          </a:solidFill>
          <a:ln w="6350">
            <a:solidFill>
              <a:srgbClr val="D0ECF2"/>
            </a:solidFill>
            <a:prstDash val="solid"/>
          </a:ln>
        </p:spPr>
      </p:sp>
      <p:sp>
        <p:nvSpPr>
          <p:cNvPr id="92" name="Text 90"/>
          <p:cNvSpPr/>
          <p:nvPr/>
        </p:nvSpPr>
        <p:spPr>
          <a:xfrm>
            <a:off x="6812280" y="3310128"/>
            <a:ext cx="1810512" cy="274320"/>
          </a:xfrm>
          <a:prstGeom prst="rect">
            <a:avLst/>
          </a:prstGeom>
          <a:noFill/>
          <a:ln/>
        </p:spPr>
        <p:txBody>
          <a:bodyPr wrap="square" lIns="0" tIns="0" rIns="0" bIns="0" rtlCol="0" anchor="ctr"/>
          <a:lstStyle/>
          <a:p>
            <a:pPr indent="0" marL="0">
              <a:buNone/>
            </a:pPr>
            <a:r>
              <a:rPr lang="en-US" sz="800" dirty="0">
                <a:solidFill>
                  <a:srgbClr val="1A2F38"/>
                </a:solidFill>
                <a:latin typeface="Calibri" pitchFamily="34" charset="0"/>
                <a:ea typeface="Calibri" pitchFamily="34" charset="-122"/>
                <a:cs typeface="Calibri" pitchFamily="34" charset="-120"/>
              </a:rPr>
              <a:t>✓  SQL injection checks</a:t>
            </a:r>
            <a:endParaRPr lang="en-US" sz="800" dirty="0"/>
          </a:p>
        </p:txBody>
      </p:sp>
      <p:sp>
        <p:nvSpPr>
          <p:cNvPr id="93" name="Shape 91"/>
          <p:cNvSpPr/>
          <p:nvPr/>
        </p:nvSpPr>
        <p:spPr>
          <a:xfrm>
            <a:off x="6775704" y="3639312"/>
            <a:ext cx="1883664" cy="274320"/>
          </a:xfrm>
          <a:prstGeom prst="roundRect">
            <a:avLst>
              <a:gd name="adj" fmla="val 13333"/>
            </a:avLst>
          </a:prstGeom>
          <a:solidFill>
            <a:srgbClr val="F0F8FA"/>
          </a:solidFill>
          <a:ln w="6350">
            <a:solidFill>
              <a:srgbClr val="D0ECF2"/>
            </a:solidFill>
            <a:prstDash val="solid"/>
          </a:ln>
        </p:spPr>
      </p:sp>
      <p:sp>
        <p:nvSpPr>
          <p:cNvPr id="94" name="Text 92"/>
          <p:cNvSpPr/>
          <p:nvPr/>
        </p:nvSpPr>
        <p:spPr>
          <a:xfrm>
            <a:off x="6812280" y="3639312"/>
            <a:ext cx="1810512" cy="274320"/>
          </a:xfrm>
          <a:prstGeom prst="rect">
            <a:avLst/>
          </a:prstGeom>
          <a:noFill/>
          <a:ln/>
        </p:spPr>
        <p:txBody>
          <a:bodyPr wrap="square" lIns="0" tIns="0" rIns="0" bIns="0" rtlCol="0" anchor="ctr"/>
          <a:lstStyle/>
          <a:p>
            <a:pPr indent="0" marL="0">
              <a:buNone/>
            </a:pPr>
            <a:r>
              <a:rPr lang="en-US" sz="800" dirty="0">
                <a:solidFill>
                  <a:srgbClr val="1A2F38"/>
                </a:solidFill>
                <a:latin typeface="Calibri" pitchFamily="34" charset="0"/>
                <a:ea typeface="Calibri" pitchFamily="34" charset="-122"/>
                <a:cs typeface="Calibri" pitchFamily="34" charset="-120"/>
              </a:rPr>
              <a:t>✓  Container image scan</a:t>
            </a:r>
            <a:endParaRPr lang="en-US" sz="800" dirty="0"/>
          </a:p>
        </p:txBody>
      </p:sp>
      <p:sp>
        <p:nvSpPr>
          <p:cNvPr id="95" name="Shape 93"/>
          <p:cNvSpPr/>
          <p:nvPr/>
        </p:nvSpPr>
        <p:spPr>
          <a:xfrm>
            <a:off x="6775704" y="3968496"/>
            <a:ext cx="1883664" cy="219456"/>
          </a:xfrm>
          <a:prstGeom prst="roundRect">
            <a:avLst>
              <a:gd name="adj" fmla="val 16667"/>
            </a:avLst>
          </a:prstGeom>
          <a:solidFill>
            <a:srgbClr val="EDFAF4"/>
          </a:solidFill>
          <a:ln w="10160">
            <a:solidFill>
              <a:srgbClr val="8ED5B8"/>
            </a:solidFill>
            <a:prstDash val="solid"/>
          </a:ln>
        </p:spPr>
      </p:sp>
      <p:sp>
        <p:nvSpPr>
          <p:cNvPr id="96" name="Text 94"/>
          <p:cNvSpPr/>
          <p:nvPr/>
        </p:nvSpPr>
        <p:spPr>
          <a:xfrm>
            <a:off x="6812280" y="3968496"/>
            <a:ext cx="1810512" cy="219456"/>
          </a:xfrm>
          <a:prstGeom prst="rect">
            <a:avLst/>
          </a:prstGeom>
          <a:noFill/>
          <a:ln/>
        </p:spPr>
        <p:txBody>
          <a:bodyPr wrap="square" lIns="0" tIns="0" rIns="0" bIns="0" rtlCol="0" anchor="ctr"/>
          <a:lstStyle/>
          <a:p>
            <a:pPr indent="0" marL="0">
              <a:buNone/>
            </a:pPr>
            <a:r>
              <a:rPr lang="en-US" sz="750" dirty="0">
                <a:solidFill>
                  <a:srgbClr val="2E8B6E"/>
                </a:solidFill>
                <a:latin typeface="Calibri" pitchFamily="34" charset="0"/>
                <a:ea typeface="Calibri" pitchFamily="34" charset="-122"/>
                <a:cs typeface="Calibri" pitchFamily="34" charset="-120"/>
              </a:rPr>
              <a:t>✅  PASS → report</a:t>
            </a:r>
            <a:endParaRPr lang="en-US" sz="750" dirty="0"/>
          </a:p>
        </p:txBody>
      </p:sp>
      <p:sp>
        <p:nvSpPr>
          <p:cNvPr id="97" name="Shape 95"/>
          <p:cNvSpPr/>
          <p:nvPr/>
        </p:nvSpPr>
        <p:spPr>
          <a:xfrm>
            <a:off x="6775704" y="4206240"/>
            <a:ext cx="1883664" cy="219456"/>
          </a:xfrm>
          <a:prstGeom prst="roundRect">
            <a:avLst>
              <a:gd name="adj" fmla="val 16667"/>
            </a:avLst>
          </a:prstGeom>
          <a:solidFill>
            <a:srgbClr val="FEF0EF"/>
          </a:solidFill>
          <a:ln w="10160">
            <a:solidFill>
              <a:srgbClr val="F5B8B4"/>
            </a:solidFill>
            <a:prstDash val="solid"/>
          </a:ln>
        </p:spPr>
      </p:sp>
      <p:sp>
        <p:nvSpPr>
          <p:cNvPr id="98" name="Text 96"/>
          <p:cNvSpPr/>
          <p:nvPr/>
        </p:nvSpPr>
        <p:spPr>
          <a:xfrm>
            <a:off x="6812280" y="4206240"/>
            <a:ext cx="1810512" cy="219456"/>
          </a:xfrm>
          <a:prstGeom prst="rect">
            <a:avLst/>
          </a:prstGeom>
          <a:noFill/>
          <a:ln/>
        </p:spPr>
        <p:txBody>
          <a:bodyPr wrap="square" lIns="0" tIns="0" rIns="0" bIns="0" rtlCol="0" anchor="ctr"/>
          <a:lstStyle/>
          <a:p>
            <a:pPr indent="0" marL="0">
              <a:buNone/>
            </a:pPr>
            <a:r>
              <a:rPr lang="en-US" sz="750" dirty="0">
                <a:solidFill>
                  <a:srgbClr val="C0392B"/>
                </a:solidFill>
                <a:latin typeface="Calibri" pitchFamily="34" charset="0"/>
                <a:ea typeface="Calibri" pitchFamily="34" charset="-122"/>
                <a:cs typeface="Calibri" pitchFamily="34" charset="-120"/>
              </a:rPr>
              <a:t>🚫  CRITICAL → block immediately</a:t>
            </a:r>
            <a:endParaRPr lang="en-US" sz="750" dirty="0"/>
          </a:p>
        </p:txBody>
      </p:sp>
      <p:sp>
        <p:nvSpPr>
          <p:cNvPr id="99" name="Text 97"/>
          <p:cNvSpPr/>
          <p:nvPr/>
        </p:nvSpPr>
        <p:spPr>
          <a:xfrm>
            <a:off x="320040" y="4425696"/>
            <a:ext cx="3200400" cy="182880"/>
          </a:xfrm>
          <a:prstGeom prst="rect">
            <a:avLst/>
          </a:prstGeom>
          <a:noFill/>
          <a:ln/>
        </p:spPr>
        <p:txBody>
          <a:bodyPr wrap="square" lIns="0" tIns="0" rIns="0" bIns="0" rtlCol="0" anchor="ctr"/>
          <a:lstStyle/>
          <a:p>
            <a:pPr indent="0" marL="0">
              <a:buNone/>
            </a:pPr>
            <a:r>
              <a:rPr lang="en-US" sz="700" b="1" spc="150" kern="0" dirty="0">
                <a:solidFill>
                  <a:srgbClr val="8AAAB5"/>
                </a:solidFill>
                <a:latin typeface="Calibri" pitchFamily="34" charset="0"/>
                <a:ea typeface="Calibri" pitchFamily="34" charset="-122"/>
                <a:cs typeface="Calibri" pitchFamily="34" charset="-120"/>
              </a:rPr>
              <a:t>JENKINS REPORT &amp; APPROVAL GATE</a:t>
            </a:r>
            <a:endParaRPr lang="en-US" sz="700" dirty="0"/>
          </a:p>
        </p:txBody>
      </p:sp>
      <p:sp>
        <p:nvSpPr>
          <p:cNvPr id="100" name="Shape 98"/>
          <p:cNvSpPr/>
          <p:nvPr/>
        </p:nvSpPr>
        <p:spPr>
          <a:xfrm>
            <a:off x="320040" y="4626864"/>
            <a:ext cx="4937760" cy="347472"/>
          </a:xfrm>
          <a:prstGeom prst="roundRect">
            <a:avLst>
              <a:gd name="adj" fmla="val 18421"/>
            </a:avLst>
          </a:prstGeom>
          <a:solidFill>
            <a:srgbClr val="1A2F4A"/>
          </a:solidFill>
          <a:ln w="12700">
            <a:solidFill>
              <a:srgbClr val="2A7A8C"/>
            </a:solidFill>
            <a:prstDash val="solid"/>
          </a:ln>
        </p:spPr>
      </p:sp>
      <p:sp>
        <p:nvSpPr>
          <p:cNvPr id="101" name="Text 99"/>
          <p:cNvSpPr/>
          <p:nvPr/>
        </p:nvSpPr>
        <p:spPr>
          <a:xfrm>
            <a:off x="438912" y="4654296"/>
            <a:ext cx="1737360" cy="274320"/>
          </a:xfrm>
          <a:prstGeom prst="rect">
            <a:avLst/>
          </a:prstGeom>
          <a:noFill/>
          <a:ln/>
        </p:spPr>
        <p:txBody>
          <a:bodyPr wrap="square" lIns="0" tIns="0" rIns="0" bIns="0" rtlCol="0" anchor="ctr"/>
          <a:lstStyle/>
          <a:p>
            <a:pPr indent="0" marL="0">
              <a:buNone/>
            </a:pPr>
            <a:r>
              <a:rPr lang="en-US" sz="850" b="1" dirty="0">
                <a:solidFill>
                  <a:srgbClr val="C9A84C"/>
                </a:solidFill>
                <a:latin typeface="Calibri" pitchFamily="34" charset="0"/>
                <a:ea typeface="Calibri" pitchFamily="34" charset="-122"/>
                <a:cs typeface="Calibri" pitchFamily="34" charset="-120"/>
              </a:rPr>
              <a:t>📋  Jenkins Report Generated:</a:t>
            </a:r>
            <a:endParaRPr lang="en-US" sz="850" dirty="0"/>
          </a:p>
        </p:txBody>
      </p:sp>
      <p:sp>
        <p:nvSpPr>
          <p:cNvPr id="102" name="Text 100"/>
          <p:cNvSpPr/>
          <p:nvPr/>
        </p:nvSpPr>
        <p:spPr>
          <a:xfrm>
            <a:off x="2212848" y="4654296"/>
            <a:ext cx="731520" cy="274320"/>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Governance ✓</a:t>
            </a:r>
            <a:endParaRPr lang="en-US" sz="750" dirty="0"/>
          </a:p>
        </p:txBody>
      </p:sp>
      <p:sp>
        <p:nvSpPr>
          <p:cNvPr id="103" name="Text 101"/>
          <p:cNvSpPr/>
          <p:nvPr/>
        </p:nvSpPr>
        <p:spPr>
          <a:xfrm>
            <a:off x="2962656" y="4654296"/>
            <a:ext cx="731520" cy="274320"/>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Performance SLA ✓</a:t>
            </a:r>
            <a:endParaRPr lang="en-US" sz="750" dirty="0"/>
          </a:p>
        </p:txBody>
      </p:sp>
      <p:sp>
        <p:nvSpPr>
          <p:cNvPr id="104" name="Text 102"/>
          <p:cNvSpPr/>
          <p:nvPr/>
        </p:nvSpPr>
        <p:spPr>
          <a:xfrm>
            <a:off x="3712464" y="4654296"/>
            <a:ext cx="731520" cy="274320"/>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Test Results ✓</a:t>
            </a:r>
            <a:endParaRPr lang="en-US" sz="750" dirty="0"/>
          </a:p>
        </p:txBody>
      </p:sp>
      <p:sp>
        <p:nvSpPr>
          <p:cNvPr id="105" name="Text 103"/>
          <p:cNvSpPr/>
          <p:nvPr/>
        </p:nvSpPr>
        <p:spPr>
          <a:xfrm>
            <a:off x="4462272" y="4654296"/>
            <a:ext cx="731520" cy="274320"/>
          </a:xfrm>
          <a:prstGeom prst="rect">
            <a:avLst/>
          </a:prstGeom>
          <a:noFill/>
          <a:ln/>
        </p:spPr>
        <p:txBody>
          <a:bodyPr wrap="square" lIns="0" tIns="0" rIns="0" bIns="0" rtlCol="0" anchor="ctr"/>
          <a:lstStyle/>
          <a:p>
            <a:pPr algn="ctr" indent="0" marL="0">
              <a:buNone/>
            </a:pPr>
            <a:r>
              <a:rPr lang="en-US" sz="750" dirty="0">
                <a:solidFill>
                  <a:srgbClr val="FFFFFF"/>
                </a:solidFill>
                <a:latin typeface="Calibri" pitchFamily="34" charset="0"/>
                <a:ea typeface="Calibri" pitchFamily="34" charset="-122"/>
                <a:cs typeface="Calibri" pitchFamily="34" charset="-120"/>
              </a:rPr>
              <a:t>Security Findings ✓</a:t>
            </a:r>
            <a:endParaRPr lang="en-US" sz="750" dirty="0"/>
          </a:p>
        </p:txBody>
      </p:sp>
      <p:sp>
        <p:nvSpPr>
          <p:cNvPr id="106" name="Shape 104"/>
          <p:cNvSpPr/>
          <p:nvPr/>
        </p:nvSpPr>
        <p:spPr>
          <a:xfrm>
            <a:off x="5276088" y="4800600"/>
            <a:ext cx="274320" cy="0"/>
          </a:xfrm>
          <a:prstGeom prst="line">
            <a:avLst/>
          </a:prstGeom>
          <a:noFill/>
          <a:ln w="19050">
            <a:solidFill>
              <a:srgbClr val="C9A84C"/>
            </a:solidFill>
            <a:prstDash val="solid"/>
            <a:tailEnd type="triangle"/>
          </a:ln>
        </p:spPr>
      </p:sp>
      <p:sp>
        <p:nvSpPr>
          <p:cNvPr id="107" name="Shape 105"/>
          <p:cNvSpPr/>
          <p:nvPr/>
        </p:nvSpPr>
        <p:spPr>
          <a:xfrm>
            <a:off x="5577840" y="4626864"/>
            <a:ext cx="1463040" cy="347472"/>
          </a:xfrm>
          <a:prstGeom prst="roundRect">
            <a:avLst>
              <a:gd name="adj" fmla="val 18421"/>
            </a:avLst>
          </a:prstGeom>
          <a:solidFill>
            <a:srgbClr val="1E3A50"/>
          </a:solidFill>
          <a:ln w="15240">
            <a:solidFill>
              <a:srgbClr val="C9A84C"/>
            </a:solidFill>
            <a:prstDash val="solid"/>
          </a:ln>
        </p:spPr>
      </p:sp>
      <p:sp>
        <p:nvSpPr>
          <p:cNvPr id="108" name="Text 106"/>
          <p:cNvSpPr/>
          <p:nvPr/>
        </p:nvSpPr>
        <p:spPr>
          <a:xfrm>
            <a:off x="5623560" y="4654296"/>
            <a:ext cx="1371600" cy="274320"/>
          </a:xfrm>
          <a:prstGeom prst="rect">
            <a:avLst/>
          </a:prstGeom>
          <a:noFill/>
          <a:ln/>
        </p:spPr>
        <p:txBody>
          <a:bodyPr wrap="square" lIns="0" tIns="0" rIns="0" bIns="0" rtlCol="0" anchor="ctr"/>
          <a:lstStyle/>
          <a:p>
            <a:pPr algn="ctr" indent="0" marL="0">
              <a:buNone/>
            </a:pPr>
            <a:r>
              <a:rPr lang="en-US" sz="800" dirty="0">
                <a:solidFill>
                  <a:srgbClr val="C9A84C"/>
                </a:solidFill>
                <a:latin typeface="Calibri" pitchFamily="34" charset="0"/>
                <a:ea typeface="Calibri" pitchFamily="34" charset="-122"/>
                <a:cs typeface="Calibri" pitchFamily="34" charset="-120"/>
              </a:rPr>
              <a:t>👤  DevOps Review</a:t>
            </a:r>
            <a:endParaRPr lang="en-US" sz="800" dirty="0"/>
          </a:p>
        </p:txBody>
      </p:sp>
      <p:sp>
        <p:nvSpPr>
          <p:cNvPr id="109" name="Shape 107"/>
          <p:cNvSpPr/>
          <p:nvPr/>
        </p:nvSpPr>
        <p:spPr>
          <a:xfrm>
            <a:off x="7059168" y="4800600"/>
            <a:ext cx="274320" cy="0"/>
          </a:xfrm>
          <a:prstGeom prst="line">
            <a:avLst/>
          </a:prstGeom>
          <a:noFill/>
          <a:ln w="19050">
            <a:solidFill>
              <a:srgbClr val="C9A84C"/>
            </a:solidFill>
            <a:prstDash val="solid"/>
            <a:tailEnd type="triangle"/>
          </a:ln>
        </p:spPr>
      </p:sp>
      <p:sp>
        <p:nvSpPr>
          <p:cNvPr id="110" name="Shape 108"/>
          <p:cNvSpPr/>
          <p:nvPr/>
        </p:nvSpPr>
        <p:spPr>
          <a:xfrm>
            <a:off x="7351776" y="4626864"/>
            <a:ext cx="1463040" cy="347472"/>
          </a:xfrm>
          <a:prstGeom prst="roundRect">
            <a:avLst>
              <a:gd name="adj" fmla="val 18421"/>
            </a:avLst>
          </a:prstGeom>
          <a:solidFill>
            <a:srgbClr val="1E3A50"/>
          </a:solidFill>
          <a:ln w="15240">
            <a:solidFill>
              <a:srgbClr val="C9A84C"/>
            </a:solidFill>
            <a:prstDash val="solid"/>
          </a:ln>
        </p:spPr>
      </p:sp>
      <p:sp>
        <p:nvSpPr>
          <p:cNvPr id="111" name="Text 109"/>
          <p:cNvSpPr/>
          <p:nvPr/>
        </p:nvSpPr>
        <p:spPr>
          <a:xfrm>
            <a:off x="7397496" y="4654296"/>
            <a:ext cx="1371600" cy="274320"/>
          </a:xfrm>
          <a:prstGeom prst="rect">
            <a:avLst/>
          </a:prstGeom>
          <a:noFill/>
          <a:ln/>
        </p:spPr>
        <p:txBody>
          <a:bodyPr wrap="square" lIns="0" tIns="0" rIns="0" bIns="0" rtlCol="0" anchor="ctr"/>
          <a:lstStyle/>
          <a:p>
            <a:pPr algn="ctr" indent="0" marL="0">
              <a:buNone/>
            </a:pPr>
            <a:r>
              <a:rPr lang="en-US" sz="800" dirty="0">
                <a:solidFill>
                  <a:srgbClr val="C9A84C"/>
                </a:solidFill>
                <a:latin typeface="Calibri" pitchFamily="34" charset="0"/>
                <a:ea typeface="Calibri" pitchFamily="34" charset="-122"/>
                <a:cs typeface="Calibri" pitchFamily="34" charset="-120"/>
              </a:rPr>
              <a:t>👤  Data Eng Review</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SEI Accounting Transformation Pipeline</dc:title>
  <dc:subject>PptxGenJS Presentation</dc:subject>
  <dc:creator>BBH Capital Partners</dc:creator>
  <cp:lastModifiedBy>BBH Capital Partners</cp:lastModifiedBy>
  <cp:revision>1</cp:revision>
  <dcterms:created xsi:type="dcterms:W3CDTF">2026-06-10T19:27:53Z</dcterms:created>
  <dcterms:modified xsi:type="dcterms:W3CDTF">2026-06-10T19:27:53Z</dcterms:modified>
</cp:coreProperties>
</file>