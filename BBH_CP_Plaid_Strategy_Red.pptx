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C9BFB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C9BFB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2011680"/>
          </a:xfrm>
          <a:prstGeom prst="rect">
            <a:avLst/>
          </a:prstGeom>
          <a:solidFill>
            <a:srgbClr val="D6CDB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3566160"/>
            <a:ext cx="9144000" cy="1554480"/>
          </a:xfrm>
          <a:prstGeom prst="rect">
            <a:avLst/>
          </a:prstGeom>
          <a:solidFill>
            <a:srgbClr val="BBAF9F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566928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BROWN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BROTHERS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HARRIMAN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783080" y="640080"/>
            <a:ext cx="310896" cy="54864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7" name="Shape 5"/>
          <p:cNvSpPr/>
          <p:nvPr/>
        </p:nvSpPr>
        <p:spPr>
          <a:xfrm>
            <a:off x="1783080" y="749808"/>
            <a:ext cx="310896" cy="548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566928" y="2240280"/>
            <a:ext cx="6583680" cy="187452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395728"/>
            <a:ext cx="6035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BBH × Plaid Open Banking Initiative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886968" y="3401568"/>
            <a:ext cx="5943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Briefing  ·  Comparative Analysis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86968" y="37673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3DA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63240" cy="5143500"/>
          </a:xfrm>
          <a:prstGeom prst="rect">
            <a:avLst/>
          </a:prstGeom>
          <a:solidFill>
            <a:srgbClr val="C9BFB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3063240" cy="1371600"/>
          </a:xfrm>
          <a:prstGeom prst="rect">
            <a:avLst/>
          </a:prstGeom>
          <a:solidFill>
            <a:srgbClr val="BBAF9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3291840"/>
            <a:ext cx="3063240" cy="1828800"/>
          </a:xfrm>
          <a:prstGeom prst="rect">
            <a:avLst/>
          </a:prstGeom>
          <a:solidFill>
            <a:srgbClr val="D6CDBF"/>
          </a:solidFill>
          <a:ln/>
        </p:spPr>
      </p:sp>
      <p:sp>
        <p:nvSpPr>
          <p:cNvPr id="5" name="Text 3"/>
          <p:cNvSpPr/>
          <p:nvPr/>
        </p:nvSpPr>
        <p:spPr>
          <a:xfrm>
            <a:off x="-91440" y="1280160"/>
            <a:ext cx="3200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0" b="1" dirty="0">
                <a:solidFill>
                  <a:srgbClr val="B7AB9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BBH</a:t>
            </a:r>
            <a:endParaRPr lang="en-US" sz="12000" dirty="0"/>
          </a:p>
        </p:txBody>
      </p:sp>
      <p:sp>
        <p:nvSpPr>
          <p:cNvPr id="6" name="Shape 4"/>
          <p:cNvSpPr/>
          <p:nvPr/>
        </p:nvSpPr>
        <p:spPr>
          <a:xfrm>
            <a:off x="3063240" y="256032"/>
            <a:ext cx="5669280" cy="64008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7" name="Text 5"/>
          <p:cNvSpPr/>
          <p:nvPr/>
        </p:nvSpPr>
        <p:spPr>
          <a:xfrm>
            <a:off x="3383280" y="45720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3383280" y="1207008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4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950208" y="1207008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 &amp; Strategic Alignment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383280" y="1580896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4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950208" y="1580896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Plaid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3383280" y="1954784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4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950208" y="1954784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Design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383280" y="2328672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4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950208" y="2328672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 — Decisions Required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3383280" y="2702560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4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950208" y="2702560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Concerns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3383280" y="3076448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4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950208" y="3076448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Concerns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3383280" y="3450336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4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VII.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950208" y="3450336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Movement Concerns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3383280" y="3824224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4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VIII.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950208" y="3824224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Posture &amp; Pilot Scope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3383280" y="4198112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4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IX.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950208" y="4198112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 &amp; Path to Approval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384048" y="486460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BBH</a:t>
            </a:r>
            <a:pPr algn="l" indent="0" marL="0">
              <a:buNone/>
            </a:pPr>
            <a:r>
              <a:rPr lang="en-US" sz="60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▬▬</a:t>
            </a:r>
            <a:pPr algn="l" indent="0" marL="0">
              <a:buNone/>
            </a:pPr>
            <a:r>
              <a:rPr lang="en-US" sz="7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Capital Partners — Plaid Open Banking   |  Internal Use Only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8503920" y="46177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310896"/>
            <a:ext cx="502920" cy="82296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57200"/>
            <a:ext cx="6766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Summary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0" y="329184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50" kern="0" dirty="0">
                <a:solidFill>
                  <a:srgbClr val="8A7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EXECUTIVE SUMMARY &amp; STRATEGIC ALIGNMENT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384048" y="1097280"/>
            <a:ext cx="8366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A4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assessing Capital Partners’ open-banking obligations and client-data demand — in coordination with Legal, Risk, and CP Technology — CP recommends the following posture for the Plaid / FDX initiative:</a:t>
            </a:r>
            <a:endParaRPr lang="en-US" sz="13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" y="1728216"/>
            <a:ext cx="164592" cy="16459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13232" y="1664208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Open Banking via Plaid Core Exchange (FDX), exposing read-only account data to authorized fintech apps over OAuth 2.0.</a:t>
            </a:r>
            <a:endParaRPr lang="en-US" sz="12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" y="2093976"/>
            <a:ext cx="164592" cy="16459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13232" y="2029968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 clients to grant consent through Plaid Link — secure data sharing without exposing BBH credentials.</a:t>
            </a:r>
            <a:endParaRPr lang="en-US" sz="12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" y="2459736"/>
            <a:ext cx="164592" cy="16459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13232" y="2395728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strictly to holdings, balances, transactions, and contact data; payments and asset transfers explicitly excluded.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384048" y="2816352"/>
            <a:ext cx="8366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4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proceed to a governed pilot, we further recommend:</a:t>
            </a:r>
            <a:endParaRPr lang="en-US" sz="13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624" y="3172968"/>
            <a:ext cx="164592" cy="16459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13232" y="31089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the new systematic, bot-based authentication pattern against a BBH-branded portal.</a:t>
            </a:r>
            <a:endParaRPr lang="en-US" sz="12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0624" y="3538728"/>
            <a:ext cx="164592" cy="164592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713232" y="34747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the Plaid Terms and Conditions / FDX license posture, with open legal gaps escalated to GC, Head of Risk &amp; CISO.</a:t>
            </a:r>
            <a:endParaRPr lang="en-US" sz="1200" dirty="0"/>
          </a:p>
        </p:txBody>
      </p:sp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0624" y="3904488"/>
            <a:ext cx="164592" cy="164592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713232" y="38404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 the initial pilot to Private Bank clients to contain data-exposure scope.</a:t>
            </a:r>
            <a:endParaRPr lang="en-US" sz="1200" dirty="0"/>
          </a:p>
        </p:txBody>
      </p:sp>
      <p:sp>
        <p:nvSpPr>
          <p:cNvPr id="19" name="Text 11"/>
          <p:cNvSpPr/>
          <p:nvPr/>
        </p:nvSpPr>
        <p:spPr>
          <a:xfrm>
            <a:off x="384048" y="4297680"/>
            <a:ext cx="8366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A4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ARB approval with a legal carve-out unblocks engineering now; full go-live remains gated on closure of the Terms and Conditions gaps. </a:t>
            </a:r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Residual-risk acceptance required at: </a:t>
            </a:r>
            <a:pPr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2B2B2B"/>
                </a:solidFill>
                <a:highlight>
                  <a:srgbClr val="FFF2A8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 XXX </a:t>
            </a:r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tolerance band.</a:t>
            </a:r>
            <a:endParaRPr lang="en-US" sz="1100" dirty="0"/>
          </a:p>
        </p:txBody>
      </p:sp>
      <p:sp>
        <p:nvSpPr>
          <p:cNvPr id="20" name="Text 12"/>
          <p:cNvSpPr/>
          <p:nvPr/>
        </p:nvSpPr>
        <p:spPr>
          <a:xfrm>
            <a:off x="384048" y="486460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BBH</a:t>
            </a:r>
            <a:pPr algn="l" indent="0" marL="0">
              <a:buNone/>
            </a:pPr>
            <a:r>
              <a:rPr lang="en-US" sz="60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▬▬</a:t>
            </a:r>
            <a:pPr algn="l" indent="0" marL="0">
              <a:buNone/>
            </a:pPr>
            <a:r>
              <a:rPr lang="en-US" sz="7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Capital Partners — Plaid Open Banking   |  Internal Use Only</a:t>
            </a:r>
            <a:endParaRPr lang="en-US" sz="850" dirty="0"/>
          </a:p>
        </p:txBody>
      </p:sp>
      <p:sp>
        <p:nvSpPr>
          <p:cNvPr id="21" name="Text 13"/>
          <p:cNvSpPr/>
          <p:nvPr/>
        </p:nvSpPr>
        <p:spPr>
          <a:xfrm>
            <a:off x="8503920" y="46177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310896"/>
            <a:ext cx="502920" cy="82296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57200"/>
            <a:ext cx="6766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Plaid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0" y="329184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50" kern="0" dirty="0">
                <a:solidFill>
                  <a:srgbClr val="8A7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WHAT IS PLAID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384048" y="111556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A4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network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84048" y="1389888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Plaid is an open-banking connectivity layer that links a client’s financial accounts to third-party fintech apps — without sharing bank credentials with those apps.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84048" y="2286000"/>
            <a:ext cx="384048" cy="384048"/>
          </a:xfrm>
          <a:prstGeom prst="ellipse">
            <a:avLst/>
          </a:prstGeom>
          <a:solidFill>
            <a:srgbClr val="C8102E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6344" y="2377440"/>
            <a:ext cx="219456" cy="21945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96112" y="224942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Aggregation hub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896112" y="2505456"/>
            <a:ext cx="3456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Standardizes account, balance &amp; transaction data into one FDX/OFX feed.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384048" y="3063240"/>
            <a:ext cx="384048" cy="384048"/>
          </a:xfrm>
          <a:prstGeom prst="ellipse">
            <a:avLst/>
          </a:prstGeom>
          <a:solidFill>
            <a:srgbClr val="8A7E72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" y="3154680"/>
            <a:ext cx="219456" cy="21945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896112" y="302666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 broker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896112" y="3282696"/>
            <a:ext cx="3456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Plaid Link captures client authorization; the app gets a token, never credentials.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384048" y="3840480"/>
            <a:ext cx="384048" cy="384048"/>
          </a:xfrm>
          <a:prstGeom prst="ellipse">
            <a:avLst/>
          </a:prstGeom>
          <a:solidFill>
            <a:srgbClr val="2E7D4F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" y="3931920"/>
            <a:ext cx="219456" cy="21945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96112" y="380390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distribution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896112" y="4059936"/>
            <a:ext cx="3456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Authorized apps read via Plaid APIs — BBH exposes one endpoint, not many integrations.</a:t>
            </a:r>
            <a:endParaRPr lang="en-US" sz="950" dirty="0"/>
          </a:p>
        </p:txBody>
      </p:sp>
      <p:sp>
        <p:nvSpPr>
          <p:cNvPr id="19" name="Text 14"/>
          <p:cNvSpPr/>
          <p:nvPr/>
        </p:nvSpPr>
        <p:spPr>
          <a:xfrm>
            <a:off x="4617720" y="111556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High-level data flow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4617720" y="1463040"/>
            <a:ext cx="4160520" cy="621792"/>
          </a:xfrm>
          <a:prstGeom prst="rect">
            <a:avLst/>
          </a:prstGeom>
          <a:solidFill>
            <a:srgbClr val="F2F2F2"/>
          </a:solidFill>
          <a:ln w="12700">
            <a:solidFill>
              <a:srgbClr val="EDE9E4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754880" y="1600200"/>
            <a:ext cx="347472" cy="347472"/>
          </a:xfrm>
          <a:prstGeom prst="ellipse">
            <a:avLst/>
          </a:prstGeom>
          <a:solidFill>
            <a:srgbClr val="8A7E72"/>
          </a:solidFill>
          <a:ln/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8032" y="1664208"/>
            <a:ext cx="201168" cy="20116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248656" y="1536192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Client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5248656" y="1764792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6000"/>
              </a:lnSpc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Initiates sharing in a fintech app &amp; selects BBH.</a:t>
            </a:r>
            <a:endParaRPr lang="en-US" sz="900" dirty="0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6675120" y="2093976"/>
            <a:ext cx="146304" cy="146304"/>
          </a:xfrm>
          <a:prstGeom prst="rect">
            <a:avLst/>
          </a:prstGeom>
        </p:spPr>
      </p:pic>
      <p:sp>
        <p:nvSpPr>
          <p:cNvPr id="26" name="Shape 19"/>
          <p:cNvSpPr/>
          <p:nvPr/>
        </p:nvSpPr>
        <p:spPr>
          <a:xfrm>
            <a:off x="4617720" y="2249424"/>
            <a:ext cx="4160520" cy="621792"/>
          </a:xfrm>
          <a:prstGeom prst="rect">
            <a:avLst/>
          </a:prstGeom>
          <a:solidFill>
            <a:srgbClr val="F2F2F2"/>
          </a:solidFill>
          <a:ln w="12700">
            <a:solidFill>
              <a:srgbClr val="EDE9E4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7" name="Shape 20"/>
          <p:cNvSpPr/>
          <p:nvPr/>
        </p:nvSpPr>
        <p:spPr>
          <a:xfrm>
            <a:off x="4754880" y="2386584"/>
            <a:ext cx="347472" cy="347472"/>
          </a:xfrm>
          <a:prstGeom prst="ellipse">
            <a:avLst/>
          </a:prstGeom>
          <a:solidFill>
            <a:srgbClr val="C8102E"/>
          </a:solidFill>
          <a:ln/>
        </p:spPr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28032" y="2450592"/>
            <a:ext cx="201168" cy="201168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5248656" y="2322576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Plaid Link</a:t>
            </a:r>
            <a:endParaRPr lang="en-US" sz="1150" dirty="0"/>
          </a:p>
        </p:txBody>
      </p:sp>
      <p:sp>
        <p:nvSpPr>
          <p:cNvPr id="30" name="Text 22"/>
          <p:cNvSpPr/>
          <p:nvPr/>
        </p:nvSpPr>
        <p:spPr>
          <a:xfrm>
            <a:off x="5248656" y="2551176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6000"/>
              </a:lnSpc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Authenticates; consent captured, no credentials passed on.</a:t>
            </a:r>
            <a:endParaRPr lang="en-US" sz="900" dirty="0"/>
          </a:p>
        </p:txBody>
      </p:sp>
      <p:pic>
        <p:nvPicPr>
          <p:cNvPr id="31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5400000">
            <a:off x="6675120" y="2880360"/>
            <a:ext cx="146304" cy="146304"/>
          </a:xfrm>
          <a:prstGeom prst="rect">
            <a:avLst/>
          </a:prstGeom>
        </p:spPr>
      </p:pic>
      <p:sp>
        <p:nvSpPr>
          <p:cNvPr id="32" name="Shape 23"/>
          <p:cNvSpPr/>
          <p:nvPr/>
        </p:nvSpPr>
        <p:spPr>
          <a:xfrm>
            <a:off x="4617720" y="3035808"/>
            <a:ext cx="4160520" cy="621792"/>
          </a:xfrm>
          <a:prstGeom prst="rect">
            <a:avLst/>
          </a:prstGeom>
          <a:solidFill>
            <a:srgbClr val="F2F2F2"/>
          </a:solidFill>
          <a:ln w="12700">
            <a:solidFill>
              <a:srgbClr val="EDE9E4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33" name="Shape 24"/>
          <p:cNvSpPr/>
          <p:nvPr/>
        </p:nvSpPr>
        <p:spPr>
          <a:xfrm>
            <a:off x="4754880" y="3172968"/>
            <a:ext cx="347472" cy="347472"/>
          </a:xfrm>
          <a:prstGeom prst="ellipse">
            <a:avLst/>
          </a:prstGeom>
          <a:solidFill>
            <a:srgbClr val="2E7D4F"/>
          </a:solidFill>
          <a:ln/>
        </p:spPr>
      </p:sp>
      <p:pic>
        <p:nvPicPr>
          <p:cNvPr id="34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28032" y="3236976"/>
            <a:ext cx="201168" cy="201168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5248656" y="310896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BBH Core Exchange</a:t>
            </a:r>
            <a:endParaRPr lang="en-US" sz="1150" dirty="0"/>
          </a:p>
        </p:txBody>
      </p:sp>
      <p:sp>
        <p:nvSpPr>
          <p:cNvPr id="36" name="Text 26"/>
          <p:cNvSpPr/>
          <p:nvPr/>
        </p:nvSpPr>
        <p:spPr>
          <a:xfrm>
            <a:off x="5248656" y="3337560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6000"/>
              </a:lnSpc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read-only FDX/OFX holdings, balances, transactions.</a:t>
            </a:r>
            <a:endParaRPr lang="en-US" sz="900" dirty="0"/>
          </a:p>
        </p:txBody>
      </p:sp>
      <p:pic>
        <p:nvPicPr>
          <p:cNvPr id="37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5400000">
            <a:off x="6675120" y="3666744"/>
            <a:ext cx="146304" cy="146304"/>
          </a:xfrm>
          <a:prstGeom prst="rect">
            <a:avLst/>
          </a:prstGeom>
        </p:spPr>
      </p:pic>
      <p:sp>
        <p:nvSpPr>
          <p:cNvPr id="38" name="Shape 27"/>
          <p:cNvSpPr/>
          <p:nvPr/>
        </p:nvSpPr>
        <p:spPr>
          <a:xfrm>
            <a:off x="4617720" y="3822192"/>
            <a:ext cx="4160520" cy="621792"/>
          </a:xfrm>
          <a:prstGeom prst="rect">
            <a:avLst/>
          </a:prstGeom>
          <a:solidFill>
            <a:srgbClr val="F2F2F2"/>
          </a:solidFill>
          <a:ln w="12700">
            <a:solidFill>
              <a:srgbClr val="EDE9E4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39" name="Shape 28"/>
          <p:cNvSpPr/>
          <p:nvPr/>
        </p:nvSpPr>
        <p:spPr>
          <a:xfrm>
            <a:off x="4754880" y="3959352"/>
            <a:ext cx="347472" cy="347472"/>
          </a:xfrm>
          <a:prstGeom prst="ellipse">
            <a:avLst/>
          </a:prstGeom>
          <a:solidFill>
            <a:srgbClr val="8A7E72"/>
          </a:solidFill>
          <a:ln/>
        </p:spPr>
      </p:sp>
      <p:pic>
        <p:nvPicPr>
          <p:cNvPr id="40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28032" y="4023360"/>
            <a:ext cx="201168" cy="201168"/>
          </a:xfrm>
          <a:prstGeom prst="rect">
            <a:avLst/>
          </a:prstGeom>
        </p:spPr>
      </p:pic>
      <p:sp>
        <p:nvSpPr>
          <p:cNvPr id="41" name="Text 29"/>
          <p:cNvSpPr/>
          <p:nvPr/>
        </p:nvSpPr>
        <p:spPr>
          <a:xfrm>
            <a:off x="5248656" y="3895344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Fintech App</a:t>
            </a:r>
            <a:endParaRPr lang="en-US" sz="1150" dirty="0"/>
          </a:p>
        </p:txBody>
      </p:sp>
      <p:sp>
        <p:nvSpPr>
          <p:cNvPr id="42" name="Text 30"/>
          <p:cNvSpPr/>
          <p:nvPr/>
        </p:nvSpPr>
        <p:spPr>
          <a:xfrm>
            <a:off x="5248656" y="4123944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6000"/>
              </a:lnSpc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Consumes data via token. Payments &amp; transfers excluded.</a:t>
            </a:r>
            <a:endParaRPr lang="en-US" sz="900" dirty="0"/>
          </a:p>
        </p:txBody>
      </p:sp>
      <p:sp>
        <p:nvSpPr>
          <p:cNvPr id="43" name="Text 31"/>
          <p:cNvSpPr/>
          <p:nvPr/>
        </p:nvSpPr>
        <p:spPr>
          <a:xfrm>
            <a:off x="384048" y="486460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BBH</a:t>
            </a:r>
            <a:pPr algn="l" indent="0" marL="0">
              <a:buNone/>
            </a:pPr>
            <a:r>
              <a:rPr lang="en-US" sz="60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▬▬</a:t>
            </a:r>
            <a:pPr algn="l" indent="0" marL="0">
              <a:buNone/>
            </a:pPr>
            <a:r>
              <a:rPr lang="en-US" sz="7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Capital Partners — Plaid Open Banking   |  Internal Use Only</a:t>
            </a:r>
            <a:endParaRPr lang="en-US" sz="850" dirty="0"/>
          </a:p>
        </p:txBody>
      </p:sp>
      <p:sp>
        <p:nvSpPr>
          <p:cNvPr id="44" name="Text 32"/>
          <p:cNvSpPr/>
          <p:nvPr/>
        </p:nvSpPr>
        <p:spPr>
          <a:xfrm>
            <a:off x="8503920" y="46177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310896"/>
            <a:ext cx="502920" cy="82296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57200"/>
            <a:ext cx="6766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&amp; Design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0" y="329184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50" kern="0" dirty="0">
                <a:solidFill>
                  <a:srgbClr val="8A7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ARCHITECTURE &amp; DESIGN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384048" y="111556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A4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new authentication method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84048" y="1408176"/>
            <a:ext cx="4160520" cy="1207008"/>
          </a:xfrm>
          <a:prstGeom prst="rect">
            <a:avLst/>
          </a:prstGeom>
          <a:solidFill>
            <a:srgbClr val="F2F2F2"/>
          </a:solidFill>
          <a:ln w="12700">
            <a:solidFill>
              <a:srgbClr val="EDE9E4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554480"/>
            <a:ext cx="420624" cy="420624"/>
          </a:xfrm>
          <a:prstGeom prst="ellipse">
            <a:avLst/>
          </a:prstGeom>
          <a:solidFill>
            <a:srgbClr val="C8102E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" y="1636776"/>
            <a:ext cx="256032" cy="25603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97280" y="1517904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Systematic, bot-based authentication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548640" y="1975104"/>
            <a:ext cx="38587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and authorization happen entirely within BBH infrastructure — Plaid redirects the client to a BBH-branded portal where login and consent occur. Plaid drives the flow programmatically via an automated agent; OAuth 2.0 tokens replace credential reuse, but the auth event is machine-initiated.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384048" y="2743200"/>
            <a:ext cx="41605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9E4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12064" y="2898648"/>
            <a:ext cx="347472" cy="347472"/>
          </a:xfrm>
          <a:prstGeom prst="ellipse">
            <a:avLst/>
          </a:prstGeom>
          <a:solidFill>
            <a:srgbClr val="8A7E72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" y="2976372"/>
            <a:ext cx="192024" cy="19202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987552" y="2807208"/>
            <a:ext cx="3456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 2.0, not credentials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987552" y="3044952"/>
            <a:ext cx="3493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86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consents once; BBH issues a scoped token. The app never sees the password.</a:t>
            </a:r>
            <a:endParaRPr lang="en-US" sz="860" dirty="0"/>
          </a:p>
        </p:txBody>
      </p:sp>
      <p:sp>
        <p:nvSpPr>
          <p:cNvPr id="16" name="Shape 12"/>
          <p:cNvSpPr/>
          <p:nvPr/>
        </p:nvSpPr>
        <p:spPr>
          <a:xfrm>
            <a:off x="384048" y="3392424"/>
            <a:ext cx="41605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9E4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512064" y="3547872"/>
            <a:ext cx="347472" cy="347472"/>
          </a:xfrm>
          <a:prstGeom prst="ellipse">
            <a:avLst/>
          </a:prstGeom>
          <a:solidFill>
            <a:srgbClr val="C28A2E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788" y="3625596"/>
            <a:ext cx="192024" cy="19202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87552" y="3456432"/>
            <a:ext cx="3456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Machine-initiated logins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987552" y="3694176"/>
            <a:ext cx="3493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86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Automated, periodic auth — a new vector vs. interactive sessions. Needs bot-aware controls.</a:t>
            </a:r>
            <a:endParaRPr lang="en-US" sz="860" dirty="0"/>
          </a:p>
        </p:txBody>
      </p:sp>
      <p:sp>
        <p:nvSpPr>
          <p:cNvPr id="21" name="Shape 16"/>
          <p:cNvSpPr/>
          <p:nvPr/>
        </p:nvSpPr>
        <p:spPr>
          <a:xfrm>
            <a:off x="384048" y="4041648"/>
            <a:ext cx="41605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9E4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512064" y="4197096"/>
            <a:ext cx="347472" cy="347472"/>
          </a:xfrm>
          <a:prstGeom prst="ellipse">
            <a:avLst/>
          </a:prstGeom>
          <a:solidFill>
            <a:srgbClr val="2E7D4F"/>
          </a:solidFill>
          <a:ln/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788" y="4274820"/>
            <a:ext cx="192024" cy="192024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987552" y="4105656"/>
            <a:ext cx="3456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Step-up &amp; risk controls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987552" y="4343400"/>
            <a:ext cx="3493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86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 and risk-based step-up per NYDFS 500.12 must apply to the automated flow.</a:t>
            </a:r>
            <a:endParaRPr lang="en-US" sz="860" dirty="0"/>
          </a:p>
        </p:txBody>
      </p:sp>
      <p:sp>
        <p:nvSpPr>
          <p:cNvPr id="26" name="Shape 20"/>
          <p:cNvSpPr/>
          <p:nvPr/>
        </p:nvSpPr>
        <p:spPr>
          <a:xfrm>
            <a:off x="4754880" y="1115568"/>
            <a:ext cx="4023360" cy="338328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27" name="Text 21"/>
          <p:cNvSpPr/>
          <p:nvPr/>
        </p:nvSpPr>
        <p:spPr>
          <a:xfrm>
            <a:off x="4956048" y="126187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are asking Rick / McCabe to approve</a:t>
            </a:r>
            <a:endParaRPr lang="en-US" sz="1250" dirty="0"/>
          </a:p>
        </p:txBody>
      </p:sp>
      <p:sp>
        <p:nvSpPr>
          <p:cNvPr id="28" name="Shape 22"/>
          <p:cNvSpPr/>
          <p:nvPr/>
        </p:nvSpPr>
        <p:spPr>
          <a:xfrm>
            <a:off x="4956048" y="1792224"/>
            <a:ext cx="384048" cy="384048"/>
          </a:xfrm>
          <a:prstGeom prst="ellipse">
            <a:avLst/>
          </a:prstGeom>
          <a:solidFill>
            <a:srgbClr val="8E0C20"/>
          </a:solidFill>
          <a:ln/>
        </p:spPr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38344" y="1883664"/>
            <a:ext cx="219456" cy="219456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5468112" y="176479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new auth method</a:t>
            </a:r>
            <a:endParaRPr lang="en-US" sz="1200" dirty="0"/>
          </a:p>
        </p:txBody>
      </p:sp>
      <p:sp>
        <p:nvSpPr>
          <p:cNvPr id="31" name="Text 24"/>
          <p:cNvSpPr/>
          <p:nvPr/>
        </p:nvSpPr>
        <p:spPr>
          <a:xfrm>
            <a:off x="5468112" y="2020824"/>
            <a:ext cx="32186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880" dirty="0">
                <a:solidFill>
                  <a:srgbClr val="FAD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systematic, bot-based authentication against a BBH-branded portal as an accepted design pattern.</a:t>
            </a:r>
            <a:endParaRPr lang="en-US" sz="880" dirty="0"/>
          </a:p>
        </p:txBody>
      </p:sp>
      <p:sp>
        <p:nvSpPr>
          <p:cNvPr id="32" name="Shape 25"/>
          <p:cNvSpPr/>
          <p:nvPr/>
        </p:nvSpPr>
        <p:spPr>
          <a:xfrm>
            <a:off x="4956048" y="2468880"/>
            <a:ext cx="384048" cy="384048"/>
          </a:xfrm>
          <a:prstGeom prst="ellipse">
            <a:avLst/>
          </a:prstGeom>
          <a:solidFill>
            <a:srgbClr val="8E0C20"/>
          </a:solidFill>
          <a:ln/>
        </p:spPr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38344" y="2560320"/>
            <a:ext cx="219456" cy="219456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5468112" y="244144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Terms &amp; Conditions</a:t>
            </a:r>
            <a:endParaRPr lang="en-US" sz="1200" dirty="0"/>
          </a:p>
        </p:txBody>
      </p:sp>
      <p:sp>
        <p:nvSpPr>
          <p:cNvPr id="35" name="Text 27"/>
          <p:cNvSpPr/>
          <p:nvPr/>
        </p:nvSpPr>
        <p:spPr>
          <a:xfrm>
            <a:off x="5468112" y="2697480"/>
            <a:ext cx="32186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880" dirty="0">
                <a:solidFill>
                  <a:srgbClr val="FAD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the Plaid Terms and Conditions / FDX license posture — including gaps flagged for escalation.</a:t>
            </a:r>
            <a:endParaRPr lang="en-US" sz="880" dirty="0"/>
          </a:p>
        </p:txBody>
      </p:sp>
      <p:sp>
        <p:nvSpPr>
          <p:cNvPr id="36" name="Shape 28"/>
          <p:cNvSpPr/>
          <p:nvPr/>
        </p:nvSpPr>
        <p:spPr>
          <a:xfrm>
            <a:off x="4956048" y="3145536"/>
            <a:ext cx="384048" cy="384048"/>
          </a:xfrm>
          <a:prstGeom prst="ellipse">
            <a:avLst/>
          </a:prstGeom>
          <a:solidFill>
            <a:srgbClr val="8E0C20"/>
          </a:solidFill>
          <a:ln/>
        </p:spPr>
      </p:sp>
      <p:pic>
        <p:nvPicPr>
          <p:cNvPr id="37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38344" y="3236976"/>
            <a:ext cx="219456" cy="219456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5468112" y="311810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posture</a:t>
            </a:r>
            <a:endParaRPr lang="en-US" sz="1200" dirty="0"/>
          </a:p>
        </p:txBody>
      </p:sp>
      <p:sp>
        <p:nvSpPr>
          <p:cNvPr id="39" name="Text 30"/>
          <p:cNvSpPr/>
          <p:nvPr/>
        </p:nvSpPr>
        <p:spPr>
          <a:xfrm>
            <a:off x="5468112" y="3374136"/>
            <a:ext cx="32186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880" dirty="0">
                <a:solidFill>
                  <a:srgbClr val="FAD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that read-only PB client data transits and is cached by a third-party intermediary.</a:t>
            </a:r>
            <a:endParaRPr lang="en-US" sz="880" dirty="0"/>
          </a:p>
        </p:txBody>
      </p:sp>
      <p:sp>
        <p:nvSpPr>
          <p:cNvPr id="40" name="Shape 31"/>
          <p:cNvSpPr/>
          <p:nvPr/>
        </p:nvSpPr>
        <p:spPr>
          <a:xfrm>
            <a:off x="4956048" y="3822192"/>
            <a:ext cx="384048" cy="384048"/>
          </a:xfrm>
          <a:prstGeom prst="ellipse">
            <a:avLst/>
          </a:prstGeom>
          <a:solidFill>
            <a:srgbClr val="8E0C20"/>
          </a:solidFill>
          <a:ln/>
        </p:spPr>
      </p:sp>
      <p:pic>
        <p:nvPicPr>
          <p:cNvPr id="41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38344" y="3913632"/>
            <a:ext cx="219456" cy="219456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5468112" y="379476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Elevated risk tolerance</a:t>
            </a:r>
            <a:endParaRPr lang="en-US" sz="1200" dirty="0"/>
          </a:p>
        </p:txBody>
      </p:sp>
      <p:sp>
        <p:nvSpPr>
          <p:cNvPr id="43" name="Text 33"/>
          <p:cNvSpPr/>
          <p:nvPr/>
        </p:nvSpPr>
        <p:spPr>
          <a:xfrm>
            <a:off x="5468112" y="4050792"/>
            <a:ext cx="32186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880" dirty="0">
                <a:solidFill>
                  <a:srgbClr val="FAD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Acknowledge higher residual-risk tolerance to unblock the pilot ahead of full closure.</a:t>
            </a:r>
            <a:endParaRPr lang="en-US" sz="880" dirty="0"/>
          </a:p>
        </p:txBody>
      </p:sp>
      <p:sp>
        <p:nvSpPr>
          <p:cNvPr id="44" name="Text 34"/>
          <p:cNvSpPr/>
          <p:nvPr/>
        </p:nvSpPr>
        <p:spPr>
          <a:xfrm>
            <a:off x="384048" y="486460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BBH</a:t>
            </a:r>
            <a:pPr algn="l" indent="0" marL="0">
              <a:buNone/>
            </a:pPr>
            <a:r>
              <a:rPr lang="en-US" sz="60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▬▬</a:t>
            </a:r>
            <a:pPr algn="l" indent="0" marL="0">
              <a:buNone/>
            </a:pPr>
            <a:r>
              <a:rPr lang="en-US" sz="7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Capital Partners — Plaid Open Banking   |  Internal Use Only</a:t>
            </a:r>
            <a:endParaRPr lang="en-US" sz="850" dirty="0"/>
          </a:p>
        </p:txBody>
      </p:sp>
      <p:sp>
        <p:nvSpPr>
          <p:cNvPr id="45" name="Text 35"/>
          <p:cNvSpPr/>
          <p:nvPr/>
        </p:nvSpPr>
        <p:spPr>
          <a:xfrm>
            <a:off x="8503920" y="46177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310896"/>
            <a:ext cx="502920" cy="82296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57200"/>
            <a:ext cx="6766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Ask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0" y="329184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50" kern="0" dirty="0">
                <a:solidFill>
                  <a:srgbClr val="8A7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DECISIONS REQUIRED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384048" y="11155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A4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required from leadership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84048" y="1463040"/>
            <a:ext cx="4069080" cy="786384"/>
          </a:xfrm>
          <a:prstGeom prst="rect">
            <a:avLst/>
          </a:prstGeom>
          <a:solidFill>
            <a:srgbClr val="F2F2F2"/>
          </a:solidFill>
          <a:ln w="12700">
            <a:solidFill>
              <a:srgbClr val="EDE9E4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30352" y="1682496"/>
            <a:ext cx="384048" cy="384048"/>
          </a:xfrm>
          <a:prstGeom prst="ellipse">
            <a:avLst/>
          </a:prstGeom>
          <a:solidFill>
            <a:srgbClr val="C8102E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" y="1773936"/>
            <a:ext cx="219456" cy="21945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42416" y="158191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 approval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1042416" y="1837944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security design — conditional approval acceptable to unblock engineering.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384048" y="2340864"/>
            <a:ext cx="4069080" cy="786384"/>
          </a:xfrm>
          <a:prstGeom prst="rect">
            <a:avLst/>
          </a:prstGeom>
          <a:solidFill>
            <a:srgbClr val="F2F2F2"/>
          </a:solidFill>
          <a:ln w="12700">
            <a:solidFill>
              <a:srgbClr val="EDE9E4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30352" y="2560320"/>
            <a:ext cx="384048" cy="384048"/>
          </a:xfrm>
          <a:prstGeom prst="ellipse">
            <a:avLst/>
          </a:prstGeom>
          <a:solidFill>
            <a:srgbClr val="C8102E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" y="2651760"/>
            <a:ext cx="219456" cy="21945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042416" y="2459736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escalation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1042416" y="2715768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GC, Head of Risk &amp; CISO sign-off on Plaid Terms and Conditions gaps &amp; FDX indemnity.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384048" y="3218688"/>
            <a:ext cx="4069080" cy="786384"/>
          </a:xfrm>
          <a:prstGeom prst="rect">
            <a:avLst/>
          </a:prstGeom>
          <a:solidFill>
            <a:srgbClr val="F2F2F2"/>
          </a:solidFill>
          <a:ln w="12700">
            <a:solidFill>
              <a:srgbClr val="EDE9E4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530352" y="3438144"/>
            <a:ext cx="384048" cy="384048"/>
          </a:xfrm>
          <a:prstGeom prst="ellipse">
            <a:avLst/>
          </a:prstGeom>
          <a:solidFill>
            <a:srgbClr val="C8102E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" y="3529584"/>
            <a:ext cx="219456" cy="21945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042416" y="333756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acceptance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1042416" y="3593592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leader acceptance of data custody and privacy risk before go-live.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4663440" y="111556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are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4663440" y="1463040"/>
            <a:ext cx="411480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EDE9E4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3" name="Text 18"/>
          <p:cNvSpPr/>
          <p:nvPr/>
        </p:nvSpPr>
        <p:spPr>
          <a:xfrm>
            <a:off x="4828032" y="15544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Design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7269480" y="1572768"/>
            <a:ext cx="1371600" cy="237744"/>
          </a:xfrm>
          <a:prstGeom prst="rect">
            <a:avLst/>
          </a:prstGeom>
          <a:solidFill>
            <a:srgbClr val="8A7E72"/>
          </a:solidFill>
          <a:ln/>
        </p:spPr>
      </p:sp>
      <p:sp>
        <p:nvSpPr>
          <p:cNvPr id="25" name="Text 20"/>
          <p:cNvSpPr/>
          <p:nvPr/>
        </p:nvSpPr>
        <p:spPr>
          <a:xfrm>
            <a:off x="7269480" y="157276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750" dirty="0"/>
          </a:p>
        </p:txBody>
      </p:sp>
      <p:sp>
        <p:nvSpPr>
          <p:cNvPr id="26" name="Text 21"/>
          <p:cNvSpPr/>
          <p:nvPr/>
        </p:nvSpPr>
        <p:spPr>
          <a:xfrm>
            <a:off x="4828032" y="1847088"/>
            <a:ext cx="3822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88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OAuth 2.0 flow, FDX/OFX schema, Plaid hub &amp; STRIDE threat model documented.</a:t>
            </a:r>
            <a:endParaRPr lang="en-US" sz="880" dirty="0"/>
          </a:p>
        </p:txBody>
      </p:sp>
      <p:sp>
        <p:nvSpPr>
          <p:cNvPr id="27" name="Shape 22"/>
          <p:cNvSpPr/>
          <p:nvPr/>
        </p:nvSpPr>
        <p:spPr>
          <a:xfrm>
            <a:off x="4663440" y="2340864"/>
            <a:ext cx="411480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EDE9E4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8" name="Text 23"/>
          <p:cNvSpPr/>
          <p:nvPr/>
        </p:nvSpPr>
        <p:spPr>
          <a:xfrm>
            <a:off x="4828032" y="243230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 Review</a:t>
            </a:r>
            <a:endParaRPr lang="en-US" sz="1200" dirty="0"/>
          </a:p>
        </p:txBody>
      </p:sp>
      <p:sp>
        <p:nvSpPr>
          <p:cNvPr id="29" name="Shape 24"/>
          <p:cNvSpPr/>
          <p:nvPr/>
        </p:nvSpPr>
        <p:spPr>
          <a:xfrm>
            <a:off x="7269480" y="2450592"/>
            <a:ext cx="1371600" cy="237744"/>
          </a:xfrm>
          <a:prstGeom prst="rect">
            <a:avLst/>
          </a:prstGeom>
          <a:solidFill>
            <a:srgbClr val="2E7D4F"/>
          </a:solidFill>
          <a:ln/>
        </p:spPr>
      </p:sp>
      <p:sp>
        <p:nvSpPr>
          <p:cNvPr id="30" name="Text 25"/>
          <p:cNvSpPr/>
          <p:nvPr/>
        </p:nvSpPr>
        <p:spPr>
          <a:xfrm>
            <a:off x="7269480" y="245059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</a:t>
            </a:r>
            <a:endParaRPr lang="en-US" sz="750" dirty="0"/>
          </a:p>
        </p:txBody>
      </p:sp>
      <p:sp>
        <p:nvSpPr>
          <p:cNvPr id="31" name="Text 26"/>
          <p:cNvSpPr/>
          <p:nvPr/>
        </p:nvSpPr>
        <p:spPr>
          <a:xfrm>
            <a:off x="4828032" y="2724912"/>
            <a:ext cx="3822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88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submission complete. Met with the Run &amp; Protect pillar to walk through the project and concerns; security controls, infra Q&amp;A, NYDFS analysis presented.</a:t>
            </a:r>
            <a:endParaRPr lang="en-US" sz="880" dirty="0"/>
          </a:p>
        </p:txBody>
      </p:sp>
      <p:sp>
        <p:nvSpPr>
          <p:cNvPr id="32" name="Shape 27"/>
          <p:cNvSpPr/>
          <p:nvPr/>
        </p:nvSpPr>
        <p:spPr>
          <a:xfrm>
            <a:off x="4663440" y="3218688"/>
            <a:ext cx="411480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EDE9E4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33" name="Text 28"/>
          <p:cNvSpPr/>
          <p:nvPr/>
        </p:nvSpPr>
        <p:spPr>
          <a:xfrm>
            <a:off x="4828032" y="331012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Review</a:t>
            </a:r>
            <a:endParaRPr lang="en-US" sz="1200" dirty="0"/>
          </a:p>
        </p:txBody>
      </p:sp>
      <p:sp>
        <p:nvSpPr>
          <p:cNvPr id="34" name="Shape 29"/>
          <p:cNvSpPr/>
          <p:nvPr/>
        </p:nvSpPr>
        <p:spPr>
          <a:xfrm>
            <a:off x="7269480" y="3328416"/>
            <a:ext cx="1371600" cy="237744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5" name="Text 30"/>
          <p:cNvSpPr/>
          <p:nvPr/>
        </p:nvSpPr>
        <p:spPr>
          <a:xfrm>
            <a:off x="7269480" y="3328416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 REQ.</a:t>
            </a:r>
            <a:endParaRPr lang="en-US" sz="750" dirty="0"/>
          </a:p>
        </p:txBody>
      </p:sp>
      <p:sp>
        <p:nvSpPr>
          <p:cNvPr id="36" name="Text 31"/>
          <p:cNvSpPr/>
          <p:nvPr/>
        </p:nvSpPr>
        <p:spPr>
          <a:xfrm>
            <a:off x="4828032" y="3602736"/>
            <a:ext cx="3822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88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review of Plaid Terms and Conditions &amp; FDX license done — material gaps identified.</a:t>
            </a:r>
            <a:endParaRPr lang="en-US" sz="880" dirty="0"/>
          </a:p>
        </p:txBody>
      </p:sp>
      <p:sp>
        <p:nvSpPr>
          <p:cNvPr id="37" name="Text 32"/>
          <p:cNvSpPr/>
          <p:nvPr/>
        </p:nvSpPr>
        <p:spPr>
          <a:xfrm>
            <a:off x="384048" y="4224528"/>
            <a:ext cx="8366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7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limited to account holdings, balances, transactions, and contact data — payments and asset transfers explicitly excluded.</a:t>
            </a:r>
            <a:endParaRPr lang="en-US" sz="1000" dirty="0"/>
          </a:p>
        </p:txBody>
      </p:sp>
      <p:sp>
        <p:nvSpPr>
          <p:cNvPr id="38" name="Text 33"/>
          <p:cNvSpPr/>
          <p:nvPr/>
        </p:nvSpPr>
        <p:spPr>
          <a:xfrm>
            <a:off x="384048" y="486460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BBH</a:t>
            </a:r>
            <a:pPr algn="l" indent="0" marL="0">
              <a:buNone/>
            </a:pPr>
            <a:r>
              <a:rPr lang="en-US" sz="60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▬▬</a:t>
            </a:r>
            <a:pPr algn="l" indent="0" marL="0">
              <a:buNone/>
            </a:pPr>
            <a:r>
              <a:rPr lang="en-US" sz="7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Capital Partners — Plaid Open Banking   |  Internal Use Only</a:t>
            </a:r>
            <a:endParaRPr lang="en-US" sz="850" dirty="0"/>
          </a:p>
        </p:txBody>
      </p:sp>
      <p:sp>
        <p:nvSpPr>
          <p:cNvPr id="39" name="Text 34"/>
          <p:cNvSpPr/>
          <p:nvPr/>
        </p:nvSpPr>
        <p:spPr>
          <a:xfrm>
            <a:off x="8503920" y="46177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310896"/>
            <a:ext cx="502920" cy="82296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57200"/>
            <a:ext cx="6766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Legal Concerns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0" y="329184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50" kern="0" dirty="0">
                <a:solidFill>
                  <a:srgbClr val="8A7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LEGAL CONCERNS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420624" y="1261872"/>
            <a:ext cx="365760" cy="365760"/>
          </a:xfrm>
          <a:prstGeom prst="ellipse">
            <a:avLst/>
          </a:prstGeom>
          <a:solidFill>
            <a:srgbClr val="C8102E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8348" y="1339596"/>
            <a:ext cx="210312" cy="2103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32688" y="122529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BBH skin-in-the-game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932688" y="1490472"/>
            <a:ext cx="7818120" cy="3675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Plaid has no direct regulatory obligation to BBH clients — an accountability gap if data is misused.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20624" y="1922069"/>
            <a:ext cx="365760" cy="365760"/>
          </a:xfrm>
          <a:prstGeom prst="ellipse">
            <a:avLst/>
          </a:prstGeom>
          <a:solidFill>
            <a:srgbClr val="A41E22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" y="1999793"/>
            <a:ext cx="210312" cy="21031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32688" y="1885493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Terms and Conditions gaps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932688" y="2150669"/>
            <a:ext cx="7818120" cy="3675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simple-letter agreement is insufficient. Need stronger BBH–Plaid terms mirroring the Addepar-style Terms and Conditions, with liability caps and indemnity parity.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420624" y="2582266"/>
            <a:ext cx="365760" cy="365760"/>
          </a:xfrm>
          <a:prstGeom prst="ellipse">
            <a:avLst/>
          </a:prstGeom>
          <a:solidFill>
            <a:srgbClr val="8A7E72"/>
          </a:solidFill>
          <a:ln/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348" y="2659990"/>
            <a:ext cx="210312" cy="21031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932688" y="254569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ambiguity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932688" y="2810866"/>
            <a:ext cx="7818120" cy="3675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Unclear which party bears NYDFS, CCPA, and GDPR duties over client data. Responsibility gaps must be resolved pre-launch.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420624" y="3242462"/>
            <a:ext cx="365760" cy="365760"/>
          </a:xfrm>
          <a:prstGeom prst="ellipse">
            <a:avLst/>
          </a:prstGeom>
          <a:solidFill>
            <a:srgbClr val="C28A2E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" y="3320186"/>
            <a:ext cx="210312" cy="21031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32688" y="320588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Bank privacy risk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932688" y="3471062"/>
            <a:ext cx="7818120" cy="3675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 clients expect heightened protection. Exposing data through a third-party intermediary conflicts with those expectations.</a:t>
            </a:r>
            <a:endParaRPr lang="en-US" sz="1050" dirty="0"/>
          </a:p>
        </p:txBody>
      </p:sp>
      <p:sp>
        <p:nvSpPr>
          <p:cNvPr id="21" name="Shape 15"/>
          <p:cNvSpPr/>
          <p:nvPr/>
        </p:nvSpPr>
        <p:spPr>
          <a:xfrm>
            <a:off x="420624" y="3902659"/>
            <a:ext cx="365760" cy="365760"/>
          </a:xfrm>
          <a:prstGeom prst="ellipse">
            <a:avLst/>
          </a:prstGeom>
          <a:solidFill>
            <a:srgbClr val="2E7D4F"/>
          </a:solidFill>
          <a:ln/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8348" y="3980383"/>
            <a:ext cx="210312" cy="210312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932688" y="3866083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buy-in required</a:t>
            </a:r>
            <a:endParaRPr lang="en-US" sz="1300" dirty="0"/>
          </a:p>
        </p:txBody>
      </p:sp>
      <p:sp>
        <p:nvSpPr>
          <p:cNvPr id="24" name="Text 17"/>
          <p:cNvSpPr/>
          <p:nvPr/>
        </p:nvSpPr>
        <p:spPr>
          <a:xfrm>
            <a:off x="932688" y="4131259"/>
            <a:ext cx="7818120" cy="3675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 must formally accept the risk. The endpoint cannot go live until Terms and Conditions and cyber-security issues are resolved.</a:t>
            </a:r>
            <a:endParaRPr lang="en-US" sz="1050" dirty="0"/>
          </a:p>
        </p:txBody>
      </p:sp>
      <p:sp>
        <p:nvSpPr>
          <p:cNvPr id="25" name="Text 18"/>
          <p:cNvSpPr/>
          <p:nvPr/>
        </p:nvSpPr>
        <p:spPr>
          <a:xfrm>
            <a:off x="384048" y="486460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BBH</a:t>
            </a:r>
            <a:pPr algn="l" indent="0" marL="0">
              <a:buNone/>
            </a:pPr>
            <a:r>
              <a:rPr lang="en-US" sz="60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▬▬</a:t>
            </a:r>
            <a:pPr algn="l" indent="0" marL="0">
              <a:buNone/>
            </a:pPr>
            <a:r>
              <a:rPr lang="en-US" sz="7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Capital Partners — Plaid Open Banking   |  Internal Use Only</a:t>
            </a:r>
            <a:endParaRPr lang="en-US" sz="850" dirty="0"/>
          </a:p>
        </p:txBody>
      </p:sp>
      <p:sp>
        <p:nvSpPr>
          <p:cNvPr id="26" name="Text 19"/>
          <p:cNvSpPr/>
          <p:nvPr/>
        </p:nvSpPr>
        <p:spPr>
          <a:xfrm>
            <a:off x="8503920" y="46177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310896"/>
            <a:ext cx="502920" cy="82296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57200"/>
            <a:ext cx="6766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Concerns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0" y="329184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50" kern="0" dirty="0">
                <a:solidFill>
                  <a:srgbClr val="8A7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SECURITY CONCERNS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420624" y="1261872"/>
            <a:ext cx="365760" cy="365760"/>
          </a:xfrm>
          <a:prstGeom prst="ellipse">
            <a:avLst/>
          </a:prstGeom>
          <a:solidFill>
            <a:srgbClr val="C8102E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8348" y="1339596"/>
            <a:ext cx="210312" cy="2103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32688" y="122529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&amp; spoofing risk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932688" y="1490472"/>
            <a:ext cx="7818120" cy="3675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enter credentials into a Plaid portal bearing BBH branding — adversaries can clone it to harvest credentials. Anti-spoofing controls must be validated.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20624" y="1922069"/>
            <a:ext cx="365760" cy="365760"/>
          </a:xfrm>
          <a:prstGeom prst="ellipse">
            <a:avLst/>
          </a:prstGeom>
          <a:solidFill>
            <a:srgbClr val="A41E22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" y="1999793"/>
            <a:ext cx="210312" cy="21031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32688" y="1885493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 &amp; NYDFS 500.12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932688" y="2150669"/>
            <a:ext cx="7818120" cy="3675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Plaid must operate within BBH’s MFA and risk-based step-up authentication controls per NYDFS Part 500.12.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420624" y="2582266"/>
            <a:ext cx="365760" cy="365760"/>
          </a:xfrm>
          <a:prstGeom prst="ellipse">
            <a:avLst/>
          </a:prstGeom>
          <a:solidFill>
            <a:srgbClr val="8A7E72"/>
          </a:solidFill>
          <a:ln/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348" y="2659990"/>
            <a:ext cx="210312" cy="21031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932688" y="254569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kill switch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932688" y="2810866"/>
            <a:ext cx="7818120" cy="3675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BBH must block Plaid access instantly without impacting direct user logins — plus geo-blocking by country/region.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420624" y="3242462"/>
            <a:ext cx="365760" cy="365760"/>
          </a:xfrm>
          <a:prstGeom prst="ellipse">
            <a:avLst/>
          </a:prstGeom>
          <a:solidFill>
            <a:srgbClr val="C28A2E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" y="3320186"/>
            <a:ext cx="210312" cy="21031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32688" y="320588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access &amp; SIEM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932688" y="3471062"/>
            <a:ext cx="7818120" cy="3675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BBH requires Plaid system-admin logs and auth detail, ingestion into Splunk/SIEM, and RSA risk-tool integration.</a:t>
            </a:r>
            <a:endParaRPr lang="en-US" sz="1050" dirty="0"/>
          </a:p>
        </p:txBody>
      </p:sp>
      <p:sp>
        <p:nvSpPr>
          <p:cNvPr id="21" name="Shape 15"/>
          <p:cNvSpPr/>
          <p:nvPr/>
        </p:nvSpPr>
        <p:spPr>
          <a:xfrm>
            <a:off x="420624" y="3902659"/>
            <a:ext cx="365760" cy="365760"/>
          </a:xfrm>
          <a:prstGeom prst="ellipse">
            <a:avLst/>
          </a:prstGeom>
          <a:solidFill>
            <a:srgbClr val="2E7D4F"/>
          </a:solidFill>
          <a:ln/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8348" y="3980383"/>
            <a:ext cx="210312" cy="210312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932688" y="3866083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DFS / SOC obligations</a:t>
            </a:r>
            <a:endParaRPr lang="en-US" sz="1300" dirty="0"/>
          </a:p>
        </p:txBody>
      </p:sp>
      <p:sp>
        <p:nvSpPr>
          <p:cNvPr id="24" name="Text 17"/>
          <p:cNvSpPr/>
          <p:nvPr/>
        </p:nvSpPr>
        <p:spPr>
          <a:xfrm>
            <a:off x="932688" y="4131259"/>
            <a:ext cx="7818120" cy="3675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DFS audit-trail requirements and SOC implications of delegating auth flows to a third party must be assessed and documented.</a:t>
            </a:r>
            <a:endParaRPr lang="en-US" sz="1050" dirty="0"/>
          </a:p>
        </p:txBody>
      </p:sp>
      <p:sp>
        <p:nvSpPr>
          <p:cNvPr id="25" name="Text 18"/>
          <p:cNvSpPr/>
          <p:nvPr/>
        </p:nvSpPr>
        <p:spPr>
          <a:xfrm>
            <a:off x="384048" y="486460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BBH</a:t>
            </a:r>
            <a:pPr algn="l" indent="0" marL="0">
              <a:buNone/>
            </a:pPr>
            <a:r>
              <a:rPr lang="en-US" sz="60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▬▬</a:t>
            </a:r>
            <a:pPr algn="l" indent="0" marL="0">
              <a:buNone/>
            </a:pPr>
            <a:r>
              <a:rPr lang="en-US" sz="7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Capital Partners — Plaid Open Banking   |  Internal Use Only</a:t>
            </a:r>
            <a:endParaRPr lang="en-US" sz="850" dirty="0"/>
          </a:p>
        </p:txBody>
      </p:sp>
      <p:sp>
        <p:nvSpPr>
          <p:cNvPr id="26" name="Text 19"/>
          <p:cNvSpPr/>
          <p:nvPr/>
        </p:nvSpPr>
        <p:spPr>
          <a:xfrm>
            <a:off x="8503920" y="46177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310896"/>
            <a:ext cx="502920" cy="82296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57200"/>
            <a:ext cx="6766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Movement Concerns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0" y="329184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50" kern="0" dirty="0">
                <a:solidFill>
                  <a:srgbClr val="8A7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DATA MOVEMENT CONCERNS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420624" y="1261872"/>
            <a:ext cx="365760" cy="365760"/>
          </a:xfrm>
          <a:prstGeom prst="ellipse">
            <a:avLst/>
          </a:prstGeom>
          <a:solidFill>
            <a:srgbClr val="C8102E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8348" y="1339596"/>
            <a:ext cx="210312" cy="2103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32688" y="122529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data caching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932688" y="1490472"/>
            <a:ext cx="7818120" cy="3675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Plaid caches identity data, account/routing numbers, and raw transactions — retained up to 30 days post-revocation, extending BBH’s exposure window.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20624" y="1922069"/>
            <a:ext cx="365760" cy="365760"/>
          </a:xfrm>
          <a:prstGeom prst="ellipse">
            <a:avLst/>
          </a:prstGeom>
          <a:solidFill>
            <a:srgbClr val="A41E22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" y="1999793"/>
            <a:ext cx="210312" cy="21031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32688" y="1885493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 refresh cycle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932688" y="2150669"/>
            <a:ext cx="7818120" cy="3675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Plaid performs periodic refreshes every 4–6 hours without explicit BBH initiation — data is continuously pulled and held outside the perimeter.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420624" y="2582266"/>
            <a:ext cx="365760" cy="365760"/>
          </a:xfrm>
          <a:prstGeom prst="ellipse">
            <a:avLst/>
          </a:prstGeom>
          <a:solidFill>
            <a:srgbClr val="8A7E72"/>
          </a:solidFill>
          <a:ln/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348" y="2659990"/>
            <a:ext cx="210312" cy="21031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932688" y="254569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enrichment outside BBH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932688" y="2810866"/>
            <a:ext cx="7818120" cy="3675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Plaid enriches transactions (merchant names, categories, overrides) independently — transformations occur outside BBH’s control or audit trail.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420624" y="3242462"/>
            <a:ext cx="365760" cy="365760"/>
          </a:xfrm>
          <a:prstGeom prst="ellipse">
            <a:avLst/>
          </a:prstGeom>
          <a:solidFill>
            <a:srgbClr val="C28A2E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" y="3320186"/>
            <a:ext cx="210312" cy="21031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32688" y="320588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NYDFS / CCPA / GDPR gap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932688" y="3471062"/>
            <a:ext cx="7818120" cy="3675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Plaid’s confidentiality obligations fall below BBH standards. Data residency and processing jurisdiction are unaddressed in current terms.</a:t>
            </a:r>
            <a:endParaRPr lang="en-US" sz="1050" dirty="0"/>
          </a:p>
        </p:txBody>
      </p:sp>
      <p:sp>
        <p:nvSpPr>
          <p:cNvPr id="21" name="Shape 15"/>
          <p:cNvSpPr/>
          <p:nvPr/>
        </p:nvSpPr>
        <p:spPr>
          <a:xfrm>
            <a:off x="420624" y="3902659"/>
            <a:ext cx="365760" cy="365760"/>
          </a:xfrm>
          <a:prstGeom prst="ellipse">
            <a:avLst/>
          </a:prstGeom>
          <a:solidFill>
            <a:srgbClr val="2E7D4F"/>
          </a:solidFill>
          <a:ln/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8348" y="3980383"/>
            <a:ext cx="210312" cy="210312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932688" y="3866083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Encryption: adequate but unenforceable</a:t>
            </a:r>
            <a:endParaRPr lang="en-US" sz="1300" dirty="0"/>
          </a:p>
        </p:txBody>
      </p:sp>
      <p:sp>
        <p:nvSpPr>
          <p:cNvPr id="24" name="Text 17"/>
          <p:cNvSpPr/>
          <p:nvPr/>
        </p:nvSpPr>
        <p:spPr>
          <a:xfrm>
            <a:off x="932688" y="4131259"/>
            <a:ext cx="7818120" cy="3675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 at rest and TLS 1.2+ in transit are technically sound, but not enforceable under the current Terms and Conditions.</a:t>
            </a:r>
            <a:endParaRPr lang="en-US" sz="1050" dirty="0"/>
          </a:p>
        </p:txBody>
      </p:sp>
      <p:sp>
        <p:nvSpPr>
          <p:cNvPr id="25" name="Text 18"/>
          <p:cNvSpPr/>
          <p:nvPr/>
        </p:nvSpPr>
        <p:spPr>
          <a:xfrm>
            <a:off x="384048" y="486460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BBH</a:t>
            </a:r>
            <a:pPr algn="l" indent="0" marL="0">
              <a:buNone/>
            </a:pPr>
            <a:r>
              <a:rPr lang="en-US" sz="60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▬▬</a:t>
            </a:r>
            <a:pPr algn="l" indent="0" marL="0">
              <a:buNone/>
            </a:pPr>
            <a:r>
              <a:rPr lang="en-US" sz="7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Capital Partners — Plaid Open Banking   |  Internal Use Only</a:t>
            </a:r>
            <a:endParaRPr lang="en-US" sz="850" dirty="0"/>
          </a:p>
        </p:txBody>
      </p:sp>
      <p:sp>
        <p:nvSpPr>
          <p:cNvPr id="26" name="Text 19"/>
          <p:cNvSpPr/>
          <p:nvPr/>
        </p:nvSpPr>
        <p:spPr>
          <a:xfrm>
            <a:off x="8503920" y="46177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310896"/>
            <a:ext cx="502920" cy="82296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57200"/>
            <a:ext cx="6766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Posture &amp; Pilot Scope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0" y="329184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50" kern="0" dirty="0">
                <a:solidFill>
                  <a:srgbClr val="8A7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RISK POSTURE &amp; PILOT SCOPE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384048" y="1188720"/>
            <a:ext cx="4114800" cy="1554480"/>
          </a:xfrm>
          <a:prstGeom prst="rect">
            <a:avLst/>
          </a:prstGeom>
          <a:solidFill>
            <a:srgbClr val="C8102E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03504" y="1335024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Contain exposure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03504" y="1700784"/>
            <a:ext cx="3703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Bank clients only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FAD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 the initial pilot to PB clients to limit the data-exposure surface while Terms and Conditions and security controls are validated.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63440" y="1188720"/>
            <a:ext cx="4114800" cy="1554480"/>
          </a:xfrm>
          <a:prstGeom prst="rect">
            <a:avLst/>
          </a:prstGeom>
          <a:solidFill>
            <a:srgbClr val="F2F2F2"/>
          </a:solidFill>
          <a:ln w="12700">
            <a:solidFill>
              <a:srgbClr val="EDE9E4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82896" y="1335024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A41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Residual-risk acceptance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882896" y="1700784"/>
            <a:ext cx="3703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approval, legal carve-out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Unblock engineering now; full go-live remains gated on closure of the open Terms and Conditions gaps and indemnity parity.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84048" y="2926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A4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&amp; data-custody guardrails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84048" y="3255264"/>
            <a:ext cx="2715768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DE9E4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66928" y="3419856"/>
            <a:ext cx="384048" cy="384048"/>
          </a:xfrm>
          <a:prstGeom prst="ellipse">
            <a:avLst/>
          </a:prstGeom>
          <a:solidFill>
            <a:srgbClr val="8A7E72"/>
          </a:solidFill>
          <a:ln/>
        </p:spPr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3511296"/>
            <a:ext cx="219456" cy="219456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566928" y="387705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66928" y="4114800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88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payments or asset transfers — holdings, balances, transactions, contact data only.</a:t>
            </a:r>
            <a:endParaRPr lang="en-US" sz="880" dirty="0"/>
          </a:p>
        </p:txBody>
      </p:sp>
      <p:sp>
        <p:nvSpPr>
          <p:cNvPr id="17" name="Shape 14"/>
          <p:cNvSpPr/>
          <p:nvPr/>
        </p:nvSpPr>
        <p:spPr>
          <a:xfrm>
            <a:off x="3209544" y="3255264"/>
            <a:ext cx="2715768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DE9E4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3392424" y="3419856"/>
            <a:ext cx="384048" cy="384048"/>
          </a:xfrm>
          <a:prstGeom prst="ellipse">
            <a:avLst/>
          </a:prstGeom>
          <a:solidFill>
            <a:srgbClr val="8A7E72"/>
          </a:solidFill>
          <a:ln/>
        </p:spPr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0" y="3511296"/>
            <a:ext cx="219456" cy="219456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3392424" y="387705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Revocable consent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3392424" y="4114800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88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Client-granted via Plaid Link; kill switch + geo-blocking enforced by BBH.</a:t>
            </a:r>
            <a:endParaRPr lang="en-US" sz="880" dirty="0"/>
          </a:p>
        </p:txBody>
      </p:sp>
      <p:sp>
        <p:nvSpPr>
          <p:cNvPr id="22" name="Shape 18"/>
          <p:cNvSpPr/>
          <p:nvPr/>
        </p:nvSpPr>
        <p:spPr>
          <a:xfrm>
            <a:off x="6035040" y="3255264"/>
            <a:ext cx="2715768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DE9E4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6217920" y="3419856"/>
            <a:ext cx="384048" cy="384048"/>
          </a:xfrm>
          <a:prstGeom prst="ellipse">
            <a:avLst/>
          </a:prstGeom>
          <a:solidFill>
            <a:srgbClr val="8A7E72"/>
          </a:solidFill>
          <a:ln/>
        </p:spPr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0216" y="3511296"/>
            <a:ext cx="219456" cy="219456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6217920" y="387705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Audited movement</a:t>
            </a:r>
            <a:endParaRPr lang="en-US" sz="1200" dirty="0"/>
          </a:p>
        </p:txBody>
      </p:sp>
      <p:sp>
        <p:nvSpPr>
          <p:cNvPr id="26" name="Text 21"/>
          <p:cNvSpPr/>
          <p:nvPr/>
        </p:nvSpPr>
        <p:spPr>
          <a:xfrm>
            <a:off x="6217920" y="4114800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88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+ access logs ingested into Splunk/SIEM; caching window tracked to 30 days.</a:t>
            </a:r>
            <a:endParaRPr lang="en-US" sz="880" dirty="0"/>
          </a:p>
        </p:txBody>
      </p:sp>
      <p:sp>
        <p:nvSpPr>
          <p:cNvPr id="27" name="Text 22"/>
          <p:cNvSpPr/>
          <p:nvPr/>
        </p:nvSpPr>
        <p:spPr>
          <a:xfrm>
            <a:off x="384048" y="486460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BBH</a:t>
            </a:r>
            <a:pPr algn="l" indent="0" marL="0">
              <a:buNone/>
            </a:pPr>
            <a:r>
              <a:rPr lang="en-US" sz="60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▬▬</a:t>
            </a:r>
            <a:pPr algn="l" indent="0" marL="0">
              <a:buNone/>
            </a:pPr>
            <a:r>
              <a:rPr lang="en-US" sz="7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Capital Partners — Plaid Open Banking   |  Internal Use Only</a:t>
            </a:r>
            <a:endParaRPr lang="en-US" sz="850" dirty="0"/>
          </a:p>
        </p:txBody>
      </p:sp>
      <p:sp>
        <p:nvSpPr>
          <p:cNvPr id="28" name="Text 23"/>
          <p:cNvSpPr/>
          <p:nvPr/>
        </p:nvSpPr>
        <p:spPr>
          <a:xfrm>
            <a:off x="8503920" y="46177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dBar"/>
          <p:cNvSpPr/>
          <p:nvPr/>
        </p:nvSpPr>
        <p:spPr>
          <a:xfrm>
            <a:off x="384048" y="310896"/>
            <a:ext cx="502920" cy="82296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" name="Title"/>
          <p:cNvSpPr/>
          <p:nvPr/>
        </p:nvSpPr>
        <p:spPr>
          <a:xfrm>
            <a:off x="365760" y="457200"/>
            <a:ext cx="6766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</a:t>
            </a:r>
            <a:endParaRPr lang="en-US" sz="3000" dirty="0"/>
          </a:p>
        </p:txBody>
      </p:sp>
      <p:sp>
        <p:nvSpPr>
          <p:cNvPr id="4" name="Section"/>
          <p:cNvSpPr/>
          <p:nvPr/>
        </p:nvSpPr>
        <p:spPr>
          <a:xfrm>
            <a:off x="4572000" y="329184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50" kern="0" dirty="0">
                <a:solidFill>
                  <a:srgbClr val="8A7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· PATH TO APPROVAL</a:t>
            </a:r>
            <a:endParaRPr lang="en-US" sz="850" dirty="0"/>
          </a:p>
        </p:txBody>
      </p:sp>
      <p:sp>
        <p:nvSpPr>
          <p:cNvPr id="5" name="Card"/>
          <p:cNvSpPr/>
          <p:nvPr/>
        </p:nvSpPr>
        <p:spPr>
          <a:xfrm>
            <a:off x="384048" y="1180000"/>
            <a:ext cx="8366760" cy="1230000"/>
          </a:xfrm>
          <a:prstGeom prst="rect">
            <a:avLst/>
          </a:prstGeom>
          <a:solidFill>
            <a:srgbClr val="F2F2F2"/>
          </a:solidFill>
          <a:ln w="12700">
            <a:solidFill>
              <a:srgbClr val="EDE9E4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Circle"/>
          <p:cNvSpPr/>
          <p:nvPr/>
        </p:nvSpPr>
        <p:spPr>
          <a:xfrm>
            <a:off x="566928" y="1566400"/>
            <a:ext cx="457200" cy="457200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7" name="CircleNum"/>
          <p:cNvSpPr/>
          <p:nvPr/>
        </p:nvSpPr>
        <p:spPr>
          <a:xfrm>
            <a:off x="566928" y="1566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GrpTitle"/>
          <p:cNvSpPr/>
          <p:nvPr/>
        </p:nvSpPr>
        <p:spPr>
          <a:xfrm>
            <a:off x="1225296" y="129000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Required</a:t>
            </a:r>
            <a:endParaRPr lang="en-US" sz="1350" dirty="0"/>
          </a:p>
        </p:txBody>
      </p:sp>
      <p:sp>
        <p:nvSpPr>
          <p:cNvPr id="9" name="SubItems"/>
          <p:cNvSpPr/>
          <p:nvPr/>
        </p:nvSpPr>
        <p:spPr>
          <a:xfrm>
            <a:off x="4297680" y="1270000"/>
            <a:ext cx="4297680" cy="10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spcBef>
                <a:spcPts val="200"/>
              </a:spcBef>
              <a:buNone/>
            </a:pPr>
            <a:r>
              <a:rPr lang="en-US" sz="105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Management  </a:t>
            </a: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 &amp; senior-management sign-off on the conditional approval to unblock engineering.</a:t>
            </a:r>
          </a:p>
          <a:p>
            <a:pPr indent="0" marL="0">
              <a:lnSpc>
                <a:spcPct val="108000"/>
              </a:lnSpc>
              <a:spcBef>
                <a:spcPts val="200"/>
              </a:spcBef>
              <a:buNone/>
            </a:pPr>
            <a:r>
              <a:rPr lang="en-US" sz="105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&amp; Risk  </a:t>
            </a: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 Terms and Conditions gaps, liability caps and indemnity to GC and Head of Risk.</a:t>
            </a:r>
          </a:p>
          <a:p>
            <a:pPr indent="0" marL="0">
              <a:lnSpc>
                <a:spcPct val="108000"/>
              </a:lnSpc>
              <a:spcBef>
                <a:spcPts val="200"/>
              </a:spcBef>
              <a:buNone/>
            </a:pPr>
            <a:r>
              <a:rPr lang="en-US" sz="105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 </a:t>
            </a: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CISO acceptance of bot-based auth, spoofing controls, kill switch and SIEM integration.</a:t>
            </a:r>
          </a:p>
        </p:txBody>
      </p:sp>
      <p:sp>
        <p:nvSpPr>
          <p:cNvPr id="10" name="Card"/>
          <p:cNvSpPr/>
          <p:nvPr/>
        </p:nvSpPr>
        <p:spPr>
          <a:xfrm>
            <a:off x="384048" y="2505000"/>
            <a:ext cx="8366760" cy="980000"/>
          </a:xfrm>
          <a:prstGeom prst="rect">
            <a:avLst/>
          </a:prstGeom>
          <a:solidFill>
            <a:srgbClr val="F2F2F2"/>
          </a:solidFill>
          <a:ln w="12700">
            <a:solidFill>
              <a:srgbClr val="EDE9E4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Circle"/>
          <p:cNvSpPr/>
          <p:nvPr/>
        </p:nvSpPr>
        <p:spPr>
          <a:xfrm>
            <a:off x="566928" y="2766400"/>
            <a:ext cx="457200" cy="457200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12" name="CircleNum"/>
          <p:cNvSpPr/>
          <p:nvPr/>
        </p:nvSpPr>
        <p:spPr>
          <a:xfrm>
            <a:off x="566928" y="2766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GrpTitle"/>
          <p:cNvSpPr/>
          <p:nvPr/>
        </p:nvSpPr>
        <p:spPr>
          <a:xfrm>
            <a:off x="1225296" y="261500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— CP</a:t>
            </a:r>
            <a:endParaRPr lang="en-US" sz="1350" dirty="0"/>
          </a:p>
        </p:txBody>
      </p:sp>
      <p:sp>
        <p:nvSpPr>
          <p:cNvPr id="14" name="SubItems"/>
          <p:cNvSpPr/>
          <p:nvPr/>
        </p:nvSpPr>
        <p:spPr>
          <a:xfrm>
            <a:off x="4297680" y="2595000"/>
            <a:ext cx="4297680" cy="8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spcBef>
                <a:spcPts val="200"/>
              </a:spcBef>
              <a:buNone/>
            </a:pPr>
            <a:r>
              <a:rPr lang="en-US" sz="105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Design Finalization  </a:t>
            </a: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Finalize end-to-end OAuth 2.0 / FDX design with auth &amp; authz hosted in BBH infrastructure.</a:t>
            </a:r>
          </a:p>
          <a:p>
            <a:pPr indent="0" marL="0">
              <a:lnSpc>
                <a:spcPct val="108000"/>
              </a:lnSpc>
              <a:spcBef>
                <a:spcPts val="200"/>
              </a:spcBef>
              <a:buNone/>
            </a:pPr>
            <a:r>
              <a:rPr lang="en-US" sz="105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Registration &amp; Onboarding  </a:t>
            </a: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technical registration and onboard BBH to Plaid for the governed pilot.</a:t>
            </a:r>
          </a:p>
        </p:txBody>
      </p:sp>
      <p:sp>
        <p:nvSpPr>
          <p:cNvPr id="15" name="Card"/>
          <p:cNvSpPr/>
          <p:nvPr/>
        </p:nvSpPr>
        <p:spPr>
          <a:xfrm>
            <a:off x="384048" y="3580000"/>
            <a:ext cx="8366760" cy="820000"/>
          </a:xfrm>
          <a:prstGeom prst="rect">
            <a:avLst/>
          </a:prstGeom>
          <a:solidFill>
            <a:srgbClr val="F2F2F2"/>
          </a:solidFill>
          <a:ln w="12700">
            <a:solidFill>
              <a:srgbClr val="EDE9E4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6" name="Circle"/>
          <p:cNvSpPr/>
          <p:nvPr/>
        </p:nvSpPr>
        <p:spPr>
          <a:xfrm>
            <a:off x="566928" y="3761400"/>
            <a:ext cx="457200" cy="457200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17" name="CircleNum"/>
          <p:cNvSpPr/>
          <p:nvPr/>
        </p:nvSpPr>
        <p:spPr>
          <a:xfrm>
            <a:off x="566928" y="3761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GrpTitle"/>
          <p:cNvSpPr/>
          <p:nvPr/>
        </p:nvSpPr>
        <p:spPr>
          <a:xfrm>
            <a:off x="1225296" y="369000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&amp; Risk</a:t>
            </a:r>
            <a:endParaRPr lang="en-US" sz="1350" dirty="0"/>
          </a:p>
        </p:txBody>
      </p:sp>
      <p:sp>
        <p:nvSpPr>
          <p:cNvPr id="19" name="SubItems"/>
          <p:cNvSpPr/>
          <p:nvPr/>
        </p:nvSpPr>
        <p:spPr>
          <a:xfrm>
            <a:off x="4297680" y="3670000"/>
            <a:ext cx="4297680" cy="6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spcBef>
                <a:spcPts val="200"/>
              </a:spcBef>
              <a:buNone/>
            </a:pPr>
            <a:r>
              <a:rPr lang="en-US" sz="105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Plaid Consent Screen  </a:t>
            </a: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Finalize the Plaid content / consent screen presented to the client at authorization.</a:t>
            </a:r>
          </a:p>
        </p:txBody>
      </p:sp>
      <p:sp>
        <p:nvSpPr>
          <p:cNvPr id="20" name="Footer"/>
          <p:cNvSpPr/>
          <p:nvPr/>
        </p:nvSpPr>
        <p:spPr>
          <a:xfrm>
            <a:off x="384048" y="486460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BBH</a:t>
            </a:r>
            <a:r>
              <a:rPr lang="en-US" sz="60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▬▬</a:t>
            </a:r>
            <a:r>
              <a:rPr lang="en-US" sz="7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Capital Partners — Plaid Open Banking   |  Internal Use Only</a:t>
            </a:r>
            <a:endParaRPr lang="en-US" sz="850" dirty="0"/>
          </a:p>
        </p:txBody>
      </p:sp>
      <p:sp>
        <p:nvSpPr>
          <p:cNvPr id="21" name="PageNum"/>
          <p:cNvSpPr/>
          <p:nvPr/>
        </p:nvSpPr>
        <p:spPr>
          <a:xfrm>
            <a:off x="8503920" y="46177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C9BFB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828800"/>
          </a:xfrm>
          <a:prstGeom prst="rect">
            <a:avLst/>
          </a:prstGeom>
          <a:solidFill>
            <a:srgbClr val="D6CDB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383280"/>
            <a:ext cx="9144000" cy="1737360"/>
          </a:xfrm>
          <a:prstGeom prst="rect">
            <a:avLst/>
          </a:prstGeom>
          <a:solidFill>
            <a:srgbClr val="BBAF9F"/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1920240"/>
            <a:ext cx="6400800" cy="132588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5" name="Text 3"/>
          <p:cNvSpPr/>
          <p:nvPr/>
        </p:nvSpPr>
        <p:spPr>
          <a:xfrm>
            <a:off x="841248" y="2066544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Recommendation: proceed to a governed PB pilot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59536" y="2724912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7E3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ARB approval now · legal escalation in parallel · go-live gated on Terms and Conditions closure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4297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BBH</a:t>
            </a:r>
            <a:pPr indent="0" marL="0">
              <a:buNone/>
            </a:pPr>
            <a:r>
              <a:rPr lang="en-US" sz="80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▬▬</a:t>
            </a:r>
            <a:pPr indent="0" marL="0">
              <a:buNone/>
            </a:pPr>
            <a:r>
              <a:rPr lang="en-US" sz="900" dirty="0">
                <a:solidFill>
                  <a:srgbClr val="5A5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Capital Partners Technology  ·  Plaid / FDX ARB Submission  ·  Internal Use Only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BBH × Plaid Open Banking Initiative</dc:title>
  <dc:subject>PptxGenJS Presentation</dc:subject>
  <dc:creator>BBH Capital Partners Technology</dc:creator>
  <cp:lastModifiedBy>BBH Capital Partners Technology</cp:lastModifiedBy>
  <cp:revision>1</cp:revision>
  <dcterms:created xsi:type="dcterms:W3CDTF">2026-06-23T12:36:49Z</dcterms:created>
  <dcterms:modified xsi:type="dcterms:W3CDTF">2026-06-23T12:36:49Z</dcterms:modified>
</cp:coreProperties>
</file>